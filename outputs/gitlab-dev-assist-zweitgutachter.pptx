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c0447e797744c9" /><Relationship Type="http://schemas.openxmlformats.org/officeDocument/2006/relationships/extended-properties" Target="/docProps/app.xml" Id="R37c1551043064666" /><Relationship Type="http://schemas.openxmlformats.org/officeDocument/2006/relationships/officeDocument" Target="/ppt/presentation.xml" Id="R4b371373f3ca4dc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2198acfd364edf"/>
  </p:sldMasterIdLst>
  <p:notesMasterIdLst>
    <p:notesMasterId xmlns:r="http://schemas.openxmlformats.org/officeDocument/2006/relationships" r:id="Rdffdbfc2ab494350"/>
  </p:notesMasterIdLst>
  <p:sldIdLst>
    <p:sldId xmlns:r="http://schemas.openxmlformats.org/officeDocument/2006/relationships" id="256" r:id="Rbd9917e6dc2b4c85"/>
    <p:sldId xmlns:r="http://schemas.openxmlformats.org/officeDocument/2006/relationships" id="257" r:id="R73d33da298af45e0"/>
    <p:sldId xmlns:r="http://schemas.openxmlformats.org/officeDocument/2006/relationships" id="258" r:id="R792bd04e711e4e37"/>
    <p:sldId xmlns:r="http://schemas.openxmlformats.org/officeDocument/2006/relationships" id="259" r:id="R9d23a4fc5fc34cdd"/>
    <p:sldId xmlns:r="http://schemas.openxmlformats.org/officeDocument/2006/relationships" id="260" r:id="Rad6db72e9e234632"/>
    <p:sldId xmlns:r="http://schemas.openxmlformats.org/officeDocument/2006/relationships" id="261" r:id="R88ba84d6b33746c9"/>
    <p:sldId xmlns:r="http://schemas.openxmlformats.org/officeDocument/2006/relationships" id="262" r:id="R231dbf59adb74916"/>
    <p:sldId xmlns:r="http://schemas.openxmlformats.org/officeDocument/2006/relationships" id="263" r:id="Rf37a642658d84c58"/>
    <p:sldId xmlns:r="http://schemas.openxmlformats.org/officeDocument/2006/relationships" id="264" r:id="R1d328dbf79a442a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ccadb7dacd4f4a" /><Relationship Type="http://schemas.openxmlformats.org/officeDocument/2006/relationships/slideMaster" Target="/ppt/slideMasters/slideMaster1.xml" Id="R7d2198acfd364edf" /><Relationship Type="http://schemas.openxmlformats.org/officeDocument/2006/relationships/notesMaster" Target="/ppt/notesMasters/notesMaster1.xml" Id="Rdffdbfc2ab494350" /><Relationship Type="http://schemas.openxmlformats.org/officeDocument/2006/relationships/presProps" Target="/ppt/presProps.xml" Id="Rb1f9c5b0c3444039" /><Relationship Type="http://schemas.openxmlformats.org/officeDocument/2006/relationships/tableStyles" Target="/ppt/tableStyles.xml" Id="Rdf03930ba3214a74" /><Relationship Type="http://schemas.openxmlformats.org/officeDocument/2006/relationships/slide" Target="/ppt/slides/slide1.xml" Id="Rbd9917e6dc2b4c85" /><Relationship Type="http://schemas.openxmlformats.org/officeDocument/2006/relationships/slide" Target="/ppt/slides/slide2.xml" Id="R73d33da298af45e0" /><Relationship Type="http://schemas.openxmlformats.org/officeDocument/2006/relationships/slide" Target="/ppt/slides/slide3.xml" Id="R792bd04e711e4e37" /><Relationship Type="http://schemas.openxmlformats.org/officeDocument/2006/relationships/slide" Target="/ppt/slides/slide4.xml" Id="R9d23a4fc5fc34cdd" /><Relationship Type="http://schemas.openxmlformats.org/officeDocument/2006/relationships/slide" Target="/ppt/slides/slide5.xml" Id="Rad6db72e9e234632" /><Relationship Type="http://schemas.openxmlformats.org/officeDocument/2006/relationships/slide" Target="/ppt/slides/slide6.xml" Id="R88ba84d6b33746c9" /><Relationship Type="http://schemas.openxmlformats.org/officeDocument/2006/relationships/slide" Target="/ppt/slides/slide7.xml" Id="R231dbf59adb74916" /><Relationship Type="http://schemas.openxmlformats.org/officeDocument/2006/relationships/slide" Target="/ppt/slides/slide8.xml" Id="Rf37a642658d84c58" /><Relationship Type="http://schemas.openxmlformats.org/officeDocument/2006/relationships/slide" Target="/ppt/slides/slide9.xml" Id="R1d328dbf79a442a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60fefc5acc48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b6bfa74e3574894" /><Relationship Type="http://schemas.openxmlformats.org/officeDocument/2006/relationships/notesMaster" Target="/ppt/notesMasters/notesMaster1.xml" Id="R268e989ca9ba43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b0610f4f13446e" /><Relationship Type="http://schemas.openxmlformats.org/officeDocument/2006/relationships/notesMaster" Target="/ppt/notesMasters/notesMaster1.xml" Id="R1e59eddf9123479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95c1c4c22944f1" /><Relationship Type="http://schemas.openxmlformats.org/officeDocument/2006/relationships/notesMaster" Target="/ppt/notesMasters/notesMaster1.xml" Id="Rc2919ea309d845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dadcde1fde4e21" /><Relationship Type="http://schemas.openxmlformats.org/officeDocument/2006/relationships/notesMaster" Target="/ppt/notesMasters/notesMaster1.xml" Id="R75d1b406d74249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f37100a96344359" /><Relationship Type="http://schemas.openxmlformats.org/officeDocument/2006/relationships/notesMaster" Target="/ppt/notesMasters/notesMaster1.xml" Id="Rcd54277516504f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a6f0dcba2047f5" /><Relationship Type="http://schemas.openxmlformats.org/officeDocument/2006/relationships/notesMaster" Target="/ppt/notesMasters/notesMaster1.xml" Id="R9e9ce100a68d40a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9409d74dab4b2d" /><Relationship Type="http://schemas.openxmlformats.org/officeDocument/2006/relationships/notesMaster" Target="/ppt/notesMasters/notesMaster1.xml" Id="R65c528dffc2f47b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ea7753b58544cf" /><Relationship Type="http://schemas.openxmlformats.org/officeDocument/2006/relationships/notesMaster" Target="/ppt/notesMasters/notesMaster1.xml" Id="R51678ef7a2b64c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b223ae41824f8d" /><Relationship Type="http://schemas.openxmlformats.org/officeDocument/2006/relationships/notesMaster" Target="/ppt/notesMasters/notesMaster1.xml" Id="R234d5f114a6a47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511be357244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7eca71782d47eb" /><Relationship Type="http://schemas.openxmlformats.org/officeDocument/2006/relationships/slideLayout" Target="/ppt/slideLayouts/slideLayout1.xml" Id="Rf9f1d240e22242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f1d240e22242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e3d2251d644261" /><Relationship Type="http://schemas.openxmlformats.org/officeDocument/2006/relationships/notesSlide" Target="/ppt/notesSlides/notesSlide1.xml" Id="Ra3cc634836ce43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1b26646854714" /><Relationship Type="http://schemas.openxmlformats.org/officeDocument/2006/relationships/notesSlide" Target="/ppt/notesSlides/notesSlide2.xml" Id="R2eb9f1cd563a42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aac4f380a4956" /><Relationship Type="http://schemas.openxmlformats.org/officeDocument/2006/relationships/notesSlide" Target="/ppt/notesSlides/notesSlide3.xml" Id="R64ac9992a6714a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3a0e063364af8" /><Relationship Type="http://schemas.openxmlformats.org/officeDocument/2006/relationships/notesSlide" Target="/ppt/notesSlides/notesSlide4.xml" Id="Re42ced6276e941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566af0eb248e7" /><Relationship Type="http://schemas.openxmlformats.org/officeDocument/2006/relationships/notesSlide" Target="/ppt/notesSlides/notesSlide5.xml" Id="R9092f6de6e334fc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129e6298143ca" /><Relationship Type="http://schemas.openxmlformats.org/officeDocument/2006/relationships/notesSlide" Target="/ppt/notesSlides/notesSlide6.xml" Id="R3b1bcf7290a14d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c30145c354c9c" /><Relationship Type="http://schemas.openxmlformats.org/officeDocument/2006/relationships/notesSlide" Target="/ppt/notesSlides/notesSlide7.xml" Id="R459d89df232d47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428eda68c45cd" /><Relationship Type="http://schemas.openxmlformats.org/officeDocument/2006/relationships/notesSlide" Target="/ppt/notesSlides/notesSlide8.xml" Id="Rcc4e01c39af146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fe9e781504024" /><Relationship Type="http://schemas.openxmlformats.org/officeDocument/2006/relationships/notesSlide" Target="/ppt/notesSlides/notesSlide9.xml" Id="R945056eaf6a24c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top-rule">
            <a:extLst xmlns:a="http://schemas.openxmlformats.org/drawingml/2006/main">
              <a:ext uri="{FF2B5EF4-FFF2-40B4-BE49-F238E27FC236}">
                <a16:creationId xmlns:a16="http://schemas.microsoft.com/office/drawing/2014/main" id="{3B32B1D4-5BBA-4F6A-AC0F-635BBBD84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2390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A48349A2-9382-4E3D-B859-F276858A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F6F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6F78"/>
                </a:solidFill>
                <a:latin typeface="Aptos"/>
                <a:ea typeface="Aptos"/>
                <a:cs typeface="Aptos"/>
              </a:rPr>
              <a:t>Projektvorstellung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90DA935-B25E-4F06-80FB-153F1293B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7165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GitLab Dev-Assist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02CB8634-EE4E-4E02-AFEA-D3FA32EE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KI-gestützte Strukturierung von GitLab-Issues</a:t>
            </a:r>
          </a:p>
        </p:txBody>
      </p:sp>
      <p:sp>
        <p:nvSpPr>
          <p:cNvPr id="5" name="cover-meta">
            <a:extLst xmlns:a="http://schemas.openxmlformats.org/drawingml/2006/main">
              <a:ext uri="{FF2B5EF4-FFF2-40B4-BE49-F238E27FC236}">
                <a16:creationId xmlns:a16="http://schemas.microsoft.com/office/drawing/2014/main" id="{466E02A1-7D13-4165-AEBB-881360F21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781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Einordnung von Ziel, Umfang, Aufbau, Vorgehen und Teststrategie</a:t>
            </a:r>
          </a:p>
        </p:txBody>
      </p:sp>
      <p:sp>
        <p:nvSpPr>
          <p:cNvPr id="6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59601DAE-758E-452F-AEC0-A2D0F6FB4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Für den Zweitgutachter | Juni 2026</a:t>
            </a:r>
          </a:p>
        </p:txBody>
      </p:sp>
      <p:sp>
        <p:nvSpPr>
          <p:cNvPr id="7" name="cover-scope-box">
            <a:extLst xmlns:a="http://schemas.openxmlformats.org/drawingml/2006/main">
              <a:ext uri="{FF2B5EF4-FFF2-40B4-BE49-F238E27FC236}">
                <a16:creationId xmlns:a16="http://schemas.microsoft.com/office/drawing/2014/main" id="{1ED5422C-9591-4417-BE40-D25CBA03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52600"/>
            <a:ext cx="28003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1"/>
            </a:solidFill>
            <a:prstDash val="solid"/>
          </a:ln>
        </p:spPr>
      </p:sp>
      <p:sp>
        <p:nvSpPr>
          <p:cNvPr id="8" name="cover-scope-title">
            <a:extLst xmlns:a="http://schemas.openxmlformats.org/drawingml/2006/main">
              <a:ext uri="{FF2B5EF4-FFF2-40B4-BE49-F238E27FC236}">
                <a16:creationId xmlns:a16="http://schemas.microsoft.com/office/drawing/2014/main" id="{AF6832A0-B447-4670-AAD0-37C2EDD7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57400"/>
            <a:ext cx="2247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Kernidee</a:t>
            </a:r>
          </a:p>
        </p:txBody>
      </p:sp>
      <p:sp>
        <p:nvSpPr>
          <p:cNvPr id="9" name="cover-scope-copy">
            <a:extLst xmlns:a="http://schemas.openxmlformats.org/drawingml/2006/main">
              <a:ext uri="{FF2B5EF4-FFF2-40B4-BE49-F238E27FC236}">
                <a16:creationId xmlns:a16="http://schemas.microsoft.com/office/drawing/2014/main" id="{B81BD7D2-F9E1-42C6-B449-3EE2BA32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533650"/>
            <a:ext cx="21717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@dev-assist liest GitLab-Issues, fragt fehlende Informationen an und erstellt erst nach Freigabe eine strukturierte Ticket-Fassung.</a:t>
            </a:r>
          </a:p>
        </p:txBody>
      </p:sp>
      <p:sp>
        <p:nvSpPr>
          <p:cNvPr id="10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D72D9615-67FB-414A-8652-FEBCFBE7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Projektvorstellung für den Zweitgutachter</a:t>
            </a:r>
          </a:p>
        </p:txBody>
      </p:sp>
      <p:sp>
        <p:nvSpPr>
          <p:cNvPr id="11" name="footer-right-1">
            <a:extLst xmlns:a="http://schemas.openxmlformats.org/drawingml/2006/main">
              <a:ext uri="{FF2B5EF4-FFF2-40B4-BE49-F238E27FC236}">
                <a16:creationId xmlns:a16="http://schemas.microsoft.com/office/drawing/2014/main" id="{2CA880E0-7F4B-45AF-8CBC-EB888067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941944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F276C1A2-76C7-4611-B3DF-35F3944C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78"/>
                </a:solidFill>
                <a:latin typeface="Aptos"/>
                <a:ea typeface="Aptos"/>
                <a:cs typeface="Aptos"/>
              </a:rPr>
              <a:t>GITLAB DEV-ASSIST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0C70BC36-119E-403D-A599-40A46073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Ausgangslage und Projektidee</a:t>
            </a:r>
          </a:p>
        </p:txBody>
      </p:sp>
      <p:sp>
        <p:nvSpPr>
          <p:cNvPr id="3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ADAD2D20-EE90-45A7-B63C-E7F94B8F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1"/>
          </a:solidFill>
          <a:ln xmlns:a="http://schemas.openxmlformats.org/drawingml/2006/main" w="0">
            <a:solidFill>
              <a:srgbClr val="E6EBF1"/>
            </a:solidFill>
            <a:prstDash val="solid"/>
          </a:ln>
        </p:spPr>
      </p:sp>
      <p:sp>
        <p:nvSpPr>
          <p:cNvPr id="4" name="problem-label-rule">
            <a:extLst xmlns:a="http://schemas.openxmlformats.org/drawingml/2006/main">
              <a:ext uri="{FF2B5EF4-FFF2-40B4-BE49-F238E27FC236}">
                <a16:creationId xmlns:a16="http://schemas.microsoft.com/office/drawing/2014/main" id="{E59807B7-D1BD-47DF-B138-B1DEBDAF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2E"/>
          </a:solidFill>
          <a:ln xmlns:a="http://schemas.openxmlformats.org/drawingml/2006/main" w="0">
            <a:solidFill>
              <a:srgbClr val="C26A2E"/>
            </a:solidFill>
            <a:prstDash val="solid"/>
          </a:ln>
        </p:spPr>
      </p:sp>
      <p:sp>
        <p:nvSpPr>
          <p:cNvPr id="5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80FF077D-DAF1-460E-9690-B8B7A301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24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Problem im Issue-Prozess</a:t>
            </a:r>
          </a:p>
        </p:txBody>
      </p:sp>
      <p:sp>
        <p:nvSpPr>
          <p:cNvPr id="6" name="problem-bullets-dot-1">
            <a:extLst xmlns:a="http://schemas.openxmlformats.org/drawingml/2006/main">
              <a:ext uri="{FF2B5EF4-FFF2-40B4-BE49-F238E27FC236}">
                <a16:creationId xmlns:a16="http://schemas.microsoft.com/office/drawing/2014/main" id="{A7B95FF8-9872-43B2-ACEB-822B89C6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05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2E"/>
          </a:solidFill>
          <a:ln xmlns:a="http://schemas.openxmlformats.org/drawingml/2006/main" w="0">
            <a:solidFill>
              <a:srgbClr val="C26A2E"/>
            </a:solidFill>
            <a:prstDash val="solid"/>
          </a:ln>
        </p:spPr>
      </p:sp>
      <p:sp>
        <p:nvSpPr>
          <p:cNvPr id="7" name="problem-bullets-text-1">
            <a:extLst xmlns:a="http://schemas.openxmlformats.org/drawingml/2006/main">
              <a:ext uri="{FF2B5EF4-FFF2-40B4-BE49-F238E27FC236}">
                <a16:creationId xmlns:a16="http://schemas.microsoft.com/office/drawing/2014/main" id="{0E5A3593-E695-4B8A-A6BC-B39FF5CE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1935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Viele Tickets enthalten unvollständige Reproduktionsschritte, Logs oder Akzeptanzkriterien.</a:t>
            </a:r>
          </a:p>
        </p:txBody>
      </p:sp>
      <p:sp>
        <p:nvSpPr>
          <p:cNvPr id="8" name="problem-bullets-dot-2">
            <a:extLst xmlns:a="http://schemas.openxmlformats.org/drawingml/2006/main">
              <a:ext uri="{FF2B5EF4-FFF2-40B4-BE49-F238E27FC236}">
                <a16:creationId xmlns:a16="http://schemas.microsoft.com/office/drawing/2014/main" id="{4F04123E-3553-4346-B7B8-8B5A9930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2E"/>
          </a:solidFill>
          <a:ln xmlns:a="http://schemas.openxmlformats.org/drawingml/2006/main" w="0">
            <a:solidFill>
              <a:srgbClr val="C26A2E"/>
            </a:solidFill>
            <a:prstDash val="solid"/>
          </a:ln>
        </p:spPr>
      </p:sp>
      <p:sp>
        <p:nvSpPr>
          <p:cNvPr id="9" name="problem-bullets-text-2">
            <a:extLst xmlns:a="http://schemas.openxmlformats.org/drawingml/2006/main">
              <a:ext uri="{FF2B5EF4-FFF2-40B4-BE49-F238E27FC236}">
                <a16:creationId xmlns:a16="http://schemas.microsoft.com/office/drawing/2014/main" id="{0AE99C77-38C0-4F0B-8011-7B4CA6AB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Zusatzinformationen liegen oft verteilt in Kommentaren und Screenshots.</a:t>
            </a:r>
          </a:p>
        </p:txBody>
      </p:sp>
      <p:sp>
        <p:nvSpPr>
          <p:cNvPr id="10" name="problem-bullets-dot-3">
            <a:extLst xmlns:a="http://schemas.openxmlformats.org/drawingml/2006/main">
              <a:ext uri="{FF2B5EF4-FFF2-40B4-BE49-F238E27FC236}">
                <a16:creationId xmlns:a16="http://schemas.microsoft.com/office/drawing/2014/main" id="{FB3C3C1F-A77E-467C-B054-FFEA7108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43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2E"/>
          </a:solidFill>
          <a:ln xmlns:a="http://schemas.openxmlformats.org/drawingml/2006/main" w="0">
            <a:solidFill>
              <a:srgbClr val="C26A2E"/>
            </a:solidFill>
            <a:prstDash val="solid"/>
          </a:ln>
        </p:spPr>
      </p:sp>
      <p:sp>
        <p:nvSpPr>
          <p:cNvPr id="11" name="problem-bullets-text-3">
            <a:extLst xmlns:a="http://schemas.openxmlformats.org/drawingml/2006/main">
              <a:ext uri="{FF2B5EF4-FFF2-40B4-BE49-F238E27FC236}">
                <a16:creationId xmlns:a16="http://schemas.microsoft.com/office/drawing/2014/main" id="{2CBB0809-0E96-490F-AAD6-D3502C1C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41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Entwickler müssen Kontext manuell zusammensuchen, bevor die Umsetzung starten kann.</a:t>
            </a:r>
          </a:p>
        </p:txBody>
      </p:sp>
      <p:sp>
        <p:nvSpPr>
          <p:cNvPr id="12" name="idea-label-rule">
            <a:extLst xmlns:a="http://schemas.openxmlformats.org/drawingml/2006/main">
              <a:ext uri="{FF2B5EF4-FFF2-40B4-BE49-F238E27FC236}">
                <a16:creationId xmlns:a16="http://schemas.microsoft.com/office/drawing/2014/main" id="{AE5EB914-D2C9-4BA6-9C2F-AD21D187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0025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13" name="idea-label">
            <a:extLst xmlns:a="http://schemas.openxmlformats.org/drawingml/2006/main">
              <a:ext uri="{FF2B5EF4-FFF2-40B4-BE49-F238E27FC236}">
                <a16:creationId xmlns:a16="http://schemas.microsoft.com/office/drawing/2014/main" id="{28676AA1-2B0A-4B6C-A118-2900BCA2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24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Projektidee</a:t>
            </a:r>
          </a:p>
        </p:txBody>
      </p:sp>
      <p:sp>
        <p:nvSpPr>
          <p:cNvPr id="14" name="idea-main">
            <a:extLst xmlns:a="http://schemas.openxmlformats.org/drawingml/2006/main">
              <a:ext uri="{FF2B5EF4-FFF2-40B4-BE49-F238E27FC236}">
                <a16:creationId xmlns:a16="http://schemas.microsoft.com/office/drawing/2014/main" id="{8EB48DAA-A25D-4B7D-9D00-72238C6B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19350"/>
            <a:ext cx="40957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Ein GitLab-Webhook-Assistent reagiert auf @dev-assist, analysiert den Ticket-Kontext mit Opencode und erzeugt eine prüfbare, strukturierte Ticket-Vorlage.</a:t>
            </a:r>
          </a:p>
        </p:txBody>
      </p:sp>
      <p:sp>
        <p:nvSpPr>
          <p:cNvPr id="15" name="idea-note">
            <a:extLst xmlns:a="http://schemas.openxmlformats.org/drawingml/2006/main">
              <a:ext uri="{FF2B5EF4-FFF2-40B4-BE49-F238E27FC236}">
                <a16:creationId xmlns:a16="http://schemas.microsoft.com/office/drawing/2014/main" id="{F9854494-CD07-4BD1-BEA1-51171E9C3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910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F6F7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F6F78"/>
                </a:solidFill>
                <a:latin typeface="Aptos"/>
                <a:ea typeface="Aptos"/>
                <a:cs typeface="Aptos"/>
              </a:rPr>
              <a:t>Der Mensch bleibt Freigabeinstanz: Verändert wird ein Issue erst nach @dev-assist publish.</a:t>
            </a:r>
          </a:p>
        </p:txBody>
      </p:sp>
      <p:sp>
        <p:nvSpPr>
          <p:cNvPr id="16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2FCE6729-B8E3-4AEC-98B6-BB196CD5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Projektvorstellung für den Zweitgutachter</a:t>
            </a:r>
          </a:p>
        </p:txBody>
      </p:sp>
      <p:sp>
        <p:nvSpPr>
          <p:cNvPr id="17" name="footer-right-2">
            <a:extLst xmlns:a="http://schemas.openxmlformats.org/drawingml/2006/main">
              <a:ext uri="{FF2B5EF4-FFF2-40B4-BE49-F238E27FC236}">
                <a16:creationId xmlns:a16="http://schemas.microsoft.com/office/drawing/2014/main" id="{1FD878C4-73BD-4EEF-A2D3-4BB2E00F0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797818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728E4FFC-A880-44E8-9541-76D52D18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78"/>
                </a:solidFill>
                <a:latin typeface="Aptos"/>
                <a:ea typeface="Aptos"/>
                <a:cs typeface="Aptos"/>
              </a:rPr>
              <a:t>GITLAB DEV-ASSIST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9059AFE-C1C2-4FD4-96F5-99D89005F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Was das System leisten soll</a:t>
            </a:r>
          </a:p>
        </p:txBody>
      </p:sp>
      <p:sp>
        <p:nvSpPr>
          <p:cNvPr id="3" name="title-rule-3">
            <a:extLst xmlns:a="http://schemas.openxmlformats.org/drawingml/2006/main">
              <a:ext uri="{FF2B5EF4-FFF2-40B4-BE49-F238E27FC236}">
                <a16:creationId xmlns:a16="http://schemas.microsoft.com/office/drawing/2014/main" id="{6669E86C-E9CB-4EBE-A96B-709581F4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1"/>
          </a:solidFill>
          <a:ln xmlns:a="http://schemas.openxmlformats.org/drawingml/2006/main" w="0">
            <a:solidFill>
              <a:srgbClr val="E6EBF1"/>
            </a:solidFill>
            <a:prstDash val="solid"/>
          </a:ln>
        </p:spPr>
      </p:sp>
      <p:sp>
        <p:nvSpPr>
          <p:cNvPr id="4" name="can-left-dot-1">
            <a:extLst xmlns:a="http://schemas.openxmlformats.org/drawingml/2006/main">
              <a:ext uri="{FF2B5EF4-FFF2-40B4-BE49-F238E27FC236}">
                <a16:creationId xmlns:a16="http://schemas.microsoft.com/office/drawing/2014/main" id="{E7CE6411-8CDB-4373-9BBE-F35DE5BF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81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5" name="can-left-text-1">
            <a:extLst xmlns:a="http://schemas.openxmlformats.org/drawingml/2006/main">
              <a:ext uri="{FF2B5EF4-FFF2-40B4-BE49-F238E27FC236}">
                <a16:creationId xmlns:a16="http://schemas.microsoft.com/office/drawing/2014/main" id="{5F4DD59A-4BCB-494E-8203-2FB553B1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GitLab-Issue- und Kommentar-Webhooks entgegennehmen und relevante Events erkennen.</a:t>
            </a:r>
          </a:p>
        </p:txBody>
      </p:sp>
      <p:sp>
        <p:nvSpPr>
          <p:cNvPr id="6" name="can-left-dot-2">
            <a:extLst xmlns:a="http://schemas.openxmlformats.org/drawingml/2006/main">
              <a:ext uri="{FF2B5EF4-FFF2-40B4-BE49-F238E27FC236}">
                <a16:creationId xmlns:a16="http://schemas.microsoft.com/office/drawing/2014/main" id="{062F0D20-1284-4B3F-80DB-F964627E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7" name="can-left-text-2">
            <a:extLst xmlns:a="http://schemas.openxmlformats.org/drawingml/2006/main">
              <a:ext uri="{FF2B5EF4-FFF2-40B4-BE49-F238E27FC236}">
                <a16:creationId xmlns:a16="http://schemas.microsoft.com/office/drawing/2014/main" id="{C1774811-23EA-406F-96EF-AE909DC7A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@dev-assist-Erwähnung und Publish-Kommandos unterscheiden.</a:t>
            </a:r>
          </a:p>
        </p:txBody>
      </p:sp>
      <p:sp>
        <p:nvSpPr>
          <p:cNvPr id="8" name="can-left-dot-3">
            <a:extLst xmlns:a="http://schemas.openxmlformats.org/drawingml/2006/main">
              <a:ext uri="{FF2B5EF4-FFF2-40B4-BE49-F238E27FC236}">
                <a16:creationId xmlns:a16="http://schemas.microsoft.com/office/drawing/2014/main" id="{0158DDBA-1F2C-4BAC-9BA4-EF4850E5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9" name="can-left-text-3">
            <a:extLst xmlns:a="http://schemas.openxmlformats.org/drawingml/2006/main">
              <a:ext uri="{FF2B5EF4-FFF2-40B4-BE49-F238E27FC236}">
                <a16:creationId xmlns:a16="http://schemas.microsoft.com/office/drawing/2014/main" id="{9BBDB174-0D78-4D4A-945B-A876BEC9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Titel, Beschreibung, Kommentare und Bildreferenzen als Kontext sammeln.</a:t>
            </a:r>
          </a:p>
        </p:txBody>
      </p:sp>
      <p:sp>
        <p:nvSpPr>
          <p:cNvPr id="10" name="can-left-dot-4">
            <a:extLst xmlns:a="http://schemas.openxmlformats.org/drawingml/2006/main">
              <a:ext uri="{FF2B5EF4-FFF2-40B4-BE49-F238E27FC236}">
                <a16:creationId xmlns:a16="http://schemas.microsoft.com/office/drawing/2014/main" id="{374BAB0E-08B9-4445-AF15-1FF0C9DA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11" name="can-left-text-4">
            <a:extLst xmlns:a="http://schemas.openxmlformats.org/drawingml/2006/main">
              <a:ext uri="{FF2B5EF4-FFF2-40B4-BE49-F238E27FC236}">
                <a16:creationId xmlns:a16="http://schemas.microsoft.com/office/drawing/2014/main" id="{88EC4BEB-5EAD-4F81-BE1E-6759E6B5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Bei fehlendem Kontext konkrete Rückfragen als Kommentar posten.</a:t>
            </a:r>
          </a:p>
        </p:txBody>
      </p:sp>
      <p:sp>
        <p:nvSpPr>
          <p:cNvPr id="12" name="can-right-dot-1">
            <a:extLst xmlns:a="http://schemas.openxmlformats.org/drawingml/2006/main">
              <a:ext uri="{FF2B5EF4-FFF2-40B4-BE49-F238E27FC236}">
                <a16:creationId xmlns:a16="http://schemas.microsoft.com/office/drawing/2014/main" id="{F5817573-F56F-48BD-9425-4C8D6D4F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81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13" name="can-right-text-1">
            <a:extLst xmlns:a="http://schemas.openxmlformats.org/drawingml/2006/main">
              <a:ext uri="{FF2B5EF4-FFF2-40B4-BE49-F238E27FC236}">
                <a16:creationId xmlns:a16="http://schemas.microsoft.com/office/drawing/2014/main" id="{D6114B28-EAB4-4837-8552-98281794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Wenn genug Informationen vorhanden sind: neuen Titel und neue Beschreibung vorschlagen.</a:t>
            </a:r>
          </a:p>
        </p:txBody>
      </p:sp>
      <p:sp>
        <p:nvSpPr>
          <p:cNvPr id="14" name="can-right-dot-2">
            <a:extLst xmlns:a="http://schemas.openxmlformats.org/drawingml/2006/main">
              <a:ext uri="{FF2B5EF4-FFF2-40B4-BE49-F238E27FC236}">
                <a16:creationId xmlns:a16="http://schemas.microsoft.com/office/drawing/2014/main" id="{B3B66FBC-F375-4B54-9039-EFCE2602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28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15" name="can-right-text-2">
            <a:extLst xmlns:a="http://schemas.openxmlformats.org/drawingml/2006/main">
              <a:ext uri="{FF2B5EF4-FFF2-40B4-BE49-F238E27FC236}">
                <a16:creationId xmlns:a16="http://schemas.microsoft.com/office/drawing/2014/main" id="{D5FF7A1B-7E94-4407-BF9A-7C3418E53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Screenshots und Uploads möglichst passend in der vorgeschlagenen Beschreibung erhalten.</a:t>
            </a:r>
          </a:p>
        </p:txBody>
      </p:sp>
      <p:sp>
        <p:nvSpPr>
          <p:cNvPr id="16" name="can-right-dot-3">
            <a:extLst xmlns:a="http://schemas.openxmlformats.org/drawingml/2006/main">
              <a:ext uri="{FF2B5EF4-FFF2-40B4-BE49-F238E27FC236}">
                <a16:creationId xmlns:a16="http://schemas.microsoft.com/office/drawing/2014/main" id="{CB78C8BA-9C88-48A2-A590-F87A6529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17" name="can-right-text-3">
            <a:extLst xmlns:a="http://schemas.openxmlformats.org/drawingml/2006/main">
              <a:ext uri="{FF2B5EF4-FFF2-40B4-BE49-F238E27FC236}">
                <a16:creationId xmlns:a16="http://schemas.microsoft.com/office/drawing/2014/main" id="{DB0EA892-B3C8-4F1F-BE66-70E88338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90900"/>
            <a:ext cx="4533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Nach explizitem Publish das Issue aktualisieren und Hilfskommentare bereinigen.</a:t>
            </a:r>
          </a:p>
        </p:txBody>
      </p:sp>
      <p:sp>
        <p:nvSpPr>
          <p:cNvPr id="18" name="can-right-dot-4">
            <a:extLst xmlns:a="http://schemas.openxmlformats.org/drawingml/2006/main">
              <a:ext uri="{FF2B5EF4-FFF2-40B4-BE49-F238E27FC236}">
                <a16:creationId xmlns:a16="http://schemas.microsoft.com/office/drawing/2014/main" id="{9986848B-814A-4B57-9345-D90E3C53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24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19" name="can-right-text-4">
            <a:extLst xmlns:a="http://schemas.openxmlformats.org/drawingml/2006/main">
              <a:ext uri="{FF2B5EF4-FFF2-40B4-BE49-F238E27FC236}">
                <a16:creationId xmlns:a16="http://schemas.microsoft.com/office/drawing/2014/main" id="{415786A2-1AFA-45C1-ABDE-EFE7D162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038600"/>
            <a:ext cx="4533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Webhook-Antworten schnell senden, lange Analyse asynchron ausführen.</a:t>
            </a:r>
          </a:p>
        </p:txBody>
      </p:sp>
      <p:sp>
        <p:nvSpPr>
          <p:cNvPr id="20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932F9BAB-01C3-4504-BC28-297B4EEF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Projektvorstellung für den Zweitgutachter</a:t>
            </a:r>
          </a:p>
        </p:txBody>
      </p:sp>
      <p:sp>
        <p:nvSpPr>
          <p:cNvPr id="21" name="footer-right-3">
            <a:extLst xmlns:a="http://schemas.openxmlformats.org/drawingml/2006/main">
              <a:ext uri="{FF2B5EF4-FFF2-40B4-BE49-F238E27FC236}">
                <a16:creationId xmlns:a16="http://schemas.microsoft.com/office/drawing/2014/main" id="{FBB86949-4CB3-416D-B440-CA9C0983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72027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B179D1FE-8048-4541-9DA4-FD74C81EC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78"/>
                </a:solidFill>
                <a:latin typeface="Aptos"/>
                <a:ea typeface="Aptos"/>
                <a:cs typeface="Aptos"/>
              </a:rPr>
              <a:t>GITLAB DEV-ASSIST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1F8E0010-BC4B-4D30-BAF1-771D5F8C0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Was das System nicht leisten soll</a:t>
            </a:r>
          </a:p>
        </p:txBody>
      </p:sp>
      <p:sp>
        <p:nvSpPr>
          <p:cNvPr id="3" name="title-rule-4">
            <a:extLst xmlns:a="http://schemas.openxmlformats.org/drawingml/2006/main">
              <a:ext uri="{FF2B5EF4-FFF2-40B4-BE49-F238E27FC236}">
                <a16:creationId xmlns:a16="http://schemas.microsoft.com/office/drawing/2014/main" id="{4029AF5C-B857-4665-90C8-9C66705E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1"/>
          </a:solidFill>
          <a:ln xmlns:a="http://schemas.openxmlformats.org/drawingml/2006/main" w="0">
            <a:solidFill>
              <a:srgbClr val="E6EBF1"/>
            </a:solidFill>
            <a:prstDash val="solid"/>
          </a:ln>
        </p:spPr>
      </p:sp>
      <p:sp>
        <p:nvSpPr>
          <p:cNvPr id="4" name="cannot-left-dot-1">
            <a:extLst xmlns:a="http://schemas.openxmlformats.org/drawingml/2006/main">
              <a:ext uri="{FF2B5EF4-FFF2-40B4-BE49-F238E27FC236}">
                <a16:creationId xmlns:a16="http://schemas.microsoft.com/office/drawing/2014/main" id="{CFB1D873-D7F3-4E08-B936-4D20403B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E3E"/>
          </a:solidFill>
          <a:ln xmlns:a="http://schemas.openxmlformats.org/drawingml/2006/main" w="0">
            <a:solidFill>
              <a:srgbClr val="A33E3E"/>
            </a:solidFill>
            <a:prstDash val="solid"/>
          </a:ln>
        </p:spPr>
      </p:sp>
      <p:sp>
        <p:nvSpPr>
          <p:cNvPr id="5" name="cannot-left-text-1">
            <a:extLst xmlns:a="http://schemas.openxmlformats.org/drawingml/2006/main">
              <a:ext uri="{FF2B5EF4-FFF2-40B4-BE49-F238E27FC236}">
                <a16:creationId xmlns:a16="http://schemas.microsoft.com/office/drawing/2014/main" id="{28981EDE-85C0-4D16-A8DF-A1D5159F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52650"/>
            <a:ext cx="4781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Keine autonome Code-Änderung, kein Merge und keine direkte Umsetzung von Tickets.</a:t>
            </a:r>
          </a:p>
        </p:txBody>
      </p:sp>
      <p:sp>
        <p:nvSpPr>
          <p:cNvPr id="6" name="cannot-left-dot-2">
            <a:extLst xmlns:a="http://schemas.openxmlformats.org/drawingml/2006/main">
              <a:ext uri="{FF2B5EF4-FFF2-40B4-BE49-F238E27FC236}">
                <a16:creationId xmlns:a16="http://schemas.microsoft.com/office/drawing/2014/main" id="{A6C74487-3589-4448-B851-B9025970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E3E"/>
          </a:solidFill>
          <a:ln xmlns:a="http://schemas.openxmlformats.org/drawingml/2006/main" w="0">
            <a:solidFill>
              <a:srgbClr val="A33E3E"/>
            </a:solidFill>
            <a:prstDash val="solid"/>
          </a:ln>
        </p:spPr>
      </p:sp>
      <p:sp>
        <p:nvSpPr>
          <p:cNvPr id="7" name="cannot-left-text-2">
            <a:extLst xmlns:a="http://schemas.openxmlformats.org/drawingml/2006/main">
              <a:ext uri="{FF2B5EF4-FFF2-40B4-BE49-F238E27FC236}">
                <a16:creationId xmlns:a16="http://schemas.microsoft.com/office/drawing/2014/main" id="{7C43F153-9BF5-47F4-9872-2AD9471A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62250"/>
            <a:ext cx="478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Keine automatische Issue-Änderung ohne @dev-assist publish.</a:t>
            </a:r>
          </a:p>
        </p:txBody>
      </p:sp>
      <p:sp>
        <p:nvSpPr>
          <p:cNvPr id="8" name="cannot-left-dot-3">
            <a:extLst xmlns:a="http://schemas.openxmlformats.org/drawingml/2006/main">
              <a:ext uri="{FF2B5EF4-FFF2-40B4-BE49-F238E27FC236}">
                <a16:creationId xmlns:a16="http://schemas.microsoft.com/office/drawing/2014/main" id="{E8880D68-5342-43E9-B37C-BA012BB1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81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E3E"/>
          </a:solidFill>
          <a:ln xmlns:a="http://schemas.openxmlformats.org/drawingml/2006/main" w="0">
            <a:solidFill>
              <a:srgbClr val="A33E3E"/>
            </a:solidFill>
            <a:prstDash val="solid"/>
          </a:ln>
        </p:spPr>
      </p:sp>
      <p:sp>
        <p:nvSpPr>
          <p:cNvPr id="9" name="cannot-left-text-3">
            <a:extLst xmlns:a="http://schemas.openxmlformats.org/drawingml/2006/main">
              <a:ext uri="{FF2B5EF4-FFF2-40B4-BE49-F238E27FC236}">
                <a16:creationId xmlns:a16="http://schemas.microsoft.com/office/drawing/2014/main" id="{84706092-B23B-440B-BBD6-FBBE2504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478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Keine Garantie, dass KI-Antworten fachlich immer korrekt sind.</a:t>
            </a:r>
          </a:p>
        </p:txBody>
      </p:sp>
      <p:sp>
        <p:nvSpPr>
          <p:cNvPr id="10" name="cannot-left-dot-4">
            <a:extLst xmlns:a="http://schemas.openxmlformats.org/drawingml/2006/main">
              <a:ext uri="{FF2B5EF4-FFF2-40B4-BE49-F238E27FC236}">
                <a16:creationId xmlns:a16="http://schemas.microsoft.com/office/drawing/2014/main" id="{3E25228A-179E-43E2-A258-B0F8C249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14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E3E"/>
          </a:solidFill>
          <a:ln xmlns:a="http://schemas.openxmlformats.org/drawingml/2006/main" w="0">
            <a:solidFill>
              <a:srgbClr val="A33E3E"/>
            </a:solidFill>
            <a:prstDash val="solid"/>
          </a:ln>
        </p:spPr>
      </p:sp>
      <p:sp>
        <p:nvSpPr>
          <p:cNvPr id="11" name="cannot-left-text-4">
            <a:extLst xmlns:a="http://schemas.openxmlformats.org/drawingml/2006/main">
              <a:ext uri="{FF2B5EF4-FFF2-40B4-BE49-F238E27FC236}">
                <a16:creationId xmlns:a16="http://schemas.microsoft.com/office/drawing/2014/main" id="{D798B034-D30F-4807-BE21-096EBB24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29050"/>
            <a:ext cx="4781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Kein Ersatz für Produktentscheidung, Priorisierung oder finale Akzeptanzkriterien.</a:t>
            </a:r>
          </a:p>
        </p:txBody>
      </p:sp>
      <p:sp>
        <p:nvSpPr>
          <p:cNvPr id="12" name="boundary-note-box">
            <a:extLst xmlns:a="http://schemas.openxmlformats.org/drawingml/2006/main">
              <a:ext uri="{FF2B5EF4-FFF2-40B4-BE49-F238E27FC236}">
                <a16:creationId xmlns:a16="http://schemas.microsoft.com/office/drawing/2014/main" id="{DAAF9F0D-E909-4096-96AF-792A966F5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37719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1"/>
            </a:solidFill>
            <a:prstDash val="solid"/>
          </a:ln>
        </p:spPr>
      </p:sp>
      <p:sp>
        <p:nvSpPr>
          <p:cNvPr id="13" name="boundary-note-rule">
            <a:extLst xmlns:a="http://schemas.openxmlformats.org/drawingml/2006/main">
              <a:ext uri="{FF2B5EF4-FFF2-40B4-BE49-F238E27FC236}">
                <a16:creationId xmlns:a16="http://schemas.microsoft.com/office/drawing/2014/main" id="{B3BF16EF-92E9-48C0-97F1-9F7EAF09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3771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E3E"/>
          </a:solidFill>
          <a:ln xmlns:a="http://schemas.openxmlformats.org/drawingml/2006/main" w="0">
            <a:solidFill>
              <a:srgbClr val="A33E3E"/>
            </a:solidFill>
            <a:prstDash val="solid"/>
          </a:ln>
        </p:spPr>
      </p:sp>
      <p:sp>
        <p:nvSpPr>
          <p:cNvPr id="14" name="boundary-note-title">
            <a:extLst xmlns:a="http://schemas.openxmlformats.org/drawingml/2006/main">
              <a:ext uri="{FF2B5EF4-FFF2-40B4-BE49-F238E27FC236}">
                <a16:creationId xmlns:a16="http://schemas.microsoft.com/office/drawing/2014/main" id="{8AE2C65A-827A-4CD3-A01F-843B5B2F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6098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Bewusste Grenze</a:t>
            </a:r>
          </a:p>
        </p:txBody>
      </p:sp>
      <p:sp>
        <p:nvSpPr>
          <p:cNvPr id="15" name="boundary-note-copy">
            <a:extLst xmlns:a="http://schemas.openxmlformats.org/drawingml/2006/main">
              <a:ext uri="{FF2B5EF4-FFF2-40B4-BE49-F238E27FC236}">
                <a16:creationId xmlns:a16="http://schemas.microsoft.com/office/drawing/2014/main" id="{DF3AFCE7-E812-4928-AA28-B05E25BE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05150"/>
            <a:ext cx="31242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Das Projekt verbessert Ticket-Qualität und Nachvollziehbarkeit. Es soll keinen Menschen aus dem Review- und Freigabeprozess entfernen.</a:t>
            </a:r>
          </a:p>
        </p:txBody>
      </p:sp>
      <p:sp>
        <p:nvSpPr>
          <p:cNvPr id="16" name="footer-left-4">
            <a:extLst xmlns:a="http://schemas.openxmlformats.org/drawingml/2006/main">
              <a:ext uri="{FF2B5EF4-FFF2-40B4-BE49-F238E27FC236}">
                <a16:creationId xmlns:a16="http://schemas.microsoft.com/office/drawing/2014/main" id="{D0330BCE-930D-4434-B54F-C1F25852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Projektvorstellung für den Zweitgutachter</a:t>
            </a:r>
          </a:p>
        </p:txBody>
      </p:sp>
      <p:sp>
        <p:nvSpPr>
          <p:cNvPr id="17" name="footer-right-4">
            <a:extLst xmlns:a="http://schemas.openxmlformats.org/drawingml/2006/main">
              <a:ext uri="{FF2B5EF4-FFF2-40B4-BE49-F238E27FC236}">
                <a16:creationId xmlns:a16="http://schemas.microsoft.com/office/drawing/2014/main" id="{BB6C5E02-F5BC-4ADC-ABF8-CC995B4DD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84948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67B17952-5F6E-4C1B-BB5C-E00F266A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78"/>
                </a:solidFill>
                <a:latin typeface="Aptos"/>
                <a:ea typeface="Aptos"/>
                <a:cs typeface="Aptos"/>
              </a:rPr>
              <a:t>GITLAB DEV-ASSIST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C15E580-1E4C-421A-AEA4-44D8638C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Ablauf im Betrieb</a:t>
            </a:r>
          </a:p>
        </p:txBody>
      </p:sp>
      <p:sp>
        <p:nvSpPr>
          <p:cNvPr id="3" name="title-rule-5">
            <a:extLst xmlns:a="http://schemas.openxmlformats.org/drawingml/2006/main">
              <a:ext uri="{FF2B5EF4-FFF2-40B4-BE49-F238E27FC236}">
                <a16:creationId xmlns:a16="http://schemas.microsoft.com/office/drawing/2014/main" id="{2EDA6161-0A2E-495A-826E-663A47F4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1"/>
          </a:solidFill>
          <a:ln xmlns:a="http://schemas.openxmlformats.org/drawingml/2006/main" w="0">
            <a:solidFill>
              <a:srgbClr val="E6EBF1"/>
            </a:solidFill>
            <a:prstDash val="solid"/>
          </a:ln>
        </p:spPr>
      </p:sp>
      <p:sp>
        <p:nvSpPr>
          <p:cNvPr id="4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DA7603DA-5E7B-44E5-8220-05A6D0C2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432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4DD"/>
            </a:solidFill>
            <a:prstDash val="solid"/>
          </a:ln>
        </p:spPr>
      </p:sp>
      <p:sp>
        <p:nvSpPr>
          <p:cNvPr id="5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7938A326-9BCD-40A2-A9D1-EBADD7A4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432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4DD"/>
            </a:solidFill>
            <a:prstDash val="solid"/>
          </a:ln>
        </p:spPr>
      </p:sp>
      <p:sp>
        <p:nvSpPr>
          <p:cNvPr id="6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3361FC6D-4BE0-4C11-97D8-272CAAF8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4DD"/>
            </a:solidFill>
            <a:prstDash val="solid"/>
          </a:ln>
        </p:spPr>
      </p:sp>
      <p:sp>
        <p:nvSpPr>
          <p:cNvPr id="7" name="flow-arrow-4">
            <a:extLst xmlns:a="http://schemas.openxmlformats.org/drawingml/2006/main">
              <a:ext uri="{FF2B5EF4-FFF2-40B4-BE49-F238E27FC236}">
                <a16:creationId xmlns:a16="http://schemas.microsoft.com/office/drawing/2014/main" id="{CB267244-7F57-41BF-94BE-FE3134C9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4DD"/>
            </a:solidFill>
            <a:prstDash val="solid"/>
          </a:ln>
        </p:spPr>
      </p:sp>
      <p:sp>
        <p:nvSpPr>
          <p:cNvPr id="8" name="flow-arrow-5">
            <a:extLst xmlns:a="http://schemas.openxmlformats.org/drawingml/2006/main">
              <a:ext uri="{FF2B5EF4-FFF2-40B4-BE49-F238E27FC236}">
                <a16:creationId xmlns:a16="http://schemas.microsoft.com/office/drawing/2014/main" id="{8BDF897E-A608-4FE6-BB10-B1CEE23E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14325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CD4DD"/>
            </a:solidFill>
            <a:prstDash val="solid"/>
          </a:ln>
        </p:spPr>
      </p:sp>
      <p:sp>
        <p:nvSpPr>
          <p:cNvPr id="9" name="flow-1-box">
            <a:extLst xmlns:a="http://schemas.openxmlformats.org/drawingml/2006/main">
              <a:ext uri="{FF2B5EF4-FFF2-40B4-BE49-F238E27FC236}">
                <a16:creationId xmlns:a16="http://schemas.microsoft.com/office/drawing/2014/main" id="{D510B8D4-A83E-4C83-9980-83351B5B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600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05C89"/>
            </a:solidFill>
            <a:prstDash val="solid"/>
          </a:ln>
        </p:spPr>
      </p:sp>
      <p:sp>
        <p:nvSpPr>
          <p:cNvPr id="10" name="flow-1-accent">
            <a:extLst xmlns:a="http://schemas.openxmlformats.org/drawingml/2006/main">
              <a:ext uri="{FF2B5EF4-FFF2-40B4-BE49-F238E27FC236}">
                <a16:creationId xmlns:a16="http://schemas.microsoft.com/office/drawing/2014/main" id="{85572EA1-0500-4CB7-B0AA-A17FA5D1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C89"/>
          </a:solidFill>
          <a:ln xmlns:a="http://schemas.openxmlformats.org/drawingml/2006/main" w="0">
            <a:solidFill>
              <a:srgbClr val="305C89"/>
            </a:solidFill>
            <a:prstDash val="solid"/>
          </a:ln>
        </p:spPr>
      </p:sp>
      <p:sp>
        <p:nvSpPr>
          <p:cNvPr id="11" name="flow-1-label">
            <a:extLst xmlns:a="http://schemas.openxmlformats.org/drawingml/2006/main">
              <a:ext uri="{FF2B5EF4-FFF2-40B4-BE49-F238E27FC236}">
                <a16:creationId xmlns:a16="http://schemas.microsoft.com/office/drawing/2014/main" id="{349FF616-277C-4AEA-8A0F-93046870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289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GitLab</a:t>
            </a:r>
          </a:p>
        </p:txBody>
      </p:sp>
      <p:sp>
        <p:nvSpPr>
          <p:cNvPr id="12" name="flow-1-sub">
            <a:extLst xmlns:a="http://schemas.openxmlformats.org/drawingml/2006/main">
              <a:ext uri="{FF2B5EF4-FFF2-40B4-BE49-F238E27FC236}">
                <a16:creationId xmlns:a16="http://schemas.microsoft.com/office/drawing/2014/main" id="{17034C36-ABF3-4712-9471-2DDC1A67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52750"/>
            <a:ext cx="1295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Issue oder Kommentar mit @dev-assist</a:t>
            </a:r>
          </a:p>
        </p:txBody>
      </p:sp>
      <p:sp>
        <p:nvSpPr>
          <p:cNvPr id="13" name="flow-2-box">
            <a:extLst xmlns:a="http://schemas.openxmlformats.org/drawingml/2006/main">
              <a:ext uri="{FF2B5EF4-FFF2-40B4-BE49-F238E27FC236}">
                <a16:creationId xmlns:a16="http://schemas.microsoft.com/office/drawing/2014/main" id="{7F22131F-12C5-4FD0-A7A9-3D3BBB12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57450"/>
            <a:ext cx="1600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78"/>
            </a:solidFill>
            <a:prstDash val="solid"/>
          </a:ln>
        </p:spPr>
      </p:sp>
      <p:sp>
        <p:nvSpPr>
          <p:cNvPr id="14" name="flow-2-accent">
            <a:extLst xmlns:a="http://schemas.openxmlformats.org/drawingml/2006/main">
              <a:ext uri="{FF2B5EF4-FFF2-40B4-BE49-F238E27FC236}">
                <a16:creationId xmlns:a16="http://schemas.microsoft.com/office/drawing/2014/main" id="{4A017DFD-78B1-4E5D-ABBE-233E44E6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574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15" name="flow-2-label">
            <a:extLst xmlns:a="http://schemas.openxmlformats.org/drawingml/2006/main">
              <a:ext uri="{FF2B5EF4-FFF2-40B4-BE49-F238E27FC236}">
                <a16:creationId xmlns:a16="http://schemas.microsoft.com/office/drawing/2014/main" id="{0AF2A5C8-40EC-4BB4-BE43-308F85C6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289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Webhook</a:t>
            </a:r>
          </a:p>
        </p:txBody>
      </p:sp>
      <p:sp>
        <p:nvSpPr>
          <p:cNvPr id="16" name="flow-2-sub">
            <a:extLst xmlns:a="http://schemas.openxmlformats.org/drawingml/2006/main">
              <a:ext uri="{FF2B5EF4-FFF2-40B4-BE49-F238E27FC236}">
                <a16:creationId xmlns:a16="http://schemas.microsoft.com/office/drawing/2014/main" id="{F81E692C-0EB2-4E65-9788-4AC42F89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1295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Signatur, Payload, Bot-Loop-Schutz</a:t>
            </a:r>
          </a:p>
        </p:txBody>
      </p:sp>
      <p:sp>
        <p:nvSpPr>
          <p:cNvPr id="17" name="flow-3-box">
            <a:extLst xmlns:a="http://schemas.openxmlformats.org/drawingml/2006/main">
              <a:ext uri="{FF2B5EF4-FFF2-40B4-BE49-F238E27FC236}">
                <a16:creationId xmlns:a16="http://schemas.microsoft.com/office/drawing/2014/main" id="{8730F2FA-292D-4905-B11A-12FACC88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57450"/>
            <a:ext cx="1600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6A2E"/>
            </a:solidFill>
            <a:prstDash val="solid"/>
          </a:ln>
        </p:spPr>
      </p:sp>
      <p:sp>
        <p:nvSpPr>
          <p:cNvPr id="18" name="flow-3-accent">
            <a:extLst xmlns:a="http://schemas.openxmlformats.org/drawingml/2006/main">
              <a:ext uri="{FF2B5EF4-FFF2-40B4-BE49-F238E27FC236}">
                <a16:creationId xmlns:a16="http://schemas.microsoft.com/office/drawing/2014/main" id="{C38E186F-70E1-45E3-A3F9-DE6D89E5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4574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2E"/>
          </a:solidFill>
          <a:ln xmlns:a="http://schemas.openxmlformats.org/drawingml/2006/main" w="0">
            <a:solidFill>
              <a:srgbClr val="C26A2E"/>
            </a:solidFill>
            <a:prstDash val="solid"/>
          </a:ln>
        </p:spPr>
      </p:sp>
      <p:sp>
        <p:nvSpPr>
          <p:cNvPr id="19" name="flow-3-label">
            <a:extLst xmlns:a="http://schemas.openxmlformats.org/drawingml/2006/main">
              <a:ext uri="{FF2B5EF4-FFF2-40B4-BE49-F238E27FC236}">
                <a16:creationId xmlns:a16="http://schemas.microsoft.com/office/drawing/2014/main" id="{4AEB5FA4-E2F2-43B2-B610-1DC164B0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289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20" name="flow-3-sub">
            <a:extLst xmlns:a="http://schemas.openxmlformats.org/drawingml/2006/main">
              <a:ext uri="{FF2B5EF4-FFF2-40B4-BE49-F238E27FC236}">
                <a16:creationId xmlns:a16="http://schemas.microsoft.com/office/drawing/2014/main" id="{84288384-DC70-46C3-9BF9-B3B96382E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52750"/>
            <a:ext cx="1295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Analyse oder Publish</a:t>
            </a:r>
          </a:p>
        </p:txBody>
      </p:sp>
      <p:sp>
        <p:nvSpPr>
          <p:cNvPr id="21" name="flow-4-box">
            <a:extLst xmlns:a="http://schemas.openxmlformats.org/drawingml/2006/main">
              <a:ext uri="{FF2B5EF4-FFF2-40B4-BE49-F238E27FC236}">
                <a16:creationId xmlns:a16="http://schemas.microsoft.com/office/drawing/2014/main" id="{22B8046A-2E0E-49E2-B3AB-280F2A68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1600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22" name="flow-4-accent">
            <a:extLst xmlns:a="http://schemas.openxmlformats.org/drawingml/2006/main">
              <a:ext uri="{FF2B5EF4-FFF2-40B4-BE49-F238E27FC236}">
                <a16:creationId xmlns:a16="http://schemas.microsoft.com/office/drawing/2014/main" id="{8628F9B4-2815-44F1-8286-5481E689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574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23" name="flow-4-label">
            <a:extLst xmlns:a="http://schemas.openxmlformats.org/drawingml/2006/main">
              <a:ext uri="{FF2B5EF4-FFF2-40B4-BE49-F238E27FC236}">
                <a16:creationId xmlns:a16="http://schemas.microsoft.com/office/drawing/2014/main" id="{9E243CA1-AC09-42D1-BB06-DD6D3ED9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289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Opencode</a:t>
            </a:r>
          </a:p>
        </p:txBody>
      </p:sp>
      <p:sp>
        <p:nvSpPr>
          <p:cNvPr id="24" name="flow-4-sub">
            <a:extLst xmlns:a="http://schemas.openxmlformats.org/drawingml/2006/main">
              <a:ext uri="{FF2B5EF4-FFF2-40B4-BE49-F238E27FC236}">
                <a16:creationId xmlns:a16="http://schemas.microsoft.com/office/drawing/2014/main" id="{CDC6093E-F979-4A5D-B9D8-C4385289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1295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Kontextanalyse und optional Vision</a:t>
            </a:r>
          </a:p>
        </p:txBody>
      </p:sp>
      <p:sp>
        <p:nvSpPr>
          <p:cNvPr id="25" name="flow-5-box">
            <a:extLst xmlns:a="http://schemas.openxmlformats.org/drawingml/2006/main">
              <a:ext uri="{FF2B5EF4-FFF2-40B4-BE49-F238E27FC236}">
                <a16:creationId xmlns:a16="http://schemas.microsoft.com/office/drawing/2014/main" id="{E1372123-8596-4072-AC7F-6D8C6987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1600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6F78"/>
            </a:solidFill>
            <a:prstDash val="solid"/>
          </a:ln>
        </p:spPr>
      </p:sp>
      <p:sp>
        <p:nvSpPr>
          <p:cNvPr id="26" name="flow-5-accent">
            <a:extLst xmlns:a="http://schemas.openxmlformats.org/drawingml/2006/main">
              <a:ext uri="{FF2B5EF4-FFF2-40B4-BE49-F238E27FC236}">
                <a16:creationId xmlns:a16="http://schemas.microsoft.com/office/drawing/2014/main" id="{BED1E8FD-C665-43B3-96C4-2669AD39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27" name="flow-5-label">
            <a:extLst xmlns:a="http://schemas.openxmlformats.org/drawingml/2006/main">
              <a:ext uri="{FF2B5EF4-FFF2-40B4-BE49-F238E27FC236}">
                <a16:creationId xmlns:a16="http://schemas.microsoft.com/office/drawing/2014/main" id="{FC4008A3-DC27-4030-BB49-84A047B5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289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Vorschlag</a:t>
            </a:r>
          </a:p>
        </p:txBody>
      </p:sp>
      <p:sp>
        <p:nvSpPr>
          <p:cNvPr id="28" name="flow-5-sub">
            <a:extLst xmlns:a="http://schemas.openxmlformats.org/drawingml/2006/main">
              <a:ext uri="{FF2B5EF4-FFF2-40B4-BE49-F238E27FC236}">
                <a16:creationId xmlns:a16="http://schemas.microsoft.com/office/drawing/2014/main" id="{2EA9AFF5-17C0-44C6-8020-F27733B3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952750"/>
            <a:ext cx="1295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Rückfragen oder strukturierte Ticket-Fassung</a:t>
            </a:r>
          </a:p>
        </p:txBody>
      </p:sp>
      <p:sp>
        <p:nvSpPr>
          <p:cNvPr id="29" name="flow-6-box">
            <a:extLst xmlns:a="http://schemas.openxmlformats.org/drawingml/2006/main">
              <a:ext uri="{FF2B5EF4-FFF2-40B4-BE49-F238E27FC236}">
                <a16:creationId xmlns:a16="http://schemas.microsoft.com/office/drawing/2014/main" id="{FEB51DFC-A128-4AA7-8ECA-EC68CF76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57450"/>
            <a:ext cx="16002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26A2E"/>
            </a:solidFill>
            <a:prstDash val="solid"/>
          </a:ln>
        </p:spPr>
      </p:sp>
      <p:sp>
        <p:nvSpPr>
          <p:cNvPr id="30" name="flow-6-accent">
            <a:extLst xmlns:a="http://schemas.openxmlformats.org/drawingml/2006/main">
              <a:ext uri="{FF2B5EF4-FFF2-40B4-BE49-F238E27FC236}">
                <a16:creationId xmlns:a16="http://schemas.microsoft.com/office/drawing/2014/main" id="{20EB816A-2AEA-45D3-9DBF-772ED208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457450"/>
            <a:ext cx="1600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2E"/>
          </a:solidFill>
          <a:ln xmlns:a="http://schemas.openxmlformats.org/drawingml/2006/main" w="0">
            <a:solidFill>
              <a:srgbClr val="C26A2E"/>
            </a:solidFill>
            <a:prstDash val="solid"/>
          </a:ln>
        </p:spPr>
      </p:sp>
      <p:sp>
        <p:nvSpPr>
          <p:cNvPr id="31" name="flow-6-label">
            <a:extLst xmlns:a="http://schemas.openxmlformats.org/drawingml/2006/main">
              <a:ext uri="{FF2B5EF4-FFF2-40B4-BE49-F238E27FC236}">
                <a16:creationId xmlns:a16="http://schemas.microsoft.com/office/drawing/2014/main" id="{0B1D1589-9525-4293-8E3A-634C03DB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628900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32" name="flow-6-sub">
            <a:extLst xmlns:a="http://schemas.openxmlformats.org/drawingml/2006/main">
              <a:ext uri="{FF2B5EF4-FFF2-40B4-BE49-F238E27FC236}">
                <a16:creationId xmlns:a16="http://schemas.microsoft.com/office/drawing/2014/main" id="{87A76FBC-EEDD-48BF-B3CB-CCBD6239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952750"/>
            <a:ext cx="1295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Issue aktualisieren und Diskussion bereinigen</a:t>
            </a:r>
          </a:p>
        </p:txBody>
      </p:sp>
      <p:sp>
        <p:nvSpPr>
          <p:cNvPr id="33" name="flow-footnote">
            <a:extLst xmlns:a="http://schemas.openxmlformats.org/drawingml/2006/main">
              <a:ext uri="{FF2B5EF4-FFF2-40B4-BE49-F238E27FC236}">
                <a16:creationId xmlns:a16="http://schemas.microsoft.com/office/drawing/2014/main" id="{EAE951B9-00F2-48FD-99C0-0998EB43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91050"/>
            <a:ext cx="9486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Lange Operationen laufen nach der schnellen Webhook-Antwort asynchron, damit GitLab nicht auf die KI-Analyse warten muss.</a:t>
            </a:r>
          </a:p>
        </p:txBody>
      </p:sp>
      <p:sp>
        <p:nvSpPr>
          <p:cNvPr id="34" name="footer-left-5">
            <a:extLst xmlns:a="http://schemas.openxmlformats.org/drawingml/2006/main">
              <a:ext uri="{FF2B5EF4-FFF2-40B4-BE49-F238E27FC236}">
                <a16:creationId xmlns:a16="http://schemas.microsoft.com/office/drawing/2014/main" id="{791D8F8A-96BA-4144-BC48-105EB58D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Projektvorstellung für den Zweitgutachter</a:t>
            </a:r>
          </a:p>
        </p:txBody>
      </p:sp>
      <p:sp>
        <p:nvSpPr>
          <p:cNvPr id="35" name="footer-right-5">
            <a:extLst xmlns:a="http://schemas.openxmlformats.org/drawingml/2006/main">
              <a:ext uri="{FF2B5EF4-FFF2-40B4-BE49-F238E27FC236}">
                <a16:creationId xmlns:a16="http://schemas.microsoft.com/office/drawing/2014/main" id="{32B74C9F-A2C5-46D6-9F6B-59EA1909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91674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AEBA0B7D-7229-4E63-B244-996AE872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78"/>
                </a:solidFill>
                <a:latin typeface="Aptos"/>
                <a:ea typeface="Aptos"/>
                <a:cs typeface="Aptos"/>
              </a:rPr>
              <a:t>GITLAB DEV-ASSIST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DE2FC48-941A-44D6-B6F0-5609AEAF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Geplanter Aufbau der Anwendung</a:t>
            </a:r>
          </a:p>
        </p:txBody>
      </p:sp>
      <p:sp>
        <p:nvSpPr>
          <p:cNvPr id="3" name="title-rule-6">
            <a:extLst xmlns:a="http://schemas.openxmlformats.org/drawingml/2006/main">
              <a:ext uri="{FF2B5EF4-FFF2-40B4-BE49-F238E27FC236}">
                <a16:creationId xmlns:a16="http://schemas.microsoft.com/office/drawing/2014/main" id="{4543F280-A2F6-42F1-940A-356B0CD8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1"/>
          </a:solidFill>
          <a:ln xmlns:a="http://schemas.openxmlformats.org/drawingml/2006/main" w="0">
            <a:solidFill>
              <a:srgbClr val="E6EBF1"/>
            </a:solidFill>
            <a:prstDash val="solid"/>
          </a:ln>
        </p:spPr>
      </p:sp>
      <p:sp>
        <p:nvSpPr>
          <p:cNvPr id="4" name="arch-rule-1">
            <a:extLst xmlns:a="http://schemas.openxmlformats.org/drawingml/2006/main">
              <a:ext uri="{FF2B5EF4-FFF2-40B4-BE49-F238E27FC236}">
                <a16:creationId xmlns:a16="http://schemas.microsoft.com/office/drawing/2014/main" id="{3F92B8F1-1337-4DFE-9B5C-49C87DAB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9621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5C89"/>
          </a:solidFill>
          <a:ln xmlns:a="http://schemas.openxmlformats.org/drawingml/2006/main" w="0">
            <a:solidFill>
              <a:srgbClr val="305C89"/>
            </a:solidFill>
            <a:prstDash val="solid"/>
          </a:ln>
        </p:spPr>
      </p:sp>
      <p:sp>
        <p:nvSpPr>
          <p:cNvPr id="5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A3827B29-6667-4EE0-86A0-C1580274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85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Eingang</a:t>
            </a:r>
          </a:p>
        </p:txBody>
      </p:sp>
      <p:sp>
        <p:nvSpPr>
          <p:cNvPr id="6" name="arch-text-1">
            <a:extLst xmlns:a="http://schemas.openxmlformats.org/drawingml/2006/main">
              <a:ext uri="{FF2B5EF4-FFF2-40B4-BE49-F238E27FC236}">
                <a16:creationId xmlns:a16="http://schemas.microsoft.com/office/drawing/2014/main" id="{5B16A1F8-9765-4C16-B674-F6BA6446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05000"/>
            <a:ext cx="611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Express-Server, /webhook/gitlab, optionale Tunnel-URL</a:t>
            </a:r>
          </a:p>
        </p:txBody>
      </p:sp>
      <p:sp>
        <p:nvSpPr>
          <p:cNvPr id="7" name="arch-rule-2">
            <a:extLst xmlns:a="http://schemas.openxmlformats.org/drawingml/2006/main">
              <a:ext uri="{FF2B5EF4-FFF2-40B4-BE49-F238E27FC236}">
                <a16:creationId xmlns:a16="http://schemas.microsoft.com/office/drawing/2014/main" id="{56AAFFA7-F618-4ADD-91C1-88B7D2FAE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8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E17FC402-B3AF-4326-ABA1-626A6A54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289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Orchestrierung</a:t>
            </a:r>
          </a:p>
        </p:txBody>
      </p:sp>
      <p:sp>
        <p:nvSpPr>
          <p:cNvPr id="9" name="arch-text-2">
            <a:extLst xmlns:a="http://schemas.openxmlformats.org/drawingml/2006/main">
              <a:ext uri="{FF2B5EF4-FFF2-40B4-BE49-F238E27FC236}">
                <a16:creationId xmlns:a16="http://schemas.microsoft.com/office/drawing/2014/main" id="{BCC22ECD-242B-4EC0-BE2A-D76A44D8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47950"/>
            <a:ext cx="611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webhook.ts: Signaturprüfung, Payload-Check, Event-Routing, direkte HTTP-Antwort</a:t>
            </a:r>
          </a:p>
        </p:txBody>
      </p:sp>
      <p:sp>
        <p:nvSpPr>
          <p:cNvPr id="10" name="arch-rule-3">
            <a:extLst xmlns:a="http://schemas.openxmlformats.org/drawingml/2006/main">
              <a:ext uri="{FF2B5EF4-FFF2-40B4-BE49-F238E27FC236}">
                <a16:creationId xmlns:a16="http://schemas.microsoft.com/office/drawing/2014/main" id="{E93C5A4A-9316-4367-BE62-E31C944A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2E"/>
          </a:solidFill>
          <a:ln xmlns:a="http://schemas.openxmlformats.org/drawingml/2006/main" w="0">
            <a:solidFill>
              <a:srgbClr val="C26A2E"/>
            </a:solidFill>
            <a:prstDash val="solid"/>
          </a:ln>
        </p:spPr>
      </p:sp>
      <p:sp>
        <p:nvSpPr>
          <p:cNvPr id="11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8D2739BE-9F03-4AEC-9E8B-81C65272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718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Fachlogik</a:t>
            </a:r>
          </a:p>
        </p:txBody>
      </p:sp>
      <p:sp>
        <p:nvSpPr>
          <p:cNvPr id="12" name="arch-text-3">
            <a:extLst xmlns:a="http://schemas.openxmlformats.org/drawingml/2006/main">
              <a:ext uri="{FF2B5EF4-FFF2-40B4-BE49-F238E27FC236}">
                <a16:creationId xmlns:a16="http://schemas.microsoft.com/office/drawing/2014/main" id="{D87F5867-17BE-40F5-9D0C-B4729666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90900"/>
            <a:ext cx="611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agent-analysis.ts, publish-command.ts, message-detection.ts</a:t>
            </a:r>
          </a:p>
        </p:txBody>
      </p:sp>
      <p:sp>
        <p:nvSpPr>
          <p:cNvPr id="13" name="arch-rule-4">
            <a:extLst xmlns:a="http://schemas.openxmlformats.org/drawingml/2006/main">
              <a:ext uri="{FF2B5EF4-FFF2-40B4-BE49-F238E27FC236}">
                <a16:creationId xmlns:a16="http://schemas.microsoft.com/office/drawing/2014/main" id="{81A8030B-1B3A-4B61-B978-986244CA0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9100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14" name="arch-title-4">
            <a:extLst xmlns:a="http://schemas.openxmlformats.org/drawingml/2006/main">
              <a:ext uri="{FF2B5EF4-FFF2-40B4-BE49-F238E27FC236}">
                <a16:creationId xmlns:a16="http://schemas.microsoft.com/office/drawing/2014/main" id="{D9AEAA39-314C-4E12-AE89-BF7A4E9C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14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Kontext &amp; Integrationen</a:t>
            </a:r>
          </a:p>
        </p:txBody>
      </p:sp>
      <p:sp>
        <p:nvSpPr>
          <p:cNvPr id="15" name="arch-text-4">
            <a:extLst xmlns:a="http://schemas.openxmlformats.org/drawingml/2006/main">
              <a:ext uri="{FF2B5EF4-FFF2-40B4-BE49-F238E27FC236}">
                <a16:creationId xmlns:a16="http://schemas.microsoft.com/office/drawing/2014/main" id="{7A9E679B-28F0-41CB-9275-A27232E3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33850"/>
            <a:ext cx="611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gitlab.ts, image-references.ts, vision.ts, Opencode-Client</a:t>
            </a:r>
          </a:p>
        </p:txBody>
      </p:sp>
      <p:sp>
        <p:nvSpPr>
          <p:cNvPr id="16" name="arch-rule-5">
            <a:extLst xmlns:a="http://schemas.openxmlformats.org/drawingml/2006/main">
              <a:ext uri="{FF2B5EF4-FFF2-40B4-BE49-F238E27FC236}">
                <a16:creationId xmlns:a16="http://schemas.microsoft.com/office/drawing/2014/main" id="{8DEB96B6-37A2-40CB-893A-AF041A36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33950"/>
            <a:ext cx="381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E3E"/>
          </a:solidFill>
          <a:ln xmlns:a="http://schemas.openxmlformats.org/drawingml/2006/main" w="0">
            <a:solidFill>
              <a:srgbClr val="A33E3E"/>
            </a:solidFill>
            <a:prstDash val="solid"/>
          </a:ln>
        </p:spPr>
      </p:sp>
      <p:sp>
        <p:nvSpPr>
          <p:cNvPr id="17" name="arch-title-5">
            <a:extLst xmlns:a="http://schemas.openxmlformats.org/drawingml/2006/main">
              <a:ext uri="{FF2B5EF4-FFF2-40B4-BE49-F238E27FC236}">
                <a16:creationId xmlns:a16="http://schemas.microsoft.com/office/drawing/2014/main" id="{907784AA-E834-489A-B193-2BD89AA6E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Sicherheit &amp; Wartbarkeit</a:t>
            </a:r>
          </a:p>
        </p:txBody>
      </p:sp>
      <p:sp>
        <p:nvSpPr>
          <p:cNvPr id="18" name="arch-text-5">
            <a:extLst xmlns:a="http://schemas.openxmlformats.org/drawingml/2006/main">
              <a:ext uri="{FF2B5EF4-FFF2-40B4-BE49-F238E27FC236}">
                <a16:creationId xmlns:a16="http://schemas.microsoft.com/office/drawing/2014/main" id="{29A4D746-D26B-475A-91B7-99D8A147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876800"/>
            <a:ext cx="611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types.ts, Runtime-Validierung, fokussierte Tests, Simulation Mode</a:t>
            </a:r>
          </a:p>
        </p:txBody>
      </p:sp>
      <p:sp>
        <p:nvSpPr>
          <p:cNvPr id="19" name="footer-left-6">
            <a:extLst xmlns:a="http://schemas.openxmlformats.org/drawingml/2006/main">
              <a:ext uri="{FF2B5EF4-FFF2-40B4-BE49-F238E27FC236}">
                <a16:creationId xmlns:a16="http://schemas.microsoft.com/office/drawing/2014/main" id="{65CE1DFF-0246-44B0-8BF7-9B312AEA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Projektvorstellung für den Zweitgutachter</a:t>
            </a:r>
          </a:p>
        </p:txBody>
      </p:sp>
      <p:sp>
        <p:nvSpPr>
          <p:cNvPr id="20" name="footer-right-6">
            <a:extLst xmlns:a="http://schemas.openxmlformats.org/drawingml/2006/main">
              <a:ext uri="{FF2B5EF4-FFF2-40B4-BE49-F238E27FC236}">
                <a16:creationId xmlns:a16="http://schemas.microsoft.com/office/drawing/2014/main" id="{CBA69F45-6130-4E1D-A993-0786CA7B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8935123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">
            <a:extLst xmlns:a="http://schemas.openxmlformats.org/drawingml/2006/main">
              <a:ext uri="{FF2B5EF4-FFF2-40B4-BE49-F238E27FC236}">
                <a16:creationId xmlns:a16="http://schemas.microsoft.com/office/drawing/2014/main" id="{A787FDC9-D518-42FA-82E0-F3DDA360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78"/>
                </a:solidFill>
                <a:latin typeface="Aptos"/>
                <a:ea typeface="Aptos"/>
                <a:cs typeface="Aptos"/>
              </a:rPr>
              <a:t>GITLAB DEV-ASSIST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4A247C4-9204-413E-A645-81195712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Vorgehensweise im Projekt</a:t>
            </a:r>
          </a:p>
        </p:txBody>
      </p:sp>
      <p:sp>
        <p:nvSpPr>
          <p:cNvPr id="3" name="title-rule-7">
            <a:extLst xmlns:a="http://schemas.openxmlformats.org/drawingml/2006/main">
              <a:ext uri="{FF2B5EF4-FFF2-40B4-BE49-F238E27FC236}">
                <a16:creationId xmlns:a16="http://schemas.microsoft.com/office/drawing/2014/main" id="{88D89FB8-1F90-4935-B7AC-875E36800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1"/>
          </a:solidFill>
          <a:ln xmlns:a="http://schemas.openxmlformats.org/drawingml/2006/main" w="0">
            <a:solidFill>
              <a:srgbClr val="E6EBF1"/>
            </a:solidFill>
            <a:prstDash val="solid"/>
          </a:ln>
        </p:spPr>
      </p:sp>
      <p:sp>
        <p:nvSpPr>
          <p:cNvPr id="4" name="step-box-1">
            <a:extLst xmlns:a="http://schemas.openxmlformats.org/drawingml/2006/main">
              <a:ext uri="{FF2B5EF4-FFF2-40B4-BE49-F238E27FC236}">
                <a16:creationId xmlns:a16="http://schemas.microsoft.com/office/drawing/2014/main" id="{6711F8CE-65CA-4D2C-BD44-5080D3D2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2098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1"/>
            </a:solidFill>
            <a:prstDash val="solid"/>
          </a:ln>
        </p:spPr>
      </p:sp>
      <p:sp>
        <p:nvSpPr>
          <p:cNvPr id="5" name="step-num-bg-1">
            <a:extLst xmlns:a="http://schemas.openxmlformats.org/drawingml/2006/main">
              <a:ext uri="{FF2B5EF4-FFF2-40B4-BE49-F238E27FC236}">
                <a16:creationId xmlns:a16="http://schemas.microsoft.com/office/drawing/2014/main" id="{1981EB18-6D7A-4D5B-B65D-AA2DFFC5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5C89"/>
          </a:solidFill>
          <a:ln xmlns:a="http://schemas.openxmlformats.org/drawingml/2006/main" w="0">
            <a:solidFill>
              <a:srgbClr val="305C89"/>
            </a:solidFill>
            <a:prstDash val="solid"/>
          </a:ln>
        </p:spPr>
      </p:sp>
      <p:sp>
        <p:nvSpPr>
          <p:cNvPr id="6" name="step-num-1">
            <a:extLst xmlns:a="http://schemas.openxmlformats.org/drawingml/2006/main">
              <a:ext uri="{FF2B5EF4-FFF2-40B4-BE49-F238E27FC236}">
                <a16:creationId xmlns:a16="http://schemas.microsoft.com/office/drawing/2014/main" id="{BF6093C0-2607-449D-87BB-0E06DA22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289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9BF5C883-F446-4B9A-98D7-C965E3B1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385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Strukturieren</a:t>
            </a:r>
          </a:p>
        </p:txBody>
      </p:sp>
      <p:sp>
        <p:nvSpPr>
          <p:cNvPr id="8" name="step-copy-1">
            <a:extLst xmlns:a="http://schemas.openxmlformats.org/drawingml/2006/main">
              <a:ext uri="{FF2B5EF4-FFF2-40B4-BE49-F238E27FC236}">
                <a16:creationId xmlns:a16="http://schemas.microsoft.com/office/drawing/2014/main" id="{AACF7902-38F4-4781-985C-AE1EE388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9570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Webhook in klare Module aufteilen, ohne Verhalten absichtlich zu ändern.</a:t>
            </a:r>
          </a:p>
        </p:txBody>
      </p:sp>
      <p:sp>
        <p:nvSpPr>
          <p:cNvPr id="9" name="step-box-2">
            <a:extLst xmlns:a="http://schemas.openxmlformats.org/drawingml/2006/main">
              <a:ext uri="{FF2B5EF4-FFF2-40B4-BE49-F238E27FC236}">
                <a16:creationId xmlns:a16="http://schemas.microsoft.com/office/drawing/2014/main" id="{49F78FE4-2A9A-4893-9110-A347F1B2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24100"/>
            <a:ext cx="22098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1"/>
            </a:solidFill>
            <a:prstDash val="solid"/>
          </a:ln>
        </p:spPr>
      </p:sp>
      <p:sp>
        <p:nvSpPr>
          <p:cNvPr id="10" name="step-num-bg-2">
            <a:extLst xmlns:a="http://schemas.openxmlformats.org/drawingml/2006/main">
              <a:ext uri="{FF2B5EF4-FFF2-40B4-BE49-F238E27FC236}">
                <a16:creationId xmlns:a16="http://schemas.microsoft.com/office/drawing/2014/main" id="{6E3421BB-555E-45D8-A0BD-0CB56906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11" name="step-num-2">
            <a:extLst xmlns:a="http://schemas.openxmlformats.org/drawingml/2006/main">
              <a:ext uri="{FF2B5EF4-FFF2-40B4-BE49-F238E27FC236}">
                <a16:creationId xmlns:a16="http://schemas.microsoft.com/office/drawing/2014/main" id="{748A683C-C8AD-4A3C-B28E-BD2E1FC98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6289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7AF946E9-8C53-4A32-8A73-2C04E8AE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2385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Typisieren</a:t>
            </a:r>
          </a:p>
        </p:txBody>
      </p:sp>
      <p:sp>
        <p:nvSpPr>
          <p:cNvPr id="13" name="step-copy-2">
            <a:extLst xmlns:a="http://schemas.openxmlformats.org/drawingml/2006/main">
              <a:ext uri="{FF2B5EF4-FFF2-40B4-BE49-F238E27FC236}">
                <a16:creationId xmlns:a16="http://schemas.microsoft.com/office/drawing/2014/main" id="{EF9FBEF1-40EE-43A6-9FBE-4566430C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69570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Gemeinsame GitLab-, Webhook-, Agent- und Bildtypen einführen.</a:t>
            </a:r>
          </a:p>
        </p:txBody>
      </p:sp>
      <p:sp>
        <p:nvSpPr>
          <p:cNvPr id="14" name="step-box-3">
            <a:extLst xmlns:a="http://schemas.openxmlformats.org/drawingml/2006/main">
              <a:ext uri="{FF2B5EF4-FFF2-40B4-BE49-F238E27FC236}">
                <a16:creationId xmlns:a16="http://schemas.microsoft.com/office/drawing/2014/main" id="{4548D58E-AD90-4436-830F-D0FD4D65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24100"/>
            <a:ext cx="22098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1"/>
            </a:solidFill>
            <a:prstDash val="solid"/>
          </a:ln>
        </p:spPr>
      </p:sp>
      <p:sp>
        <p:nvSpPr>
          <p:cNvPr id="15" name="step-num-bg-3">
            <a:extLst xmlns:a="http://schemas.openxmlformats.org/drawingml/2006/main">
              <a:ext uri="{FF2B5EF4-FFF2-40B4-BE49-F238E27FC236}">
                <a16:creationId xmlns:a16="http://schemas.microsoft.com/office/drawing/2014/main" id="{55047E4B-90EF-4C59-A837-C63E73F0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2E"/>
          </a:solidFill>
          <a:ln xmlns:a="http://schemas.openxmlformats.org/drawingml/2006/main" w="0">
            <a:solidFill>
              <a:srgbClr val="C26A2E"/>
            </a:solidFill>
            <a:prstDash val="solid"/>
          </a:ln>
        </p:spPr>
      </p:sp>
      <p:sp>
        <p:nvSpPr>
          <p:cNvPr id="16" name="step-num-3">
            <a:extLst xmlns:a="http://schemas.openxmlformats.org/drawingml/2006/main">
              <a:ext uri="{FF2B5EF4-FFF2-40B4-BE49-F238E27FC236}">
                <a16:creationId xmlns:a16="http://schemas.microsoft.com/office/drawing/2014/main" id="{2948D8F5-5089-4034-B2A1-0F45054F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289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8A41E276-E261-4B53-8456-CE6CD7EE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Validieren</a:t>
            </a:r>
          </a:p>
        </p:txBody>
      </p:sp>
      <p:sp>
        <p:nvSpPr>
          <p:cNvPr id="18" name="step-copy-3">
            <a:extLst xmlns:a="http://schemas.openxmlformats.org/drawingml/2006/main">
              <a:ext uri="{FF2B5EF4-FFF2-40B4-BE49-F238E27FC236}">
                <a16:creationId xmlns:a16="http://schemas.microsoft.com/office/drawing/2014/main" id="{1567119E-21CF-445F-805E-C5A5200E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Agent-JSON zur Laufzeit prüfen und Edge Cases des Webhooks absichern.</a:t>
            </a:r>
          </a:p>
        </p:txBody>
      </p:sp>
      <p:sp>
        <p:nvSpPr>
          <p:cNvPr id="19" name="step-box-4">
            <a:extLst xmlns:a="http://schemas.openxmlformats.org/drawingml/2006/main">
              <a:ext uri="{FF2B5EF4-FFF2-40B4-BE49-F238E27FC236}">
                <a16:creationId xmlns:a16="http://schemas.microsoft.com/office/drawing/2014/main" id="{00912BCE-610B-4445-B005-60F5D23A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24100"/>
            <a:ext cx="220980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EBF1"/>
            </a:solidFill>
            <a:prstDash val="solid"/>
          </a:ln>
        </p:spPr>
      </p:sp>
      <p:sp>
        <p:nvSpPr>
          <p:cNvPr id="20" name="step-num-bg-4">
            <a:extLst xmlns:a="http://schemas.openxmlformats.org/drawingml/2006/main">
              <a:ext uri="{FF2B5EF4-FFF2-40B4-BE49-F238E27FC236}">
                <a16:creationId xmlns:a16="http://schemas.microsoft.com/office/drawing/2014/main" id="{42BAFA18-BD91-41EE-945F-D31C675A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527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21" name="step-num-4">
            <a:extLst xmlns:a="http://schemas.openxmlformats.org/drawingml/2006/main">
              <a:ext uri="{FF2B5EF4-FFF2-40B4-BE49-F238E27FC236}">
                <a16:creationId xmlns:a16="http://schemas.microsoft.com/office/drawing/2014/main" id="{D55FE903-00E1-41CA-8E42-7F60848C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289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ECD44DD8-4FD4-4B43-B7AB-D5025342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38500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Nachweisen</a:t>
            </a:r>
          </a:p>
        </p:txBody>
      </p:sp>
      <p:sp>
        <p:nvSpPr>
          <p:cNvPr id="23" name="step-copy-4">
            <a:extLst xmlns:a="http://schemas.openxmlformats.org/drawingml/2006/main">
              <a:ext uri="{FF2B5EF4-FFF2-40B4-BE49-F238E27FC236}">
                <a16:creationId xmlns:a16="http://schemas.microsoft.com/office/drawing/2014/main" id="{3964C0EA-FAFE-465C-B83E-707FFF16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9570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Automatisierte Tests, Build, Simulation und manuelle Demo-Szenarien ausführen.</a:t>
            </a:r>
          </a:p>
        </p:txBody>
      </p:sp>
      <p:sp>
        <p:nvSpPr>
          <p:cNvPr id="24" name="approach-note">
            <a:extLst xmlns:a="http://schemas.openxmlformats.org/drawingml/2006/main">
              <a:ext uri="{FF2B5EF4-FFF2-40B4-BE49-F238E27FC236}">
                <a16:creationId xmlns:a16="http://schemas.microsoft.com/office/drawing/2014/main" id="{CC0C62D5-5119-4AAB-B21F-3D022C2C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086350"/>
            <a:ext cx="9372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F6F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F6F78"/>
                </a:solidFill>
                <a:latin typeface="Aptos"/>
                <a:ea typeface="Aptos"/>
                <a:cs typeface="Aptos"/>
              </a:rPr>
              <a:t>Arbeitsprinzip: kleine, nachvollziehbare Schritte; Verhalten zuerst erhalten, dann gezielt härter machen.</a:t>
            </a:r>
          </a:p>
        </p:txBody>
      </p:sp>
      <p:sp>
        <p:nvSpPr>
          <p:cNvPr id="25" name="footer-left-7">
            <a:extLst xmlns:a="http://schemas.openxmlformats.org/drawingml/2006/main">
              <a:ext uri="{FF2B5EF4-FFF2-40B4-BE49-F238E27FC236}">
                <a16:creationId xmlns:a16="http://schemas.microsoft.com/office/drawing/2014/main" id="{8EA8FDA5-3472-48DC-8782-47E7DD26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Projektvorstellung für den Zweitgutachter</a:t>
            </a:r>
          </a:p>
        </p:txBody>
      </p:sp>
      <p:sp>
        <p:nvSpPr>
          <p:cNvPr id="26" name="footer-right-7">
            <a:extLst xmlns:a="http://schemas.openxmlformats.org/drawingml/2006/main">
              <a:ext uri="{FF2B5EF4-FFF2-40B4-BE49-F238E27FC236}">
                <a16:creationId xmlns:a16="http://schemas.microsoft.com/office/drawing/2014/main" id="{3F2F72B1-AB3D-4E22-80CF-804C5A262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59411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">
            <a:extLst xmlns:a="http://schemas.openxmlformats.org/drawingml/2006/main">
              <a:ext uri="{FF2B5EF4-FFF2-40B4-BE49-F238E27FC236}">
                <a16:creationId xmlns:a16="http://schemas.microsoft.com/office/drawing/2014/main" id="{526128D0-C7A9-424A-AE64-4E556561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78"/>
                </a:solidFill>
                <a:latin typeface="Aptos"/>
                <a:ea typeface="Aptos"/>
                <a:cs typeface="Aptos"/>
              </a:rPr>
              <a:t>GITLAB DEV-ASSIST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36A34CC7-05FF-4C07-86BB-8B1C7067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Wie ich das Projekt testen möchte</a:t>
            </a:r>
          </a:p>
        </p:txBody>
      </p:sp>
      <p:sp>
        <p:nvSpPr>
          <p:cNvPr id="3" name="title-rule-8">
            <a:extLst xmlns:a="http://schemas.openxmlformats.org/drawingml/2006/main">
              <a:ext uri="{FF2B5EF4-FFF2-40B4-BE49-F238E27FC236}">
                <a16:creationId xmlns:a16="http://schemas.microsoft.com/office/drawing/2014/main" id="{218AF88E-2565-444B-8336-4E53E123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1"/>
          </a:solidFill>
          <a:ln xmlns:a="http://schemas.openxmlformats.org/drawingml/2006/main" w="0">
            <a:solidFill>
              <a:srgbClr val="E6EBF1"/>
            </a:solidFill>
            <a:prstDash val="solid"/>
          </a:ln>
        </p:spPr>
      </p:sp>
      <p:sp>
        <p:nvSpPr>
          <p:cNvPr id="4" name="test-auto-label-rule">
            <a:extLst xmlns:a="http://schemas.openxmlformats.org/drawingml/2006/main">
              <a:ext uri="{FF2B5EF4-FFF2-40B4-BE49-F238E27FC236}">
                <a16:creationId xmlns:a16="http://schemas.microsoft.com/office/drawing/2014/main" id="{F709105F-5D9F-4403-A508-B67A5924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5" name="test-auto-label">
            <a:extLst xmlns:a="http://schemas.openxmlformats.org/drawingml/2006/main">
              <a:ext uri="{FF2B5EF4-FFF2-40B4-BE49-F238E27FC236}">
                <a16:creationId xmlns:a16="http://schemas.microsoft.com/office/drawing/2014/main" id="{1044CEE6-4BAF-44E8-89D2-8A772F55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431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Automatisiert</a:t>
            </a:r>
          </a:p>
        </p:txBody>
      </p:sp>
      <p:sp>
        <p:nvSpPr>
          <p:cNvPr id="6" name="test-auto-dot-1">
            <a:extLst xmlns:a="http://schemas.openxmlformats.org/drawingml/2006/main">
              <a:ext uri="{FF2B5EF4-FFF2-40B4-BE49-F238E27FC236}">
                <a16:creationId xmlns:a16="http://schemas.microsoft.com/office/drawing/2014/main" id="{25CA0A7D-938E-4053-8734-F327F95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7" name="test-auto-text-1">
            <a:extLst xmlns:a="http://schemas.openxmlformats.org/drawingml/2006/main">
              <a:ext uri="{FF2B5EF4-FFF2-40B4-BE49-F238E27FC236}">
                <a16:creationId xmlns:a16="http://schemas.microsoft.com/office/drawing/2014/main" id="{F5A4E41A-302E-4F7B-ABE9-C21544EC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9555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Unit-Tests für Mention-/Publish-Erkennung, Signaturprüfung, Agent-Parsing und Bildreferenzen.</a:t>
            </a:r>
          </a:p>
        </p:txBody>
      </p:sp>
      <p:sp>
        <p:nvSpPr>
          <p:cNvPr id="8" name="test-auto-dot-2">
            <a:extLst xmlns:a="http://schemas.openxmlformats.org/drawingml/2006/main">
              <a:ext uri="{FF2B5EF4-FFF2-40B4-BE49-F238E27FC236}">
                <a16:creationId xmlns:a16="http://schemas.microsoft.com/office/drawing/2014/main" id="{70FCCFA2-9530-4575-B8BE-F799B474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28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9" name="test-auto-text-2">
            <a:extLst xmlns:a="http://schemas.openxmlformats.org/drawingml/2006/main">
              <a:ext uri="{FF2B5EF4-FFF2-40B4-BE49-F238E27FC236}">
                <a16:creationId xmlns:a16="http://schemas.microsoft.com/office/drawing/2014/main" id="{97D42042-EDC3-4C6C-B2E9-B5708AFA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14325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Webhook-Tests für Bad Request, Bot-Self-Ignore, unbekannte Events und direkte Analyse-Antwort.</a:t>
            </a:r>
          </a:p>
        </p:txBody>
      </p:sp>
      <p:sp>
        <p:nvSpPr>
          <p:cNvPr id="10" name="test-auto-dot-3">
            <a:extLst xmlns:a="http://schemas.openxmlformats.org/drawingml/2006/main">
              <a:ext uri="{FF2B5EF4-FFF2-40B4-BE49-F238E27FC236}">
                <a16:creationId xmlns:a16="http://schemas.microsoft.com/office/drawing/2014/main" id="{074FF47D-8B80-4917-8481-D1BE6404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11" name="test-auto-text-3">
            <a:extLst xmlns:a="http://schemas.openxmlformats.org/drawingml/2006/main">
              <a:ext uri="{FF2B5EF4-FFF2-40B4-BE49-F238E27FC236}">
                <a16:creationId xmlns:a16="http://schemas.microsoft.com/office/drawing/2014/main" id="{BBD81222-59DD-44DA-9C3E-D63DC525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90950"/>
            <a:ext cx="4629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Simulationstest: Publish-Flow aktualisiert das Issue und erhält Screenshots an passender Stelle.</a:t>
            </a:r>
          </a:p>
        </p:txBody>
      </p:sp>
      <p:sp>
        <p:nvSpPr>
          <p:cNvPr id="12" name="test-auto-dot-4">
            <a:extLst xmlns:a="http://schemas.openxmlformats.org/drawingml/2006/main">
              <a:ext uri="{FF2B5EF4-FFF2-40B4-BE49-F238E27FC236}">
                <a16:creationId xmlns:a16="http://schemas.microsoft.com/office/drawing/2014/main" id="{F139EBD0-7FC5-42D0-B7B5-B747C467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243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F78"/>
          </a:solidFill>
          <a:ln xmlns:a="http://schemas.openxmlformats.org/drawingml/2006/main" w="0">
            <a:solidFill>
              <a:srgbClr val="1F6F78"/>
            </a:solidFill>
            <a:prstDash val="solid"/>
          </a:ln>
        </p:spPr>
      </p:sp>
      <p:sp>
        <p:nvSpPr>
          <p:cNvPr id="13" name="test-auto-text-4">
            <a:extLst xmlns:a="http://schemas.openxmlformats.org/drawingml/2006/main">
              <a:ext uri="{FF2B5EF4-FFF2-40B4-BE49-F238E27FC236}">
                <a16:creationId xmlns:a16="http://schemas.microsoft.com/office/drawing/2014/main" id="{48249223-3841-4DFB-8280-5B4EE450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38650"/>
            <a:ext cx="462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Build-Check: npm test und npm run build als Pflichtnachweis.</a:t>
            </a:r>
          </a:p>
        </p:txBody>
      </p:sp>
      <p:sp>
        <p:nvSpPr>
          <p:cNvPr id="14" name="test-manual-label-rule">
            <a:extLst xmlns:a="http://schemas.openxmlformats.org/drawingml/2006/main">
              <a:ext uri="{FF2B5EF4-FFF2-40B4-BE49-F238E27FC236}">
                <a16:creationId xmlns:a16="http://schemas.microsoft.com/office/drawing/2014/main" id="{746AB468-1363-43DD-8C6D-ACB13967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193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26A2E"/>
          </a:solidFill>
          <a:ln xmlns:a="http://schemas.openxmlformats.org/drawingml/2006/main" w="0">
            <a:solidFill>
              <a:srgbClr val="C26A2E"/>
            </a:solidFill>
            <a:prstDash val="solid"/>
          </a:ln>
        </p:spPr>
      </p:sp>
      <p:sp>
        <p:nvSpPr>
          <p:cNvPr id="15" name="test-manual-label">
            <a:extLst xmlns:a="http://schemas.openxmlformats.org/drawingml/2006/main">
              <a:ext uri="{FF2B5EF4-FFF2-40B4-BE49-F238E27FC236}">
                <a16:creationId xmlns:a16="http://schemas.microsoft.com/office/drawing/2014/main" id="{20F72300-A4DF-4492-AEC9-D0B4301E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431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Manuell / fachlich</a:t>
            </a:r>
          </a:p>
        </p:txBody>
      </p:sp>
      <p:sp>
        <p:nvSpPr>
          <p:cNvPr id="16" name="test-manual-dot-1">
            <a:extLst xmlns:a="http://schemas.openxmlformats.org/drawingml/2006/main">
              <a:ext uri="{FF2B5EF4-FFF2-40B4-BE49-F238E27FC236}">
                <a16:creationId xmlns:a16="http://schemas.microsoft.com/office/drawing/2014/main" id="{F4E6ECD4-AE34-48CC-8FBB-29E1136C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2E"/>
          </a:solidFill>
          <a:ln xmlns:a="http://schemas.openxmlformats.org/drawingml/2006/main" w="0">
            <a:solidFill>
              <a:srgbClr val="C26A2E"/>
            </a:solidFill>
            <a:prstDash val="solid"/>
          </a:ln>
        </p:spPr>
      </p:sp>
      <p:sp>
        <p:nvSpPr>
          <p:cNvPr id="17" name="test-manual-text-1">
            <a:extLst xmlns:a="http://schemas.openxmlformats.org/drawingml/2006/main">
              <a:ext uri="{FF2B5EF4-FFF2-40B4-BE49-F238E27FC236}">
                <a16:creationId xmlns:a16="http://schemas.microsoft.com/office/drawing/2014/main" id="{B60CD360-7B4C-4165-B255-AA7956C3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95550"/>
            <a:ext cx="440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Demo mit realistischem Issue: zu wenig Kontext → Rückfragen.</a:t>
            </a:r>
          </a:p>
        </p:txBody>
      </p:sp>
      <p:sp>
        <p:nvSpPr>
          <p:cNvPr id="18" name="test-manual-dot-2">
            <a:extLst xmlns:a="http://schemas.openxmlformats.org/drawingml/2006/main">
              <a:ext uri="{FF2B5EF4-FFF2-40B4-BE49-F238E27FC236}">
                <a16:creationId xmlns:a16="http://schemas.microsoft.com/office/drawing/2014/main" id="{7071A831-151D-45F9-8894-48A8EF44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52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2E"/>
          </a:solidFill>
          <a:ln xmlns:a="http://schemas.openxmlformats.org/drawingml/2006/main" w="0">
            <a:solidFill>
              <a:srgbClr val="C26A2E"/>
            </a:solidFill>
            <a:prstDash val="solid"/>
          </a:ln>
        </p:spPr>
      </p:sp>
      <p:sp>
        <p:nvSpPr>
          <p:cNvPr id="19" name="test-manual-text-2">
            <a:extLst xmlns:a="http://schemas.openxmlformats.org/drawingml/2006/main">
              <a:ext uri="{FF2B5EF4-FFF2-40B4-BE49-F238E27FC236}">
                <a16:creationId xmlns:a16="http://schemas.microsoft.com/office/drawing/2014/main" id="{9B7608D6-8B31-4465-A55E-D3E69849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67050"/>
            <a:ext cx="440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Demo mit vollständigem Issue: strukturierter Vorschlag.</a:t>
            </a:r>
          </a:p>
        </p:txBody>
      </p:sp>
      <p:sp>
        <p:nvSpPr>
          <p:cNvPr id="20" name="test-manual-dot-3">
            <a:extLst xmlns:a="http://schemas.openxmlformats.org/drawingml/2006/main">
              <a:ext uri="{FF2B5EF4-FFF2-40B4-BE49-F238E27FC236}">
                <a16:creationId xmlns:a16="http://schemas.microsoft.com/office/drawing/2014/main" id="{E402CAD2-47E8-40D3-B156-8293A5FE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86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2E"/>
          </a:solidFill>
          <a:ln xmlns:a="http://schemas.openxmlformats.org/drawingml/2006/main" w="0">
            <a:solidFill>
              <a:srgbClr val="C26A2E"/>
            </a:solidFill>
            <a:prstDash val="solid"/>
          </a:ln>
        </p:spPr>
      </p:sp>
      <p:sp>
        <p:nvSpPr>
          <p:cNvPr id="21" name="test-manual-text-3">
            <a:extLst xmlns:a="http://schemas.openxmlformats.org/drawingml/2006/main">
              <a:ext uri="{FF2B5EF4-FFF2-40B4-BE49-F238E27FC236}">
                <a16:creationId xmlns:a16="http://schemas.microsoft.com/office/drawing/2014/main" id="{AD58A565-0915-473D-BAAC-4395E6B4D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00450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Publish-Freigabe: Ticket wird aktualisiert, Hilfskommentare werden bereinigt.</a:t>
            </a:r>
          </a:p>
        </p:txBody>
      </p:sp>
      <p:sp>
        <p:nvSpPr>
          <p:cNvPr id="22" name="test-manual-dot-4">
            <a:extLst xmlns:a="http://schemas.openxmlformats.org/drawingml/2006/main">
              <a:ext uri="{FF2B5EF4-FFF2-40B4-BE49-F238E27FC236}">
                <a16:creationId xmlns:a16="http://schemas.microsoft.com/office/drawing/2014/main" id="{F94ADBF1-62A5-4FD2-ABAC-FEDBEF8B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6A2E"/>
          </a:solidFill>
          <a:ln xmlns:a="http://schemas.openxmlformats.org/drawingml/2006/main" w="0">
            <a:solidFill>
              <a:srgbClr val="C26A2E"/>
            </a:solidFill>
            <a:prstDash val="solid"/>
          </a:ln>
        </p:spPr>
      </p:sp>
      <p:sp>
        <p:nvSpPr>
          <p:cNvPr id="23" name="test-manual-text-4">
            <a:extLst xmlns:a="http://schemas.openxmlformats.org/drawingml/2006/main">
              <a:ext uri="{FF2B5EF4-FFF2-40B4-BE49-F238E27FC236}">
                <a16:creationId xmlns:a16="http://schemas.microsoft.com/office/drawing/2014/main" id="{2A389BD4-B68C-4002-A470-857C78A1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48150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Negativtest: keine Reaktion auf irrelevante Events oder eigene Bot-Kommentare.</a:t>
            </a:r>
          </a:p>
        </p:txBody>
      </p:sp>
      <p:sp>
        <p:nvSpPr>
          <p:cNvPr id="24" name="footer-left-8">
            <a:extLst xmlns:a="http://schemas.openxmlformats.org/drawingml/2006/main">
              <a:ext uri="{FF2B5EF4-FFF2-40B4-BE49-F238E27FC236}">
                <a16:creationId xmlns:a16="http://schemas.microsoft.com/office/drawing/2014/main" id="{579F2F70-C4A9-483B-8D06-E1E888CB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Projektvorstellung für den Zweitgutachter</a:t>
            </a:r>
          </a:p>
        </p:txBody>
      </p:sp>
      <p:sp>
        <p:nvSpPr>
          <p:cNvPr id="25" name="footer-right-8">
            <a:extLst xmlns:a="http://schemas.openxmlformats.org/drawingml/2006/main">
              <a:ext uri="{FF2B5EF4-FFF2-40B4-BE49-F238E27FC236}">
                <a16:creationId xmlns:a16="http://schemas.microsoft.com/office/drawing/2014/main" id="{4FC2BFA5-38B3-466F-9EF9-182CC24B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751728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9">
            <a:extLst xmlns:a="http://schemas.openxmlformats.org/drawingml/2006/main">
              <a:ext uri="{FF2B5EF4-FFF2-40B4-BE49-F238E27FC236}">
                <a16:creationId xmlns:a16="http://schemas.microsoft.com/office/drawing/2014/main" id="{BF8BAE05-21D4-451F-A7B3-61E148BB2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F7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78"/>
                </a:solidFill>
                <a:latin typeface="Aptos"/>
                <a:ea typeface="Aptos"/>
                <a:cs typeface="Aptos"/>
              </a:rPr>
              <a:t>GITLAB DEV-ASSIST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624C5662-6DF3-41B8-94CE-6A0AB0A3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0010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Bewertungskriterien und Risiken</a:t>
            </a:r>
          </a:p>
        </p:txBody>
      </p:sp>
      <p:sp>
        <p:nvSpPr>
          <p:cNvPr id="3" name="title-rule-9">
            <a:extLst xmlns:a="http://schemas.openxmlformats.org/drawingml/2006/main">
              <a:ext uri="{FF2B5EF4-FFF2-40B4-BE49-F238E27FC236}">
                <a16:creationId xmlns:a16="http://schemas.microsoft.com/office/drawing/2014/main" id="{AB2349A6-1EC8-4BBD-BF35-3FC74A0A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F1"/>
          </a:solidFill>
          <a:ln xmlns:a="http://schemas.openxmlformats.org/drawingml/2006/main" w="0">
            <a:solidFill>
              <a:srgbClr val="E6EBF1"/>
            </a:solidFill>
            <a:prstDash val="solid"/>
          </a:ln>
        </p:spPr>
      </p:sp>
      <p:sp>
        <p:nvSpPr>
          <p:cNvPr id="4" name="criteria-label-rule">
            <a:extLst xmlns:a="http://schemas.openxmlformats.org/drawingml/2006/main">
              <a:ext uri="{FF2B5EF4-FFF2-40B4-BE49-F238E27FC236}">
                <a16:creationId xmlns:a16="http://schemas.microsoft.com/office/drawing/2014/main" id="{74C87FFC-4EA1-40F2-BFF3-17A9AAA99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812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5" name="criteria-label">
            <a:extLst xmlns:a="http://schemas.openxmlformats.org/drawingml/2006/main">
              <a:ext uri="{FF2B5EF4-FFF2-40B4-BE49-F238E27FC236}">
                <a16:creationId xmlns:a16="http://schemas.microsoft.com/office/drawing/2014/main" id="{EA7BF1FD-18F7-4F1A-AA8B-D8DCD991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05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Woran Erfolg messbar wird</a:t>
            </a:r>
          </a:p>
        </p:txBody>
      </p:sp>
      <p:sp>
        <p:nvSpPr>
          <p:cNvPr id="6" name="criteria-dot-1">
            <a:extLst xmlns:a="http://schemas.openxmlformats.org/drawingml/2006/main">
              <a:ext uri="{FF2B5EF4-FFF2-40B4-BE49-F238E27FC236}">
                <a16:creationId xmlns:a16="http://schemas.microsoft.com/office/drawing/2014/main" id="{6E232815-B2D1-4F18-9B73-31105DF2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7" name="criteria-text-1">
            <a:extLst xmlns:a="http://schemas.openxmlformats.org/drawingml/2006/main">
              <a:ext uri="{FF2B5EF4-FFF2-40B4-BE49-F238E27FC236}">
                <a16:creationId xmlns:a16="http://schemas.microsoft.com/office/drawing/2014/main" id="{5C2AF26C-39DB-4FBD-8709-8C024334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Relevante GitLab-Events werden korrekt erkannt und irrelevante ignoriert.</a:t>
            </a:r>
          </a:p>
        </p:txBody>
      </p:sp>
      <p:sp>
        <p:nvSpPr>
          <p:cNvPr id="8" name="criteria-dot-2">
            <a:extLst xmlns:a="http://schemas.openxmlformats.org/drawingml/2006/main">
              <a:ext uri="{FF2B5EF4-FFF2-40B4-BE49-F238E27FC236}">
                <a16:creationId xmlns:a16="http://schemas.microsoft.com/office/drawing/2014/main" id="{55844CDB-6466-4C0A-9010-73D5F1F19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9" name="criteria-text-2">
            <a:extLst xmlns:a="http://schemas.openxmlformats.org/drawingml/2006/main">
              <a:ext uri="{FF2B5EF4-FFF2-40B4-BE49-F238E27FC236}">
                <a16:creationId xmlns:a16="http://schemas.microsoft.com/office/drawing/2014/main" id="{8A661220-DB8E-4D78-AEEF-EA7E9DBE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28950"/>
            <a:ext cx="461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Agent-Ausgaben werden validiert, bevor sie in den Publish-Flow gelangen.</a:t>
            </a:r>
          </a:p>
        </p:txBody>
      </p:sp>
      <p:sp>
        <p:nvSpPr>
          <p:cNvPr id="10" name="criteria-dot-3">
            <a:extLst xmlns:a="http://schemas.openxmlformats.org/drawingml/2006/main">
              <a:ext uri="{FF2B5EF4-FFF2-40B4-BE49-F238E27FC236}">
                <a16:creationId xmlns:a16="http://schemas.microsoft.com/office/drawing/2014/main" id="{31021407-6E86-4243-8A78-14308AFE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11" name="criteria-text-3">
            <a:extLst xmlns:a="http://schemas.openxmlformats.org/drawingml/2006/main">
              <a:ext uri="{FF2B5EF4-FFF2-40B4-BE49-F238E27FC236}">
                <a16:creationId xmlns:a16="http://schemas.microsoft.com/office/drawing/2014/main" id="{B021331A-4860-49FE-B71C-7B175007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81400"/>
            <a:ext cx="461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Screenshots/Bildreferenzen bleiben in Vorschlägen und nach Publish erhalten.</a:t>
            </a:r>
          </a:p>
        </p:txBody>
      </p:sp>
      <p:sp>
        <p:nvSpPr>
          <p:cNvPr id="12" name="criteria-dot-4">
            <a:extLst xmlns:a="http://schemas.openxmlformats.org/drawingml/2006/main">
              <a:ext uri="{FF2B5EF4-FFF2-40B4-BE49-F238E27FC236}">
                <a16:creationId xmlns:a16="http://schemas.microsoft.com/office/drawing/2014/main" id="{F9FA3BEB-38A9-48B1-9E61-85003958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2E7D5B"/>
            </a:solidFill>
            <a:prstDash val="solid"/>
          </a:ln>
        </p:spPr>
      </p:sp>
      <p:sp>
        <p:nvSpPr>
          <p:cNvPr id="13" name="criteria-text-4">
            <a:extLst xmlns:a="http://schemas.openxmlformats.org/drawingml/2006/main">
              <a:ext uri="{FF2B5EF4-FFF2-40B4-BE49-F238E27FC236}">
                <a16:creationId xmlns:a16="http://schemas.microsoft.com/office/drawing/2014/main" id="{7F93A194-D3CF-4C18-804C-DE094F24A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46101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Tests laufen ohne reale GitLab- oder Opencode-Abhängigkeit reproduzierbar.</a:t>
            </a:r>
          </a:p>
        </p:txBody>
      </p:sp>
      <p:sp>
        <p:nvSpPr>
          <p:cNvPr id="14" name="risk-label-rule">
            <a:extLst xmlns:a="http://schemas.openxmlformats.org/drawingml/2006/main">
              <a:ext uri="{FF2B5EF4-FFF2-40B4-BE49-F238E27FC236}">
                <a16:creationId xmlns:a16="http://schemas.microsoft.com/office/drawing/2014/main" id="{BA3CCE0B-1DC5-4D27-925F-8043BB0A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81200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3E3E"/>
          </a:solidFill>
          <a:ln xmlns:a="http://schemas.openxmlformats.org/drawingml/2006/main" w="0">
            <a:solidFill>
              <a:srgbClr val="A33E3E"/>
            </a:solidFill>
            <a:prstDash val="solid"/>
          </a:ln>
        </p:spPr>
      </p:sp>
      <p:sp>
        <p:nvSpPr>
          <p:cNvPr id="15" name="risk-label">
            <a:extLst xmlns:a="http://schemas.openxmlformats.org/drawingml/2006/main">
              <a:ext uri="{FF2B5EF4-FFF2-40B4-BE49-F238E27FC236}">
                <a16:creationId xmlns:a16="http://schemas.microsoft.com/office/drawing/2014/main" id="{33A73BFC-1E76-4021-96DE-90D5A9E9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05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Zu beobachtende Risiken</a:t>
            </a:r>
          </a:p>
        </p:txBody>
      </p:sp>
      <p:sp>
        <p:nvSpPr>
          <p:cNvPr id="16" name="risks-dot-1">
            <a:extLst xmlns:a="http://schemas.openxmlformats.org/drawingml/2006/main">
              <a:ext uri="{FF2B5EF4-FFF2-40B4-BE49-F238E27FC236}">
                <a16:creationId xmlns:a16="http://schemas.microsoft.com/office/drawing/2014/main" id="{F794A553-1891-45D4-9B9A-EEE0E329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62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E3E"/>
          </a:solidFill>
          <a:ln xmlns:a="http://schemas.openxmlformats.org/drawingml/2006/main" w="0">
            <a:solidFill>
              <a:srgbClr val="A33E3E"/>
            </a:solidFill>
            <a:prstDash val="solid"/>
          </a:ln>
        </p:spPr>
      </p:sp>
      <p:sp>
        <p:nvSpPr>
          <p:cNvPr id="17" name="risks-text-1">
            <a:extLst xmlns:a="http://schemas.openxmlformats.org/drawingml/2006/main">
              <a:ext uri="{FF2B5EF4-FFF2-40B4-BE49-F238E27FC236}">
                <a16:creationId xmlns:a16="http://schemas.microsoft.com/office/drawing/2014/main" id="{50D890AE-E287-488A-A1C1-5978F5FA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Prompt-Variabilität und unvollständige KI-Antworten.</a:t>
            </a:r>
          </a:p>
        </p:txBody>
      </p:sp>
      <p:sp>
        <p:nvSpPr>
          <p:cNvPr id="18" name="risks-dot-2">
            <a:extLst xmlns:a="http://schemas.openxmlformats.org/drawingml/2006/main">
              <a:ext uri="{FF2B5EF4-FFF2-40B4-BE49-F238E27FC236}">
                <a16:creationId xmlns:a16="http://schemas.microsoft.com/office/drawing/2014/main" id="{4B95A578-48C3-4A6A-9E8E-3D128FF9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76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E3E"/>
          </a:solidFill>
          <a:ln xmlns:a="http://schemas.openxmlformats.org/drawingml/2006/main" w="0">
            <a:solidFill>
              <a:srgbClr val="A33E3E"/>
            </a:solidFill>
            <a:prstDash val="solid"/>
          </a:ln>
        </p:spPr>
      </p:sp>
      <p:sp>
        <p:nvSpPr>
          <p:cNvPr id="19" name="risks-text-2">
            <a:extLst xmlns:a="http://schemas.openxmlformats.org/drawingml/2006/main">
              <a:ext uri="{FF2B5EF4-FFF2-40B4-BE49-F238E27FC236}">
                <a16:creationId xmlns:a16="http://schemas.microsoft.com/office/drawing/2014/main" id="{49D71C19-8CBA-4483-AE6D-8BDF8D1F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90850"/>
            <a:ext cx="440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Änderungen an GitLab-, glab- oder Opencode-Schnittstellen.</a:t>
            </a:r>
          </a:p>
        </p:txBody>
      </p:sp>
      <p:sp>
        <p:nvSpPr>
          <p:cNvPr id="20" name="risks-dot-3">
            <a:extLst xmlns:a="http://schemas.openxmlformats.org/drawingml/2006/main">
              <a:ext uri="{FF2B5EF4-FFF2-40B4-BE49-F238E27FC236}">
                <a16:creationId xmlns:a16="http://schemas.microsoft.com/office/drawing/2014/main" id="{0D968AB7-8869-4791-A442-56EA7178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E3E"/>
          </a:solidFill>
          <a:ln xmlns:a="http://schemas.openxmlformats.org/drawingml/2006/main" w="0">
            <a:solidFill>
              <a:srgbClr val="A33E3E"/>
            </a:solidFill>
            <a:prstDash val="solid"/>
          </a:ln>
        </p:spPr>
      </p:sp>
      <p:sp>
        <p:nvSpPr>
          <p:cNvPr id="21" name="risks-text-3">
            <a:extLst xmlns:a="http://schemas.openxmlformats.org/drawingml/2006/main">
              <a:ext uri="{FF2B5EF4-FFF2-40B4-BE49-F238E27FC236}">
                <a16:creationId xmlns:a16="http://schemas.microsoft.com/office/drawing/2014/main" id="{3BF545DC-E0FB-4523-855C-94EAE08E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543300"/>
            <a:ext cx="4400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Bilddownloads können an Berechtigungen, Dateigröße oder URL-Auflösung scheitern.</a:t>
            </a:r>
          </a:p>
        </p:txBody>
      </p:sp>
      <p:sp>
        <p:nvSpPr>
          <p:cNvPr id="22" name="risks-dot-4">
            <a:extLst xmlns:a="http://schemas.openxmlformats.org/drawingml/2006/main">
              <a:ext uri="{FF2B5EF4-FFF2-40B4-BE49-F238E27FC236}">
                <a16:creationId xmlns:a16="http://schemas.microsoft.com/office/drawing/2014/main" id="{AB5F77FB-4155-4F20-B077-2C17F310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76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3E3E"/>
          </a:solidFill>
          <a:ln xmlns:a="http://schemas.openxmlformats.org/drawingml/2006/main" w="0">
            <a:solidFill>
              <a:srgbClr val="A33E3E"/>
            </a:solidFill>
            <a:prstDash val="solid"/>
          </a:ln>
        </p:spPr>
      </p:sp>
      <p:sp>
        <p:nvSpPr>
          <p:cNvPr id="23" name="risks-text-4">
            <a:extLst xmlns:a="http://schemas.openxmlformats.org/drawingml/2006/main">
              <a:ext uri="{FF2B5EF4-FFF2-40B4-BE49-F238E27FC236}">
                <a16:creationId xmlns:a16="http://schemas.microsoft.com/office/drawing/2014/main" id="{2E6EE726-1C35-43F5-A2E5-5A280F6A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91000"/>
            <a:ext cx="440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Asynchrone Fehler müssen sauber geloggt und fachlich nachvollziehbar bleiben.</a:t>
            </a:r>
          </a:p>
        </p:txBody>
      </p:sp>
      <p:sp>
        <p:nvSpPr>
          <p:cNvPr id="24" name="closing-question">
            <a:extLst xmlns:a="http://schemas.openxmlformats.org/drawingml/2006/main">
              <a:ext uri="{FF2B5EF4-FFF2-40B4-BE49-F238E27FC236}">
                <a16:creationId xmlns:a16="http://schemas.microsoft.com/office/drawing/2014/main" id="{B6C8AAC5-2DB7-4266-8113-A83AC7A2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05450"/>
            <a:ext cx="891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6F7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F78"/>
                </a:solidFill>
                <a:latin typeface="Aptos"/>
                <a:ea typeface="Aptos"/>
                <a:cs typeface="Aptos"/>
              </a:rPr>
              <a:t>Abstimmungspunkt: Ist diese Abgrenzung für die Projektbewertung passend?</a:t>
            </a:r>
          </a:p>
        </p:txBody>
      </p:sp>
      <p:sp>
        <p:nvSpPr>
          <p:cNvPr id="25" name="footer-left-9">
            <a:extLst xmlns:a="http://schemas.openxmlformats.org/drawingml/2006/main">
              <a:ext uri="{FF2B5EF4-FFF2-40B4-BE49-F238E27FC236}">
                <a16:creationId xmlns:a16="http://schemas.microsoft.com/office/drawing/2014/main" id="{6F69E275-AF25-4AE4-8EFF-4EA0469C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43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470"/>
                </a:solidFill>
                <a:latin typeface="Aptos"/>
                <a:ea typeface="Aptos"/>
                <a:cs typeface="Aptos"/>
              </a:rPr>
              <a:t>Projektvorstellung für den Zweitgutachter</a:t>
            </a:r>
          </a:p>
        </p:txBody>
      </p:sp>
      <p:sp>
        <p:nvSpPr>
          <p:cNvPr id="26" name="footer-right-9">
            <a:extLst xmlns:a="http://schemas.openxmlformats.org/drawingml/2006/main">
              <a:ext uri="{FF2B5EF4-FFF2-40B4-BE49-F238E27FC236}">
                <a16:creationId xmlns:a16="http://schemas.microsoft.com/office/drawing/2014/main" id="{C76AD384-53B0-44D9-B55D-D481C523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2865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B647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47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5652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2026-06-22T08:28:07.4190000Z</dcterms:created>
  <dcterms:modified xsi:type="dcterms:W3CDTF">2026-06-22T08:28:07.4190000Z</dcterms:modified>
</coreProperties>
</file>