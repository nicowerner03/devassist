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f14e56e24044509" /><Relationship Type="http://schemas.openxmlformats.org/officeDocument/2006/relationships/extended-properties" Target="/docProps/app.xml" Id="R26b8f1bf68ce4b84" /><Relationship Type="http://schemas.openxmlformats.org/officeDocument/2006/relationships/officeDocument" Target="/ppt/presentation.xml" Id="R578e3298f19d4a8b" /></Relationships>
</file>

<file path=ppt/presentation.xml><?xml version="1.0" encoding="utf-8"?>
<p:presentation xmlns:p="http://schemas.openxmlformats.org/presentationml/2006/main">
  <p:sldMasterIdLst>
    <p:sldMasterId xmlns:r="http://schemas.openxmlformats.org/officeDocument/2006/relationships" id="2147483648" r:id="R3bf770eb2db04040"/>
  </p:sldMasterIdLst>
  <p:notesMasterIdLst>
    <p:notesMasterId xmlns:r="http://schemas.openxmlformats.org/officeDocument/2006/relationships" r:id="Rc217a6ec354a4916"/>
  </p:notesMasterIdLst>
  <p:sldIdLst>
    <p:sldId xmlns:r="http://schemas.openxmlformats.org/officeDocument/2006/relationships" id="256" r:id="R5499b0b0276045df"/>
    <p:sldId xmlns:r="http://schemas.openxmlformats.org/officeDocument/2006/relationships" id="257" r:id="Rf5fd5dae535b4510"/>
    <p:sldId xmlns:r="http://schemas.openxmlformats.org/officeDocument/2006/relationships" id="258" r:id="R5bfed6bcebc84892"/>
    <p:sldId xmlns:r="http://schemas.openxmlformats.org/officeDocument/2006/relationships" id="259" r:id="Rf7f9d9b6016548ba"/>
    <p:sldId xmlns:r="http://schemas.openxmlformats.org/officeDocument/2006/relationships" id="260" r:id="R049dbe166e914752"/>
    <p:sldId xmlns:r="http://schemas.openxmlformats.org/officeDocument/2006/relationships" id="261" r:id="R6f20040c6c6148ba"/>
    <p:sldId xmlns:r="http://schemas.openxmlformats.org/officeDocument/2006/relationships" id="262" r:id="R85e97a1c4b5d4ba5"/>
    <p:sldId xmlns:r="http://schemas.openxmlformats.org/officeDocument/2006/relationships" id="263" r:id="R480f9781f9f34a2c"/>
    <p:sldId xmlns:r="http://schemas.openxmlformats.org/officeDocument/2006/relationships" id="264" r:id="Rb6bff0d7d16b4741"/>
    <p:sldId xmlns:r="http://schemas.openxmlformats.org/officeDocument/2006/relationships" id="265" r:id="R797ed67916ed4af9"/>
    <p:sldId xmlns:r="http://schemas.openxmlformats.org/officeDocument/2006/relationships" id="266" r:id="Re32a28481b164b36"/>
    <p:sldId xmlns:r="http://schemas.openxmlformats.org/officeDocument/2006/relationships" id="267" r:id="R6aaf4ac60843496f"/>
    <p:sldId xmlns:r="http://schemas.openxmlformats.org/officeDocument/2006/relationships" id="268" r:id="R9d309d1077644fa6"/>
    <p:sldId xmlns:r="http://schemas.openxmlformats.org/officeDocument/2006/relationships" id="269" r:id="Rfcdb279f65a84e14"/>
    <p:sldId xmlns:r="http://schemas.openxmlformats.org/officeDocument/2006/relationships" id="270" r:id="R3c9d4aa682374c6c"/>
    <p:sldId xmlns:r="http://schemas.openxmlformats.org/officeDocument/2006/relationships" id="271" r:id="Re57307068d8247b7"/>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f5a281b658b42f8" /><Relationship Type="http://schemas.openxmlformats.org/officeDocument/2006/relationships/slideMaster" Target="/ppt/slideMasters/slideMaster1.xml" Id="R3bf770eb2db04040" /><Relationship Type="http://schemas.openxmlformats.org/officeDocument/2006/relationships/notesMaster" Target="/ppt/notesMasters/notesMaster1.xml" Id="Rc217a6ec354a4916" /><Relationship Type="http://schemas.openxmlformats.org/officeDocument/2006/relationships/presProps" Target="/ppt/presProps.xml" Id="Rf1b3a0c3a9f84eea" /><Relationship Type="http://schemas.openxmlformats.org/officeDocument/2006/relationships/tableStyles" Target="/ppt/tableStyles.xml" Id="R869d12073da745a7" /><Relationship Type="http://schemas.openxmlformats.org/officeDocument/2006/relationships/slide" Target="/ppt/slides/slide1.xml" Id="R5499b0b0276045df" /><Relationship Type="http://schemas.openxmlformats.org/officeDocument/2006/relationships/slide" Target="/ppt/slides/slide2.xml" Id="Rf5fd5dae535b4510" /><Relationship Type="http://schemas.openxmlformats.org/officeDocument/2006/relationships/slide" Target="/ppt/slides/slide3.xml" Id="R5bfed6bcebc84892" /><Relationship Type="http://schemas.openxmlformats.org/officeDocument/2006/relationships/slide" Target="/ppt/slides/slide4.xml" Id="Rf7f9d9b6016548ba" /><Relationship Type="http://schemas.openxmlformats.org/officeDocument/2006/relationships/slide" Target="/ppt/slides/slide5.xml" Id="R049dbe166e914752" /><Relationship Type="http://schemas.openxmlformats.org/officeDocument/2006/relationships/slide" Target="/ppt/slides/slide6.xml" Id="R6f20040c6c6148ba" /><Relationship Type="http://schemas.openxmlformats.org/officeDocument/2006/relationships/slide" Target="/ppt/slides/slide7.xml" Id="R85e97a1c4b5d4ba5" /><Relationship Type="http://schemas.openxmlformats.org/officeDocument/2006/relationships/slide" Target="/ppt/slides/slide8.xml" Id="R480f9781f9f34a2c" /><Relationship Type="http://schemas.openxmlformats.org/officeDocument/2006/relationships/slide" Target="/ppt/slides/slide9.xml" Id="Rb6bff0d7d16b4741" /><Relationship Type="http://schemas.openxmlformats.org/officeDocument/2006/relationships/slide" Target="/ppt/slides/slide10.xml" Id="R797ed67916ed4af9" /><Relationship Type="http://schemas.openxmlformats.org/officeDocument/2006/relationships/slide" Target="/ppt/slides/slide11.xml" Id="Re32a28481b164b36" /><Relationship Type="http://schemas.openxmlformats.org/officeDocument/2006/relationships/slide" Target="/ppt/slides/slide12.xml" Id="R6aaf4ac60843496f" /><Relationship Type="http://schemas.openxmlformats.org/officeDocument/2006/relationships/slide" Target="/ppt/slides/slide13.xml" Id="R9d309d1077644fa6" /><Relationship Type="http://schemas.openxmlformats.org/officeDocument/2006/relationships/slide" Target="/ppt/slides/slide14.xml" Id="Rfcdb279f65a84e14" /><Relationship Type="http://schemas.openxmlformats.org/officeDocument/2006/relationships/slide" Target="/ppt/slides/slide15.xml" Id="R3c9d4aa682374c6c" /><Relationship Type="http://schemas.openxmlformats.org/officeDocument/2006/relationships/slide" Target="/ppt/slides/slide16.xml" Id="Re57307068d8247b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ca5c1ad914b4b6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0ecc19842e641b1" /><Relationship Type="http://schemas.openxmlformats.org/officeDocument/2006/relationships/notesMaster" Target="/ppt/notesMasters/notesMaster1.xml" Id="Rfaf1eb0ea9df4cce" /></Relationships>
</file>

<file path=ppt/notesSlides/_rels/notesSlide2.xml.rels>&#65279;<?xml version="1.0" encoding="utf-8"?><Relationships xmlns="http://schemas.openxmlformats.org/package/2006/relationships"><Relationship Type="http://schemas.openxmlformats.org/officeDocument/2006/relationships/slide" Target="/ppt/slides/slide2.xml" Id="R2edd66191b1b44e6" /><Relationship Type="http://schemas.openxmlformats.org/officeDocument/2006/relationships/notesMaster" Target="/ppt/notesMasters/notesMaster1.xml" Id="R0ed107cfff324b08" /></Relationships>
</file>

<file path=ppt/notesSlides/_rels/notesSlide3.xml.rels>&#65279;<?xml version="1.0" encoding="utf-8"?><Relationships xmlns="http://schemas.openxmlformats.org/package/2006/relationships"><Relationship Type="http://schemas.openxmlformats.org/officeDocument/2006/relationships/slide" Target="/ppt/slides/slide3.xml" Id="R72999c83038449bc" /><Relationship Type="http://schemas.openxmlformats.org/officeDocument/2006/relationships/notesMaster" Target="/ppt/notesMasters/notesMaster1.xml" Id="R6d486136bd894fb2" /></Relationships>
</file>

<file path=ppt/notesSlides/_rels/notesSlide4.xml.rels>&#65279;<?xml version="1.0" encoding="utf-8"?><Relationships xmlns="http://schemas.openxmlformats.org/package/2006/relationships"><Relationship Type="http://schemas.openxmlformats.org/officeDocument/2006/relationships/slide" Target="/ppt/slides/slide4.xml" Id="R7bdd3dcd484c45bb" /><Relationship Type="http://schemas.openxmlformats.org/officeDocument/2006/relationships/notesMaster" Target="/ppt/notesMasters/notesMaster1.xml" Id="R6baf8c5562aa4e62" /></Relationships>
</file>

<file path=ppt/notesSlides/_rels/notesSlide5.xml.rels>&#65279;<?xml version="1.0" encoding="utf-8"?><Relationships xmlns="http://schemas.openxmlformats.org/package/2006/relationships"><Relationship Type="http://schemas.openxmlformats.org/officeDocument/2006/relationships/slide" Target="/ppt/slides/slide5.xml" Id="R4ba7c6a5953d40a8" /><Relationship Type="http://schemas.openxmlformats.org/officeDocument/2006/relationships/notesMaster" Target="/ppt/notesMasters/notesMaster1.xml" Id="R46e9ee7156554133" /></Relationships>
</file>

<file path=ppt/notesSlides/_rels/notesSlide6.xml.rels>&#65279;<?xml version="1.0" encoding="utf-8"?><Relationships xmlns="http://schemas.openxmlformats.org/package/2006/relationships"><Relationship Type="http://schemas.openxmlformats.org/officeDocument/2006/relationships/slide" Target="/ppt/slides/slide6.xml" Id="Rbc800e13109341b0" /><Relationship Type="http://schemas.openxmlformats.org/officeDocument/2006/relationships/notesMaster" Target="/ppt/notesMasters/notesMaster1.xml" Id="R5d4f215898c440ae" /></Relationships>
</file>

<file path=ppt/notesSlides/_rels/notesSlide7.xml.rels>&#65279;<?xml version="1.0" encoding="utf-8"?><Relationships xmlns="http://schemas.openxmlformats.org/package/2006/relationships"><Relationship Type="http://schemas.openxmlformats.org/officeDocument/2006/relationships/slide" Target="/ppt/slides/slide7.xml" Id="R555c0e452fee4458" /><Relationship Type="http://schemas.openxmlformats.org/officeDocument/2006/relationships/notesMaster" Target="/ppt/notesMasters/notesMaster1.xml" Id="Rc5eacec7a3ba45d9" /></Relationships>
</file>

<file path=ppt/notesSlides/_rels/notesSlide8.xml.rels>&#65279;<?xml version="1.0" encoding="utf-8"?><Relationships xmlns="http://schemas.openxmlformats.org/package/2006/relationships"><Relationship Type="http://schemas.openxmlformats.org/officeDocument/2006/relationships/slide" Target="/ppt/slides/slide8.xml" Id="R503205e5d0494d77" /><Relationship Type="http://schemas.openxmlformats.org/officeDocument/2006/relationships/notesMaster" Target="/ppt/notesMasters/notesMaster1.xml" Id="Rc16bac9fb9de4984" /></Relationships>
</file>

<file path=ppt/notesSlides/_rels/notesSlide9.xml.rels>&#65279;<?xml version="1.0" encoding="utf-8"?><Relationships xmlns="http://schemas.openxmlformats.org/package/2006/relationships"><Relationship Type="http://schemas.openxmlformats.org/officeDocument/2006/relationships/slide" Target="/ppt/slides/slide9.xml" Id="R62b21e61d2504d4e" /><Relationship Type="http://schemas.openxmlformats.org/officeDocument/2006/relationships/notesMaster" Target="/ppt/notesMasters/notesMaster1.xml" Id="R7b0d1519c263498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1cfe9807c7b4229" /><Relationship Type="http://schemas.openxmlformats.org/officeDocument/2006/relationships/notesMaster" Target="/ppt/notesMasters/notesMaster1.xml" Id="R12a912acc85349b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981a1227f144942" /><Relationship Type="http://schemas.openxmlformats.org/officeDocument/2006/relationships/notesMaster" Target="/ppt/notesMasters/notesMaster1.xml" Id="R2095a1a71698483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c7457b4b0bb4e1f" /><Relationship Type="http://schemas.openxmlformats.org/officeDocument/2006/relationships/notesMaster" Target="/ppt/notesMasters/notesMaster1.xml" Id="Re856d6e80ee440a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56ff6e7c28c44c3" /><Relationship Type="http://schemas.openxmlformats.org/officeDocument/2006/relationships/notesMaster" Target="/ppt/notesMasters/notesMaster1.xml" Id="R3f499a7a146c4fa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0527ef26c1c45fa" /><Relationship Type="http://schemas.openxmlformats.org/officeDocument/2006/relationships/notesMaster" Target="/ppt/notesMasters/notesMaster1.xml" Id="R0de9dc5311014c6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636cf9dca824cd5" /><Relationship Type="http://schemas.openxmlformats.org/officeDocument/2006/relationships/notesMaster" Target="/ppt/notesMasters/notesMaster1.xml" Id="R8e578e08f43b43f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b9c2aae313348a7" /><Relationship Type="http://schemas.openxmlformats.org/officeDocument/2006/relationships/notesMaster" Target="/ppt/notesMasters/notesMaster1.xml" Id="Rbaf7b727566c41c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Einstieg: Ich stelle nicht nur die Funktion vor, sondern die wissenschaftliche Einordnung des Prototyps. Der Fokus liegt auf Ticketqualität, kontrollierter KI-Integration und der Frage, wie der Nutzen nachweisbar wird. Wichtig ist direkt zu Beginn: Dev-Assist ist als Assistenzsystem gedacht und nicht als autonomer Entwickler.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Hier erkläre ich die praktische Motivation. Ein GitLab-Issue ist nicht nur eine Aufgabe, sondern ein Koordinationspunkt zwischen Anforderung, Entwicklung und Qualitätssicherung. Wenn dieses Artefakt unvollständig ist, entsteht Verzögerung nicht erst bei der Implementierung, sondern schon beim Verstehen der Aufgabe.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Diese Folie macht das Problem konkreter. Es geht nicht darum, dass Tickets generell zu kurz sind. Das eigentliche Problem ist, dass entscheidende Informationen fehlen oder an mehreren Stellen verteilt sind. Genau daraus leitet sich ab, warum der Prototyp Kommentare, Beschreibung und Bildreferenzen gemeinsam betrachten muss.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Hier stelle ich die Brücke zur Theorie her. In der Arbeit werden Bug-Report- und Requirements-Engineering-Ansätze genutzt, um zu begründen, welche Informationen ein gutes Ticket braucht. Wichtig für den Zweitgutachter: Der Prototyp folgt nicht nur einer technischen Idee, sondern einer fachlichen Qualitätslogik.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Diese Folie formuliere ich als Übergang von Problem zu Arbeitsziel. Ich würde betonen, dass die Arbeit zwei Perspektiven verbindet: Welche Ticketinformationen fachlich nötig sind und wie ein technisches System diese Aufbereitung im GitLab-Workflow unterstützen kann.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Hier ist die wichtigste Sicherheits- und Bewertungsaussage: Der Assistent ist bewusst begrenzt. Er soll Ticketqualität verbessern, aber keine fachliche Verantwortung übernehmen. Diese Grenze schützt vor Halluzinationen, falschen Annahmen und übermäßiger Autonomie.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Diese Anforderungen leite ich direkt aus Problem und Abgrenzung ab. Es reicht nicht, nur einen LLM-Call einzubauen. Das System muss relevante Ereignisse erkennen, Kontext sammeln, Bot-Schleifen vermeiden, KI-Ausgaben validieren und den Nutzer kontrolliert durch Rückfragen oder Vorschläge unterstützen.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Jetzt kann ich den End-to-End-Ablauf erklären. GitLab löst ein Ereignis aus, der Webhook prüft die Anfrage und routet je nach Inhalt in Analyse oder Publish. Lange Operationen laufen asynchron, damit GitLab nicht auf den KI-Prozess warten muss.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Diese Folie beschreibt die Architektur auf Ebene der Verantwortlichkeiten. Ich würde hervorheben, dass die Anwendung bewusst in Module zerlegt ist: Eintrittspunkt, Routing, Fachlogik und Integrationen. Dadurch ist das System besser testbar und Änderungen bleiben lokal nachvollziehbar.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Hier mache ich es konkreter und benenne die Dateien. Das ist hilfreich, weil der Zweitgutachter sieht, dass der Prototyp nicht nur konzeptionell beschrieben wird. Die wichtigsten Trennlinien sind: Webhook-Orchestrierung, Agentenanalyse, Publish-Übernahme und Bildreferenzbehandlung.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Diese Folie ist zentral für die wissenschaftliche Bewertung. Der Agent darf keinen beliebigen Fließtext liefern, sondern ein begrenztes JSON-Format. Dadurch kann die Anwendung prüfen, ob eine Rückfrage oder ein Vorschlag vorliegt. Das reduziert nicht alle KI-Risiken, macht den Workflow aber kontrollierbarer.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Hier erkläre ich die menschliche Freigabe. Der Bot schreibt zunächst nur einen Vorschlag mit Markern. Erst wenn ein Mensch den Publish-Befehl schreibt, extrahiert die Anwendung Titel und Beschreibung, aktualisiert das Issue und räumt Hilfskommentare auf.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Diese Folie zeigt, wie technische Qualität nachgewiesen wird. Ich würde betonen, dass Tests ohne echte GitLab- oder Opencode-Abhängigkeit reproduzierbar laufen sollen. Besonders wichtig sind die Fälle, in denen das System nichts tun darf: unbekannte Events, eigene Bot-Kommentare und ungültige Payloads.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Neben automatisierten Tests braucht die Arbeit eine fachliche Evaluation. Die Demo-Szenarien zeigen, ob Dev-Assist tatsächlich Ticketqualität verbessert: einmal mit zu wenig Kontext, einmal mit vollständigem Kontext und einmal mit Publish-Freigabe.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Diese Folie bereitet die spätere Diskussion vor. Ich würde offen sagen, dass generative KI Risiken erzeugt. Der Beitrag der Arbeit liegt nicht darin, diese Risiken zu leugnen, sondern sie über Architekturentscheidungen, Validierung und Freigabeprozess einzugrenzen.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Zum Abschluss formuliere ich, was die Arbeit leisten soll und was ich mit dem Zweitgutachter abstimmen möchte. Diese Folie ist bewusst kein reines Fazit, sondern ein Gesprächsanker: Passt die Abgrenzung, passt die Evaluation, und welche Risiken sollen besonders stark eingeordnet werden?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93d0a392c57496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d0237223a02421f" /><Relationship Type="http://schemas.openxmlformats.org/officeDocument/2006/relationships/slideLayout" Target="/ppt/slideLayouts/slideLayout1.xml" Id="Rb7d9b8bab7aa40a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7d9b8bab7aa40a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c0506cdb4ca4edd" /><Relationship Type="http://schemas.openxmlformats.org/officeDocument/2006/relationships/notesSlide" Target="/ppt/notesSlides/notesSlide1.xml" Id="R3ed5950847da4c4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c1acf38d4c24ab0" /><Relationship Type="http://schemas.openxmlformats.org/officeDocument/2006/relationships/notesSlide" Target="/ppt/notesSlides/notesSlide2.xml" Id="R95a2b7317238482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641c0dcc35446d5" /><Relationship Type="http://schemas.openxmlformats.org/officeDocument/2006/relationships/notesSlide" Target="/ppt/notesSlides/notesSlide3.xml" Id="R0761429f762c4a5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6643e0c800e49e7" /><Relationship Type="http://schemas.openxmlformats.org/officeDocument/2006/relationships/notesSlide" Target="/ppt/notesSlides/notesSlide4.xml" Id="Rb9317a48bdd2453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32df4c4cbcb4a12" /><Relationship Type="http://schemas.openxmlformats.org/officeDocument/2006/relationships/notesSlide" Target="/ppt/notesSlides/notesSlide5.xml" Id="R76472e266c4a45f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4aab71de9ac4633" /><Relationship Type="http://schemas.openxmlformats.org/officeDocument/2006/relationships/notesSlide" Target="/ppt/notesSlides/notesSlide6.xml" Id="R36d7351f174047a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9b89136515c4624" /><Relationship Type="http://schemas.openxmlformats.org/officeDocument/2006/relationships/notesSlide" Target="/ppt/notesSlides/notesSlide7.xml" Id="R9708b8f9416f459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92013ba3a954f31" /><Relationship Type="http://schemas.openxmlformats.org/officeDocument/2006/relationships/notesSlide" Target="/ppt/notesSlides/notesSlide8.xml" Id="Rabbbf7b8717f4b6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c9856c557d64318" /><Relationship Type="http://schemas.openxmlformats.org/officeDocument/2006/relationships/notesSlide" Target="/ppt/notesSlides/notesSlide9.xml" Id="R92444e1ca38442b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41dbfdc8fc8411b" /><Relationship Type="http://schemas.openxmlformats.org/officeDocument/2006/relationships/notesSlide" Target="/ppt/notesSlides/notesSlide10.xml" Id="R19835bafd5e6404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aa9166961784005" /><Relationship Type="http://schemas.openxmlformats.org/officeDocument/2006/relationships/notesSlide" Target="/ppt/notesSlides/notesSlide11.xml" Id="Rffbb88f052d4427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e27c56f578a4112" /><Relationship Type="http://schemas.openxmlformats.org/officeDocument/2006/relationships/notesSlide" Target="/ppt/notesSlides/notesSlide12.xml" Id="R4d4f92ab0a6648c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9586c9a98c804333" /><Relationship Type="http://schemas.openxmlformats.org/officeDocument/2006/relationships/notesSlide" Target="/ppt/notesSlides/notesSlide13.xml" Id="Rb81f3b2bf9b64f5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a5a200cfbc454980" /><Relationship Type="http://schemas.openxmlformats.org/officeDocument/2006/relationships/notesSlide" Target="/ppt/notesSlides/notesSlide14.xml" Id="R5a36f79d344843b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cd739ebb688b4b8c" /><Relationship Type="http://schemas.openxmlformats.org/officeDocument/2006/relationships/notesSlide" Target="/ppt/notesSlides/notesSlide15.xml" Id="R5ebe58bda9854e4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2dddc2a544614262" /><Relationship Type="http://schemas.openxmlformats.org/officeDocument/2006/relationships/notesSlide" Target="/ppt/notesSlides/notesSlide16.xml" Id="R1aeb4a797c0e419e" /></Relationships>
</file>

<file path=ppt/slides/slide1.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 name="cover-top-rule">
            <a:extLst xmlns:a="http://schemas.openxmlformats.org/drawingml/2006/main">
              <a:ext uri="{FF2B5EF4-FFF2-40B4-BE49-F238E27FC236}">
                <a16:creationId xmlns:a16="http://schemas.microsoft.com/office/drawing/2014/main" id="{3B32B1D4-5BBA-4F6A-AC0F-635BBBD84079}"/>
              </a:ext>
            </a:extLst>
          </p:cNvPr>
          <p:cNvSpPr>
            <a:spLocks xmlns:a="http://schemas.openxmlformats.org/drawingml/2006/main" noGrp="1"/>
          </p:cNvSpPr>
          <p:nvPr/>
        </p:nvSpPr>
        <p:spPr>
          <a:xfrm xmlns:a="http://schemas.openxmlformats.org/drawingml/2006/main">
            <a:off x="723900" y="723900"/>
            <a:ext cx="1219200" cy="57150"/>
          </a:xfrm>
          <a:prstGeom xmlns:a="http://schemas.openxmlformats.org/drawingml/2006/main" prst="rect">
            <a:avLst/>
          </a:prstGeom>
          <a:solidFill xmlns:a="http://schemas.openxmlformats.org/drawingml/2006/main">
            <a:srgbClr val="1F6F78"/>
          </a:solidFill>
          <a:ln xmlns:a="http://schemas.openxmlformats.org/drawingml/2006/main" w="0">
            <a:solidFill>
              <a:srgbClr val="1F6F78"/>
            </a:solidFill>
            <a:prstDash val="solid"/>
          </a:ln>
        </p:spPr>
      </p:sp>
      <p:sp>
        <p:nvSpPr>
          <p:cNvPr id="2" name="cover-kicker">
            <a:extLst xmlns:a="http://schemas.openxmlformats.org/drawingml/2006/main">
              <a:ext uri="{FF2B5EF4-FFF2-40B4-BE49-F238E27FC236}">
                <a16:creationId xmlns:a16="http://schemas.microsoft.com/office/drawing/2014/main" id="{A48349A2-9382-4E3D-B859-F276858A0778}"/>
              </a:ext>
            </a:extLst>
          </p:cNvPr>
          <p:cNvSpPr>
            <a:spLocks xmlns:a="http://schemas.openxmlformats.org/drawingml/2006/main" noGrp="1"/>
          </p:cNvSpPr>
          <p:nvPr/>
        </p:nvSpPr>
        <p:spPr>
          <a:xfrm xmlns:a="http://schemas.openxmlformats.org/drawingml/2006/main">
            <a:off x="723900" y="1085850"/>
            <a:ext cx="533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650" b="1">
                <a:solidFill>
                  <a:srgbClr val="1F6F78"/>
                </a:solidFill>
                <a:latin typeface="Aptos"/>
                <a:ea typeface="Aptos"/>
                <a:cs typeface="Aptos"/>
              </a:defRPr>
            </a:pPr>
            <a:r>
              <a:rPr sz="1650" b="1">
                <a:solidFill>
                  <a:srgbClr val="1F6F78"/>
                </a:solidFill>
                <a:latin typeface="Aptos"/>
                <a:ea typeface="Aptos"/>
                <a:cs typeface="Aptos"/>
              </a:rPr>
              <a:t>Projektvorstellung</a:t>
            </a:r>
          </a:p>
        </p:txBody>
      </p:sp>
      <p:sp>
        <p:nvSpPr>
          <p:cNvPr id="3" name="cover-title">
            <a:extLst xmlns:a="http://schemas.openxmlformats.org/drawingml/2006/main">
              <a:ext uri="{FF2B5EF4-FFF2-40B4-BE49-F238E27FC236}">
                <a16:creationId xmlns:a16="http://schemas.microsoft.com/office/drawing/2014/main" id="{190DA935-B25E-4F06-80FB-153F1293B9CB}"/>
              </a:ext>
            </a:extLst>
          </p:cNvPr>
          <p:cNvSpPr>
            <a:spLocks xmlns:a="http://schemas.openxmlformats.org/drawingml/2006/main" noGrp="1"/>
          </p:cNvSpPr>
          <p:nvPr/>
        </p:nvSpPr>
        <p:spPr>
          <a:xfrm xmlns:a="http://schemas.openxmlformats.org/drawingml/2006/main">
            <a:off x="723900" y="1771650"/>
            <a:ext cx="8572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4350" b="1">
                <a:solidFill>
                  <a:srgbClr val="17202A"/>
                </a:solidFill>
                <a:latin typeface="Aptos Display"/>
                <a:ea typeface="Aptos Display"/>
                <a:cs typeface="Aptos Display"/>
              </a:defRPr>
            </a:pPr>
            <a:r>
              <a:rPr sz="4350" b="1">
                <a:solidFill>
                  <a:srgbClr val="17202A"/>
                </a:solidFill>
                <a:latin typeface="Aptos Display"/>
                <a:ea typeface="Aptos Display"/>
                <a:cs typeface="Aptos Display"/>
              </a:rPr>
              <a:t>GitLab Dev-Assist</a:t>
            </a:r>
          </a:p>
        </p:txBody>
      </p:sp>
      <p:sp>
        <p:nvSpPr>
          <p:cNvPr id="4" name="cover-subtitle">
            <a:extLst xmlns:a="http://schemas.openxmlformats.org/drawingml/2006/main">
              <a:ext uri="{FF2B5EF4-FFF2-40B4-BE49-F238E27FC236}">
                <a16:creationId xmlns:a16="http://schemas.microsoft.com/office/drawing/2014/main" id="{02CB8634-EE4E-4E02-AFEA-D3FA32EEA1AD}"/>
              </a:ext>
            </a:extLst>
          </p:cNvPr>
          <p:cNvSpPr>
            <a:spLocks xmlns:a="http://schemas.openxmlformats.org/drawingml/2006/main" noGrp="1"/>
          </p:cNvSpPr>
          <p:nvPr/>
        </p:nvSpPr>
        <p:spPr>
          <a:xfrm xmlns:a="http://schemas.openxmlformats.org/drawingml/2006/main">
            <a:off x="723900" y="2628900"/>
            <a:ext cx="8191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100" b="0">
                <a:solidFill>
                  <a:srgbClr val="5B6470"/>
                </a:solidFill>
                <a:latin typeface="Aptos"/>
                <a:ea typeface="Aptos"/>
                <a:cs typeface="Aptos"/>
              </a:defRPr>
            </a:pPr>
            <a:r>
              <a:rPr sz="2100" b="0">
                <a:solidFill>
                  <a:srgbClr val="5B6470"/>
                </a:solidFill>
                <a:latin typeface="Aptos"/>
                <a:ea typeface="Aptos"/>
                <a:cs typeface="Aptos"/>
              </a:rPr>
              <a:t>KI-gestützte Strukturierung von GitLab-Issues</a:t>
            </a:r>
          </a:p>
        </p:txBody>
      </p:sp>
      <p:sp>
        <p:nvSpPr>
          <p:cNvPr id="5" name="cover-meta">
            <a:extLst xmlns:a="http://schemas.openxmlformats.org/drawingml/2006/main">
              <a:ext uri="{FF2B5EF4-FFF2-40B4-BE49-F238E27FC236}">
                <a16:creationId xmlns:a16="http://schemas.microsoft.com/office/drawing/2014/main" id="{466E02A1-7D13-4165-AEBB-881360F21905}"/>
              </a:ext>
            </a:extLst>
          </p:cNvPr>
          <p:cNvSpPr>
            <a:spLocks xmlns:a="http://schemas.openxmlformats.org/drawingml/2006/main" noGrp="1"/>
          </p:cNvSpPr>
          <p:nvPr/>
        </p:nvSpPr>
        <p:spPr>
          <a:xfrm xmlns:a="http://schemas.openxmlformats.org/drawingml/2006/main">
            <a:off x="723900" y="3790950"/>
            <a:ext cx="7810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650" b="0">
                <a:solidFill>
                  <a:srgbClr val="17202A"/>
                </a:solidFill>
                <a:latin typeface="Aptos"/>
                <a:ea typeface="Aptos"/>
                <a:cs typeface="Aptos"/>
              </a:defRPr>
            </a:pPr>
            <a:r>
              <a:rPr sz="1650" b="0">
                <a:solidFill>
                  <a:srgbClr val="17202A"/>
                </a:solidFill>
                <a:latin typeface="Aptos"/>
                <a:ea typeface="Aptos"/>
                <a:cs typeface="Aptos"/>
              </a:rPr>
              <a:t>Wissenschaftliche Einordnung, Architektur, Validierung und Bewertung</a:t>
            </a:r>
          </a:p>
        </p:txBody>
      </p:sp>
      <p:sp>
        <p:nvSpPr>
          <p:cNvPr id="6" name="cover-audience">
            <a:extLst xmlns:a="http://schemas.openxmlformats.org/drawingml/2006/main">
              <a:ext uri="{FF2B5EF4-FFF2-40B4-BE49-F238E27FC236}">
                <a16:creationId xmlns:a16="http://schemas.microsoft.com/office/drawing/2014/main" id="{59601DAE-758E-452F-AEC0-A2D0F6FB4129}"/>
              </a:ext>
            </a:extLst>
          </p:cNvPr>
          <p:cNvSpPr>
            <a:spLocks xmlns:a="http://schemas.openxmlformats.org/drawingml/2006/main" noGrp="1"/>
          </p:cNvSpPr>
          <p:nvPr/>
        </p:nvSpPr>
        <p:spPr>
          <a:xfrm xmlns:a="http://schemas.openxmlformats.org/drawingml/2006/main">
            <a:off x="723900" y="5657850"/>
            <a:ext cx="495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275" b="0">
                <a:solidFill>
                  <a:srgbClr val="5B6470"/>
                </a:solidFill>
                <a:latin typeface="Aptos"/>
                <a:ea typeface="Aptos"/>
                <a:cs typeface="Aptos"/>
              </a:defRPr>
            </a:pPr>
            <a:r>
              <a:rPr sz="1275" b="0">
                <a:solidFill>
                  <a:srgbClr val="5B6470"/>
                </a:solidFill>
                <a:latin typeface="Aptos"/>
                <a:ea typeface="Aptos"/>
                <a:cs typeface="Aptos"/>
              </a:rPr>
              <a:t>Für den Zweitgutachter | 20-Minuten-Fassung | Juni 2026</a:t>
            </a:r>
          </a:p>
        </p:txBody>
      </p:sp>
      <p:sp>
        <p:nvSpPr>
          <p:cNvPr id="7" name="cover-scope-box">
            <a:extLst xmlns:a="http://schemas.openxmlformats.org/drawingml/2006/main">
              <a:ext uri="{FF2B5EF4-FFF2-40B4-BE49-F238E27FC236}">
                <a16:creationId xmlns:a16="http://schemas.microsoft.com/office/drawing/2014/main" id="{1ED5422C-9591-4417-BE40-D25CBA031210}"/>
              </a:ext>
            </a:extLst>
          </p:cNvPr>
          <p:cNvSpPr>
            <a:spLocks xmlns:a="http://schemas.openxmlformats.org/drawingml/2006/main" noGrp="1"/>
          </p:cNvSpPr>
          <p:nvPr/>
        </p:nvSpPr>
        <p:spPr>
          <a:xfrm xmlns:a="http://schemas.openxmlformats.org/drawingml/2006/main">
            <a:off x="8667750" y="1752600"/>
            <a:ext cx="2800350" cy="2381250"/>
          </a:xfrm>
          <a:prstGeom xmlns:a="http://schemas.openxmlformats.org/drawingml/2006/main" prst="rect">
            <a:avLst/>
          </a:prstGeom>
          <a:solidFill xmlns:a="http://schemas.openxmlformats.org/drawingml/2006/main">
            <a:srgbClr val="FFFFFF"/>
          </a:solidFill>
          <a:ln xmlns:a="http://schemas.openxmlformats.org/drawingml/2006/main" w="9525">
            <a:solidFill>
              <a:srgbClr val="E6EBF1"/>
            </a:solidFill>
            <a:prstDash val="solid"/>
          </a:ln>
        </p:spPr>
      </p:sp>
      <p:sp>
        <p:nvSpPr>
          <p:cNvPr id="8" name="cover-scope-title">
            <a:extLst xmlns:a="http://schemas.openxmlformats.org/drawingml/2006/main">
              <a:ext uri="{FF2B5EF4-FFF2-40B4-BE49-F238E27FC236}">
                <a16:creationId xmlns:a16="http://schemas.microsoft.com/office/drawing/2014/main" id="{AF6832A0-B447-4670-AAD0-37C2EDD7BF59}"/>
              </a:ext>
            </a:extLst>
          </p:cNvPr>
          <p:cNvSpPr>
            <a:spLocks xmlns:a="http://schemas.openxmlformats.org/drawingml/2006/main" noGrp="1"/>
          </p:cNvSpPr>
          <p:nvPr/>
        </p:nvSpPr>
        <p:spPr>
          <a:xfrm xmlns:a="http://schemas.openxmlformats.org/drawingml/2006/main">
            <a:off x="8953500" y="2057400"/>
            <a:ext cx="2247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875" b="1">
                <a:solidFill>
                  <a:srgbClr val="17202A"/>
                </a:solidFill>
                <a:latin typeface="Aptos"/>
                <a:ea typeface="Aptos"/>
                <a:cs typeface="Aptos"/>
              </a:defRPr>
            </a:pPr>
            <a:r>
              <a:rPr sz="1875" b="1">
                <a:solidFill>
                  <a:srgbClr val="17202A"/>
                </a:solidFill>
                <a:latin typeface="Aptos"/>
                <a:ea typeface="Aptos"/>
                <a:cs typeface="Aptos"/>
              </a:rPr>
              <a:t>20-Minuten-Fokus</a:t>
            </a:r>
          </a:p>
        </p:txBody>
      </p:sp>
      <p:sp>
        <p:nvSpPr>
          <p:cNvPr id="9" name="cover-scope-copy">
            <a:extLst xmlns:a="http://schemas.openxmlformats.org/drawingml/2006/main">
              <a:ext uri="{FF2B5EF4-FFF2-40B4-BE49-F238E27FC236}">
                <a16:creationId xmlns:a16="http://schemas.microsoft.com/office/drawing/2014/main" id="{B81BD7D2-F9E1-42C6-B449-3EE2BA326851}"/>
              </a:ext>
            </a:extLst>
          </p:cNvPr>
          <p:cNvSpPr>
            <a:spLocks xmlns:a="http://schemas.openxmlformats.org/drawingml/2006/main" noGrp="1"/>
          </p:cNvSpPr>
          <p:nvPr/>
        </p:nvSpPr>
        <p:spPr>
          <a:xfrm xmlns:a="http://schemas.openxmlformats.org/drawingml/2006/main">
            <a:off x="8953500" y="2533650"/>
            <a:ext cx="21717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425" b="0">
                <a:solidFill>
                  <a:srgbClr val="5B6470"/>
                </a:solidFill>
                <a:latin typeface="Aptos"/>
                <a:ea typeface="Aptos"/>
                <a:cs typeface="Aptos"/>
              </a:defRPr>
            </a:pPr>
            <a:r>
              <a:rPr sz="1425" b="0">
                <a:solidFill>
                  <a:srgbClr val="5B6470"/>
                </a:solidFill>
                <a:latin typeface="Aptos"/>
                <a:ea typeface="Aptos"/>
                <a:cs typeface="Aptos"/>
              </a:rPr>
              <a:t>Warum Ticketqualität relevant ist, wie der Assistent begrenzt integriert wird und wie der Prototyp prüfbar validiert wird.</a:t>
            </a:r>
          </a:p>
        </p:txBody>
      </p:sp>
      <p:sp>
        <p:nvSpPr>
          <p:cNvPr id="10" name="footer-left-1">
            <a:extLst xmlns:a="http://schemas.openxmlformats.org/drawingml/2006/main">
              <a:ext uri="{FF2B5EF4-FFF2-40B4-BE49-F238E27FC236}">
                <a16:creationId xmlns:a16="http://schemas.microsoft.com/office/drawing/2014/main" id="{D72D9615-67FB-414A-8652-FEBCFBE7CB8D}"/>
              </a:ext>
            </a:extLst>
          </p:cNvPr>
          <p:cNvSpPr>
            <a:spLocks xmlns:a="http://schemas.openxmlformats.org/drawingml/2006/main" noGrp="1"/>
          </p:cNvSpPr>
          <p:nvPr/>
        </p:nvSpPr>
        <p:spPr>
          <a:xfrm xmlns:a="http://schemas.openxmlformats.org/drawingml/2006/main">
            <a:off x="723900" y="63436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75" b="0">
                <a:solidFill>
                  <a:srgbClr val="5B6470"/>
                </a:solidFill>
                <a:latin typeface="Aptos"/>
                <a:ea typeface="Aptos"/>
                <a:cs typeface="Aptos"/>
              </a:defRPr>
            </a:pPr>
            <a:r>
              <a:rPr sz="975" b="0">
                <a:solidFill>
                  <a:srgbClr val="5B6470"/>
                </a:solidFill>
                <a:latin typeface="Aptos"/>
                <a:ea typeface="Aptos"/>
                <a:cs typeface="Aptos"/>
              </a:rPr>
              <a:t>Projektvorstellung für den Zweitgutachter</a:t>
            </a:r>
          </a:p>
        </p:txBody>
      </p:sp>
      <p:sp>
        <p:nvSpPr>
          <p:cNvPr id="11" name="footer-right-1">
            <a:extLst xmlns:a="http://schemas.openxmlformats.org/drawingml/2006/main">
              <a:ext uri="{FF2B5EF4-FFF2-40B4-BE49-F238E27FC236}">
                <a16:creationId xmlns:a16="http://schemas.microsoft.com/office/drawing/2014/main" id="{2CA880E0-7F4B-45AF-8CBC-EB888067B4C6}"/>
              </a:ext>
            </a:extLst>
          </p:cNvPr>
          <p:cNvSpPr>
            <a:spLocks xmlns:a="http://schemas.openxmlformats.org/drawingml/2006/main" noGrp="1"/>
          </p:cNvSpPr>
          <p:nvPr/>
        </p:nvSpPr>
        <p:spPr>
          <a:xfrm xmlns:a="http://schemas.openxmlformats.org/drawingml/2006/main">
            <a:off x="10934700" y="6286500"/>
            <a:ext cx="533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1200" b="1">
                <a:solidFill>
                  <a:srgbClr val="5B6470"/>
                </a:solidFill>
                <a:latin typeface="Aptos"/>
                <a:ea typeface="Aptos"/>
                <a:cs typeface="Aptos"/>
              </a:defRPr>
            </a:pPr>
            <a:r>
              <a:rPr sz="1200" b="1">
                <a:solidFill>
                  <a:srgbClr val="5B6470"/>
                </a:solidFill>
                <a:latin typeface="Aptos"/>
                <a:ea typeface="Aptos"/>
                <a:cs typeface="Aptos"/>
              </a:rPr>
              <a:t>01</a:t>
            </a:r>
          </a:p>
        </p:txBody>
      </p:sp>
    </p:spTree>
    <p:extLst>
      <p:ext uri="{BB962C8B-B14F-4D97-AF65-F5344CB8AC3E}">
        <p14:creationId xmlns:p14="http://schemas.microsoft.com/office/powerpoint/2010/main" val="694194483"/>
      </p:ext>
    </p:extLst>
  </p:cSld>
</p:sld>
</file>

<file path=ppt/slides/slide2.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 name="kicker-2">
            <a:extLst xmlns:a="http://schemas.openxmlformats.org/drawingml/2006/main">
              <a:ext uri="{FF2B5EF4-FFF2-40B4-BE49-F238E27FC236}">
                <a16:creationId xmlns:a16="http://schemas.microsoft.com/office/drawing/2014/main" id="{F276C1A2-76C7-4611-B3DF-35F3944CF7D4}"/>
              </a:ext>
            </a:extLst>
          </p:cNvPr>
          <p:cNvSpPr>
            <a:spLocks xmlns:a="http://schemas.openxmlformats.org/drawingml/2006/main" noGrp="1"/>
          </p:cNvSpPr>
          <p:nvPr/>
        </p:nvSpPr>
        <p:spPr>
          <a:xfrm xmlns:a="http://schemas.openxmlformats.org/drawingml/2006/main">
            <a:off x="723900" y="457200"/>
            <a:ext cx="723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125" b="1">
                <a:solidFill>
                  <a:srgbClr val="1F6F78"/>
                </a:solidFill>
                <a:latin typeface="Aptos"/>
                <a:ea typeface="Aptos"/>
                <a:cs typeface="Aptos"/>
              </a:defRPr>
            </a:pPr>
            <a:r>
              <a:rPr sz="1125" b="1">
                <a:solidFill>
                  <a:srgbClr val="1F6F78"/>
                </a:solidFill>
                <a:latin typeface="Aptos"/>
                <a:ea typeface="Aptos"/>
                <a:cs typeface="Aptos"/>
              </a:rPr>
              <a:t>GITLAB DEV-ASSIST</a:t>
            </a:r>
          </a:p>
        </p:txBody>
      </p:sp>
      <p:sp>
        <p:nvSpPr>
          <p:cNvPr id="2" name="title-2">
            <a:extLst xmlns:a="http://schemas.openxmlformats.org/drawingml/2006/main">
              <a:ext uri="{FF2B5EF4-FFF2-40B4-BE49-F238E27FC236}">
                <a16:creationId xmlns:a16="http://schemas.microsoft.com/office/drawing/2014/main" id="{0C70BC36-119E-403D-A599-40A460739E3C}"/>
              </a:ext>
            </a:extLst>
          </p:cNvPr>
          <p:cNvSpPr>
            <a:spLocks xmlns:a="http://schemas.openxmlformats.org/drawingml/2006/main" noGrp="1"/>
          </p:cNvSpPr>
          <p:nvPr/>
        </p:nvSpPr>
        <p:spPr>
          <a:xfrm xmlns:a="http://schemas.openxmlformats.org/drawingml/2006/main">
            <a:off x="723900" y="800100"/>
            <a:ext cx="8763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850" b="1">
                <a:solidFill>
                  <a:srgbClr val="17202A"/>
                </a:solidFill>
                <a:latin typeface="Aptos Display"/>
                <a:ea typeface="Aptos Display"/>
                <a:cs typeface="Aptos Display"/>
              </a:defRPr>
            </a:pPr>
            <a:r>
              <a:rPr sz="2850" b="1">
                <a:solidFill>
                  <a:srgbClr val="17202A"/>
                </a:solidFill>
                <a:latin typeface="Aptos Display"/>
                <a:ea typeface="Aptos Display"/>
                <a:cs typeface="Aptos Display"/>
              </a:rPr>
              <a:t>Ausgangslage: Ticketqualität als Engpass</a:t>
            </a:r>
          </a:p>
        </p:txBody>
      </p:sp>
      <p:sp>
        <p:nvSpPr>
          <p:cNvPr id="3" name="title-rule-2">
            <a:extLst xmlns:a="http://schemas.openxmlformats.org/drawingml/2006/main">
              <a:ext uri="{FF2B5EF4-FFF2-40B4-BE49-F238E27FC236}">
                <a16:creationId xmlns:a16="http://schemas.microsoft.com/office/drawing/2014/main" id="{ADAD2D20-EE90-45A7-B63C-E7F94B8F02A0}"/>
              </a:ext>
            </a:extLst>
          </p:cNvPr>
          <p:cNvSpPr>
            <a:spLocks xmlns:a="http://schemas.openxmlformats.org/drawingml/2006/main" noGrp="1"/>
          </p:cNvSpPr>
          <p:nvPr/>
        </p:nvSpPr>
        <p:spPr>
          <a:xfrm xmlns:a="http://schemas.openxmlformats.org/drawingml/2006/main">
            <a:off x="723900" y="1466850"/>
            <a:ext cx="10744200" cy="19050"/>
          </a:xfrm>
          <a:prstGeom xmlns:a="http://schemas.openxmlformats.org/drawingml/2006/main" prst="rect">
            <a:avLst/>
          </a:prstGeom>
          <a:solidFill xmlns:a="http://schemas.openxmlformats.org/drawingml/2006/main">
            <a:srgbClr val="E6EBF1"/>
          </a:solidFill>
          <a:ln xmlns:a="http://schemas.openxmlformats.org/drawingml/2006/main" w="0">
            <a:solidFill>
              <a:srgbClr val="E6EBF1"/>
            </a:solidFill>
            <a:prstDash val="solid"/>
          </a:ln>
        </p:spPr>
      </p:sp>
      <p:sp>
        <p:nvSpPr>
          <p:cNvPr id="4" name="problem-label-rule">
            <a:extLst xmlns:a="http://schemas.openxmlformats.org/drawingml/2006/main">
              <a:ext uri="{FF2B5EF4-FFF2-40B4-BE49-F238E27FC236}">
                <a16:creationId xmlns:a16="http://schemas.microsoft.com/office/drawing/2014/main" id="{E59807B7-D1BD-47DF-B138-B1DEBDAFAC89}"/>
              </a:ext>
            </a:extLst>
          </p:cNvPr>
          <p:cNvSpPr>
            <a:spLocks xmlns:a="http://schemas.openxmlformats.org/drawingml/2006/main" noGrp="1"/>
          </p:cNvSpPr>
          <p:nvPr/>
        </p:nvSpPr>
        <p:spPr>
          <a:xfrm xmlns:a="http://schemas.openxmlformats.org/drawingml/2006/main">
            <a:off x="857250" y="2000250"/>
            <a:ext cx="266700" cy="38100"/>
          </a:xfrm>
          <a:prstGeom xmlns:a="http://schemas.openxmlformats.org/drawingml/2006/main" prst="rect">
            <a:avLst/>
          </a:prstGeom>
          <a:solidFill xmlns:a="http://schemas.openxmlformats.org/drawingml/2006/main">
            <a:srgbClr val="C26A2E"/>
          </a:solidFill>
          <a:ln xmlns:a="http://schemas.openxmlformats.org/drawingml/2006/main" w="0">
            <a:solidFill>
              <a:srgbClr val="C26A2E"/>
            </a:solidFill>
            <a:prstDash val="solid"/>
          </a:ln>
        </p:spPr>
      </p:sp>
      <p:sp>
        <p:nvSpPr>
          <p:cNvPr id="5" name="problem-label">
            <a:extLst xmlns:a="http://schemas.openxmlformats.org/drawingml/2006/main">
              <a:ext uri="{FF2B5EF4-FFF2-40B4-BE49-F238E27FC236}">
                <a16:creationId xmlns:a16="http://schemas.microsoft.com/office/drawing/2014/main" id="{80FF077D-DAF1-460E-9690-B8B7A30177AF}"/>
              </a:ext>
            </a:extLst>
          </p:cNvPr>
          <p:cNvSpPr>
            <a:spLocks xmlns:a="http://schemas.openxmlformats.org/drawingml/2006/main" noGrp="1"/>
          </p:cNvSpPr>
          <p:nvPr/>
        </p:nvSpPr>
        <p:spPr>
          <a:xfrm xmlns:a="http://schemas.openxmlformats.org/drawingml/2006/main">
            <a:off x="1276350" y="1924050"/>
            <a:ext cx="400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500" b="1">
                <a:solidFill>
                  <a:srgbClr val="17202A"/>
                </a:solidFill>
                <a:latin typeface="Aptos"/>
                <a:ea typeface="Aptos"/>
                <a:cs typeface="Aptos"/>
              </a:defRPr>
            </a:pPr>
            <a:r>
              <a:rPr sz="1500" b="1">
                <a:solidFill>
                  <a:srgbClr val="17202A"/>
                </a:solidFill>
                <a:latin typeface="Aptos"/>
                <a:ea typeface="Aptos"/>
                <a:cs typeface="Aptos"/>
              </a:rPr>
              <a:t>Rolle von Tickets</a:t>
            </a:r>
          </a:p>
        </p:txBody>
      </p:sp>
      <p:sp>
        <p:nvSpPr>
          <p:cNvPr id="6" name="problem-bullets-dot-1">
            <a:extLst xmlns:a="http://schemas.openxmlformats.org/drawingml/2006/main">
              <a:ext uri="{FF2B5EF4-FFF2-40B4-BE49-F238E27FC236}">
                <a16:creationId xmlns:a16="http://schemas.microsoft.com/office/drawing/2014/main" id="{A7B95FF8-9872-43B2-ACEB-822B89C67833}"/>
              </a:ext>
            </a:extLst>
          </p:cNvPr>
          <p:cNvSpPr>
            <a:spLocks xmlns:a="http://schemas.openxmlformats.org/drawingml/2006/main" noGrp="1"/>
          </p:cNvSpPr>
          <p:nvPr/>
        </p:nvSpPr>
        <p:spPr>
          <a:xfrm xmlns:a="http://schemas.openxmlformats.org/drawingml/2006/main">
            <a:off x="914400" y="2505075"/>
            <a:ext cx="95250" cy="95250"/>
          </a:xfrm>
          <a:prstGeom xmlns:a="http://schemas.openxmlformats.org/drawingml/2006/main" prst="ellipse">
            <a:avLst/>
          </a:prstGeom>
          <a:solidFill xmlns:a="http://schemas.openxmlformats.org/drawingml/2006/main">
            <a:srgbClr val="C26A2E"/>
          </a:solidFill>
          <a:ln xmlns:a="http://schemas.openxmlformats.org/drawingml/2006/main" w="0">
            <a:solidFill>
              <a:srgbClr val="C26A2E"/>
            </a:solidFill>
            <a:prstDash val="solid"/>
          </a:ln>
        </p:spPr>
      </p:sp>
      <p:sp>
        <p:nvSpPr>
          <p:cNvPr id="7" name="problem-bullets-text-1">
            <a:extLst xmlns:a="http://schemas.openxmlformats.org/drawingml/2006/main">
              <a:ext uri="{FF2B5EF4-FFF2-40B4-BE49-F238E27FC236}">
                <a16:creationId xmlns:a16="http://schemas.microsoft.com/office/drawing/2014/main" id="{0E5A3593-E695-4B8A-A6BC-B39FF5CE0BB2}"/>
              </a:ext>
            </a:extLst>
          </p:cNvPr>
          <p:cNvSpPr>
            <a:spLocks xmlns:a="http://schemas.openxmlformats.org/drawingml/2006/main" noGrp="1"/>
          </p:cNvSpPr>
          <p:nvPr/>
        </p:nvSpPr>
        <p:spPr>
          <a:xfrm xmlns:a="http://schemas.openxmlformats.org/drawingml/2006/main">
            <a:off x="1143000" y="2419350"/>
            <a:ext cx="4419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575" b="0">
                <a:solidFill>
                  <a:srgbClr val="17202A"/>
                </a:solidFill>
                <a:latin typeface="Aptos"/>
                <a:ea typeface="Aptos"/>
                <a:cs typeface="Aptos"/>
              </a:defRPr>
            </a:pPr>
            <a:r>
              <a:rPr sz="1575" b="0">
                <a:solidFill>
                  <a:srgbClr val="17202A"/>
                </a:solidFill>
                <a:latin typeface="Aptos"/>
                <a:ea typeface="Aptos"/>
                <a:cs typeface="Aptos"/>
              </a:rPr>
              <a:t>Tickets koordinieren Anforderungen, Fehler und fachliche Entscheidungen im Entwicklungsprozess.</a:t>
            </a:r>
          </a:p>
        </p:txBody>
      </p:sp>
      <p:sp>
        <p:nvSpPr>
          <p:cNvPr id="8" name="problem-bullets-dot-2">
            <a:extLst xmlns:a="http://schemas.openxmlformats.org/drawingml/2006/main">
              <a:ext uri="{FF2B5EF4-FFF2-40B4-BE49-F238E27FC236}">
                <a16:creationId xmlns:a16="http://schemas.microsoft.com/office/drawing/2014/main" id="{4F04123E-3553-4346-B7B8-8B5A9930CEAC}"/>
              </a:ext>
            </a:extLst>
          </p:cNvPr>
          <p:cNvSpPr>
            <a:spLocks xmlns:a="http://schemas.openxmlformats.org/drawingml/2006/main" noGrp="1"/>
          </p:cNvSpPr>
          <p:nvPr/>
        </p:nvSpPr>
        <p:spPr>
          <a:xfrm xmlns:a="http://schemas.openxmlformats.org/drawingml/2006/main">
            <a:off x="914400" y="3152775"/>
            <a:ext cx="95250" cy="95250"/>
          </a:xfrm>
          <a:prstGeom xmlns:a="http://schemas.openxmlformats.org/drawingml/2006/main" prst="ellipse">
            <a:avLst/>
          </a:prstGeom>
          <a:solidFill xmlns:a="http://schemas.openxmlformats.org/drawingml/2006/main">
            <a:srgbClr val="C26A2E"/>
          </a:solidFill>
          <a:ln xmlns:a="http://schemas.openxmlformats.org/drawingml/2006/main" w="0">
            <a:solidFill>
              <a:srgbClr val="C26A2E"/>
            </a:solidFill>
            <a:prstDash val="solid"/>
          </a:ln>
        </p:spPr>
      </p:sp>
      <p:sp>
        <p:nvSpPr>
          <p:cNvPr id="9" name="problem-bullets-text-2">
            <a:extLst xmlns:a="http://schemas.openxmlformats.org/drawingml/2006/main">
              <a:ext uri="{FF2B5EF4-FFF2-40B4-BE49-F238E27FC236}">
                <a16:creationId xmlns:a16="http://schemas.microsoft.com/office/drawing/2014/main" id="{0AE99C77-38C0-4F0B-8011-7B4CA6AB7955}"/>
              </a:ext>
            </a:extLst>
          </p:cNvPr>
          <p:cNvSpPr>
            <a:spLocks xmlns:a="http://schemas.openxmlformats.org/drawingml/2006/main" noGrp="1"/>
          </p:cNvSpPr>
          <p:nvPr/>
        </p:nvSpPr>
        <p:spPr>
          <a:xfrm xmlns:a="http://schemas.openxmlformats.org/drawingml/2006/main">
            <a:off x="1143000" y="3067050"/>
            <a:ext cx="44196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575" b="0">
                <a:solidFill>
                  <a:srgbClr val="17202A"/>
                </a:solidFill>
                <a:latin typeface="Aptos"/>
                <a:ea typeface="Aptos"/>
                <a:cs typeface="Aptos"/>
              </a:defRPr>
            </a:pPr>
            <a:r>
              <a:rPr sz="1575" b="0">
                <a:solidFill>
                  <a:srgbClr val="17202A"/>
                </a:solidFill>
                <a:latin typeface="Aptos"/>
                <a:ea typeface="Aptos"/>
                <a:cs typeface="Aptos"/>
              </a:rPr>
              <a:t>Gute Tickets müssen verständlich, eindeutig, prüfbar und ausreichend vollständig sein.</a:t>
            </a:r>
          </a:p>
        </p:txBody>
      </p:sp>
      <p:sp>
        <p:nvSpPr>
          <p:cNvPr id="10" name="problem-bullets-dot-3">
            <a:extLst xmlns:a="http://schemas.openxmlformats.org/drawingml/2006/main">
              <a:ext uri="{FF2B5EF4-FFF2-40B4-BE49-F238E27FC236}">
                <a16:creationId xmlns:a16="http://schemas.microsoft.com/office/drawing/2014/main" id="{FB3C3C1F-A77E-467C-B054-FFEA7108C274}"/>
              </a:ext>
            </a:extLst>
          </p:cNvPr>
          <p:cNvSpPr>
            <a:spLocks xmlns:a="http://schemas.openxmlformats.org/drawingml/2006/main" noGrp="1"/>
          </p:cNvSpPr>
          <p:nvPr/>
        </p:nvSpPr>
        <p:spPr>
          <a:xfrm xmlns:a="http://schemas.openxmlformats.org/drawingml/2006/main">
            <a:off x="914400" y="3743325"/>
            <a:ext cx="95250" cy="95250"/>
          </a:xfrm>
          <a:prstGeom xmlns:a="http://schemas.openxmlformats.org/drawingml/2006/main" prst="ellipse">
            <a:avLst/>
          </a:prstGeom>
          <a:solidFill xmlns:a="http://schemas.openxmlformats.org/drawingml/2006/main">
            <a:srgbClr val="C26A2E"/>
          </a:solidFill>
          <a:ln xmlns:a="http://schemas.openxmlformats.org/drawingml/2006/main" w="0">
            <a:solidFill>
              <a:srgbClr val="C26A2E"/>
            </a:solidFill>
            <a:prstDash val="solid"/>
          </a:ln>
        </p:spPr>
      </p:sp>
      <p:sp>
        <p:nvSpPr>
          <p:cNvPr id="11" name="problem-bullets-text-3">
            <a:extLst xmlns:a="http://schemas.openxmlformats.org/drawingml/2006/main">
              <a:ext uri="{FF2B5EF4-FFF2-40B4-BE49-F238E27FC236}">
                <a16:creationId xmlns:a16="http://schemas.microsoft.com/office/drawing/2014/main" id="{2CBB0809-0E96-490F-AAD6-D3502C1C71D2}"/>
              </a:ext>
            </a:extLst>
          </p:cNvPr>
          <p:cNvSpPr>
            <a:spLocks xmlns:a="http://schemas.openxmlformats.org/drawingml/2006/main" noGrp="1"/>
          </p:cNvSpPr>
          <p:nvPr/>
        </p:nvSpPr>
        <p:spPr>
          <a:xfrm xmlns:a="http://schemas.openxmlformats.org/drawingml/2006/main">
            <a:off x="1143000" y="3657600"/>
            <a:ext cx="4419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575" b="0">
                <a:solidFill>
                  <a:srgbClr val="17202A"/>
                </a:solidFill>
                <a:latin typeface="Aptos"/>
                <a:ea typeface="Aptos"/>
                <a:cs typeface="Aptos"/>
              </a:defRPr>
            </a:pPr>
            <a:r>
              <a:rPr sz="1575" b="0">
                <a:solidFill>
                  <a:srgbClr val="17202A"/>
                </a:solidFill>
                <a:latin typeface="Aptos"/>
                <a:ea typeface="Aptos"/>
                <a:cs typeface="Aptos"/>
              </a:rPr>
              <a:t>In GitLab entsteht Kontext über Beschreibung, Kommentare und Anhänge verteilt.</a:t>
            </a:r>
          </a:p>
        </p:txBody>
      </p:sp>
      <p:sp>
        <p:nvSpPr>
          <p:cNvPr id="12" name="idea-label-rule">
            <a:extLst xmlns:a="http://schemas.openxmlformats.org/drawingml/2006/main">
              <a:ext uri="{FF2B5EF4-FFF2-40B4-BE49-F238E27FC236}">
                <a16:creationId xmlns:a16="http://schemas.microsoft.com/office/drawing/2014/main" id="{AE5EB914-D2C9-4BA6-9C2F-AD21D1877A89}"/>
              </a:ext>
            </a:extLst>
          </p:cNvPr>
          <p:cNvSpPr>
            <a:spLocks xmlns:a="http://schemas.openxmlformats.org/drawingml/2006/main" noGrp="1"/>
          </p:cNvSpPr>
          <p:nvPr/>
        </p:nvSpPr>
        <p:spPr>
          <a:xfrm xmlns:a="http://schemas.openxmlformats.org/drawingml/2006/main">
            <a:off x="6419850" y="2000250"/>
            <a:ext cx="266700" cy="38100"/>
          </a:xfrm>
          <a:prstGeom xmlns:a="http://schemas.openxmlformats.org/drawingml/2006/main" prst="rect">
            <a:avLst/>
          </a:prstGeom>
          <a:solidFill xmlns:a="http://schemas.openxmlformats.org/drawingml/2006/main">
            <a:srgbClr val="1F6F78"/>
          </a:solidFill>
          <a:ln xmlns:a="http://schemas.openxmlformats.org/drawingml/2006/main" w="0">
            <a:solidFill>
              <a:srgbClr val="1F6F78"/>
            </a:solidFill>
            <a:prstDash val="solid"/>
          </a:ln>
        </p:spPr>
      </p:sp>
      <p:sp>
        <p:nvSpPr>
          <p:cNvPr id="13" name="idea-label">
            <a:extLst xmlns:a="http://schemas.openxmlformats.org/drawingml/2006/main">
              <a:ext uri="{FF2B5EF4-FFF2-40B4-BE49-F238E27FC236}">
                <a16:creationId xmlns:a16="http://schemas.microsoft.com/office/drawing/2014/main" id="{28676AA1-2B0A-4B6C-A118-2900BCA267DE}"/>
              </a:ext>
            </a:extLst>
          </p:cNvPr>
          <p:cNvSpPr>
            <a:spLocks xmlns:a="http://schemas.openxmlformats.org/drawingml/2006/main" noGrp="1"/>
          </p:cNvSpPr>
          <p:nvPr/>
        </p:nvSpPr>
        <p:spPr>
          <a:xfrm xmlns:a="http://schemas.openxmlformats.org/drawingml/2006/main">
            <a:off x="6838950" y="1924050"/>
            <a:ext cx="400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500" b="1">
                <a:solidFill>
                  <a:srgbClr val="17202A"/>
                </a:solidFill>
                <a:latin typeface="Aptos"/>
                <a:ea typeface="Aptos"/>
                <a:cs typeface="Aptos"/>
              </a:defRPr>
            </a:pPr>
            <a:r>
              <a:rPr sz="1500" b="1">
                <a:solidFill>
                  <a:srgbClr val="17202A"/>
                </a:solidFill>
                <a:latin typeface="Aptos"/>
                <a:ea typeface="Aptos"/>
                <a:cs typeface="Aptos"/>
              </a:rPr>
              <a:t>Konsequenz</a:t>
            </a:r>
          </a:p>
        </p:txBody>
      </p:sp>
      <p:sp>
        <p:nvSpPr>
          <p:cNvPr id="14" name="idea-main">
            <a:extLst xmlns:a="http://schemas.openxmlformats.org/drawingml/2006/main">
              <a:ext uri="{FF2B5EF4-FFF2-40B4-BE49-F238E27FC236}">
                <a16:creationId xmlns:a16="http://schemas.microsoft.com/office/drawing/2014/main" id="{8EB48DAA-A25D-4B7D-9D00-72238C6BD67B}"/>
              </a:ext>
            </a:extLst>
          </p:cNvPr>
          <p:cNvSpPr>
            <a:spLocks xmlns:a="http://schemas.openxmlformats.org/drawingml/2006/main" noGrp="1"/>
          </p:cNvSpPr>
          <p:nvPr/>
        </p:nvSpPr>
        <p:spPr>
          <a:xfrm xmlns:a="http://schemas.openxmlformats.org/drawingml/2006/main">
            <a:off x="6838950" y="2419350"/>
            <a:ext cx="4095750" cy="1485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800" b="0">
                <a:solidFill>
                  <a:srgbClr val="17202A"/>
                </a:solidFill>
                <a:latin typeface="Aptos"/>
                <a:ea typeface="Aptos"/>
                <a:cs typeface="Aptos"/>
              </a:defRPr>
            </a:pPr>
            <a:r>
              <a:rPr sz="1800" b="0">
                <a:solidFill>
                  <a:srgbClr val="17202A"/>
                </a:solidFill>
                <a:latin typeface="Aptos"/>
                <a:ea typeface="Aptos"/>
                <a:cs typeface="Aptos"/>
              </a:rPr>
              <a:t>Wenn zentrale Informationen fehlen, verschiebt sich Aufwand in Rückfragen, Interpretation und manuelle Kontextsuche.</a:t>
            </a:r>
          </a:p>
        </p:txBody>
      </p:sp>
      <p:sp>
        <p:nvSpPr>
          <p:cNvPr id="15" name="idea-note">
            <a:extLst xmlns:a="http://schemas.openxmlformats.org/drawingml/2006/main">
              <a:ext uri="{FF2B5EF4-FFF2-40B4-BE49-F238E27FC236}">
                <a16:creationId xmlns:a16="http://schemas.microsoft.com/office/drawing/2014/main" id="{F9854494-CD07-4BD1-BEA1-51171E9C3240}"/>
              </a:ext>
            </a:extLst>
          </p:cNvPr>
          <p:cNvSpPr>
            <a:spLocks xmlns:a="http://schemas.openxmlformats.org/drawingml/2006/main" noGrp="1"/>
          </p:cNvSpPr>
          <p:nvPr/>
        </p:nvSpPr>
        <p:spPr>
          <a:xfrm xmlns:a="http://schemas.openxmlformats.org/drawingml/2006/main">
            <a:off x="6838950" y="4191000"/>
            <a:ext cx="4095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575" b="1">
                <a:solidFill>
                  <a:srgbClr val="1F6F78"/>
                </a:solidFill>
                <a:latin typeface="Aptos"/>
                <a:ea typeface="Aptos"/>
                <a:cs typeface="Aptos"/>
              </a:defRPr>
            </a:pPr>
            <a:r>
              <a:rPr sz="1575" b="1">
                <a:solidFill>
                  <a:srgbClr val="1F6F78"/>
                </a:solidFill>
                <a:latin typeface="Aptos"/>
                <a:ea typeface="Aptos"/>
                <a:cs typeface="Aptos"/>
              </a:rPr>
              <a:t>Der Assistent setzt dort an: Kontext bündeln, Lücken sichtbar machen und strukturierte Vorschläge vorbereiten.</a:t>
            </a:r>
          </a:p>
        </p:txBody>
      </p:sp>
      <p:sp>
        <p:nvSpPr>
          <p:cNvPr id="16" name="footer-left-2">
            <a:extLst xmlns:a="http://schemas.openxmlformats.org/drawingml/2006/main">
              <a:ext uri="{FF2B5EF4-FFF2-40B4-BE49-F238E27FC236}">
                <a16:creationId xmlns:a16="http://schemas.microsoft.com/office/drawing/2014/main" id="{2FCE6729-B8E3-4AEC-98B6-BB196CD584A1}"/>
              </a:ext>
            </a:extLst>
          </p:cNvPr>
          <p:cNvSpPr>
            <a:spLocks xmlns:a="http://schemas.openxmlformats.org/drawingml/2006/main" noGrp="1"/>
          </p:cNvSpPr>
          <p:nvPr/>
        </p:nvSpPr>
        <p:spPr>
          <a:xfrm xmlns:a="http://schemas.openxmlformats.org/drawingml/2006/main">
            <a:off x="723900" y="63436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75" b="0">
                <a:solidFill>
                  <a:srgbClr val="5B6470"/>
                </a:solidFill>
                <a:latin typeface="Aptos"/>
                <a:ea typeface="Aptos"/>
                <a:cs typeface="Aptos"/>
              </a:defRPr>
            </a:pPr>
            <a:r>
              <a:rPr sz="975" b="0">
                <a:solidFill>
                  <a:srgbClr val="5B6470"/>
                </a:solidFill>
                <a:latin typeface="Aptos"/>
                <a:ea typeface="Aptos"/>
                <a:cs typeface="Aptos"/>
              </a:rPr>
              <a:t>Projektvorstellung für den Zweitgutachter</a:t>
            </a:r>
          </a:p>
        </p:txBody>
      </p:sp>
      <p:sp>
        <p:nvSpPr>
          <p:cNvPr id="17" name="footer-right-2">
            <a:extLst xmlns:a="http://schemas.openxmlformats.org/drawingml/2006/main">
              <a:ext uri="{FF2B5EF4-FFF2-40B4-BE49-F238E27FC236}">
                <a16:creationId xmlns:a16="http://schemas.microsoft.com/office/drawing/2014/main" id="{1FD878C4-73BD-4EEF-A2D3-4BB2E00F04C2}"/>
              </a:ext>
            </a:extLst>
          </p:cNvPr>
          <p:cNvSpPr>
            <a:spLocks xmlns:a="http://schemas.openxmlformats.org/drawingml/2006/main" noGrp="1"/>
          </p:cNvSpPr>
          <p:nvPr/>
        </p:nvSpPr>
        <p:spPr>
          <a:xfrm xmlns:a="http://schemas.openxmlformats.org/drawingml/2006/main">
            <a:off x="10934700" y="6286500"/>
            <a:ext cx="533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1200" b="1">
                <a:solidFill>
                  <a:srgbClr val="5B6470"/>
                </a:solidFill>
                <a:latin typeface="Aptos"/>
                <a:ea typeface="Aptos"/>
                <a:cs typeface="Aptos"/>
              </a:defRPr>
            </a:pPr>
            <a:r>
              <a:rPr sz="1200" b="1">
                <a:solidFill>
                  <a:srgbClr val="5B6470"/>
                </a:solidFill>
                <a:latin typeface="Aptos"/>
                <a:ea typeface="Aptos"/>
                <a:cs typeface="Aptos"/>
              </a:rPr>
              <a:t>02</a:t>
            </a:r>
          </a:p>
        </p:txBody>
      </p:sp>
    </p:spTree>
    <p:extLst>
      <p:ext uri="{BB962C8B-B14F-4D97-AF65-F5344CB8AC3E}">
        <p14:creationId xmlns:p14="http://schemas.microsoft.com/office/powerpoint/2010/main" val="1479781866"/>
      </p:ext>
    </p:extLst>
  </p:cSld>
</p:sld>
</file>

<file path=ppt/slides/slide3.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 name="kicker-2">
            <a:extLst xmlns:a="http://schemas.openxmlformats.org/drawingml/2006/main">
              <a:ext uri="{FF2B5EF4-FFF2-40B4-BE49-F238E27FC236}">
                <a16:creationId xmlns:a16="http://schemas.microsoft.com/office/drawing/2014/main" id="{F276C1A2-76C7-4611-B3DF-35F3944CF7D4}"/>
              </a:ext>
            </a:extLst>
          </p:cNvPr>
          <p:cNvSpPr>
            <a:spLocks xmlns:a="http://schemas.openxmlformats.org/drawingml/2006/main" noGrp="1"/>
          </p:cNvSpPr>
          <p:nvPr/>
        </p:nvSpPr>
        <p:spPr>
          <a:xfrm xmlns:a="http://schemas.openxmlformats.org/drawingml/2006/main">
            <a:off x="723900" y="457200"/>
            <a:ext cx="723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125" b="1">
                <a:solidFill>
                  <a:srgbClr val="1F6F78"/>
                </a:solidFill>
                <a:latin typeface="Aptos"/>
                <a:ea typeface="Aptos"/>
                <a:cs typeface="Aptos"/>
              </a:defRPr>
            </a:pPr>
            <a:r>
              <a:rPr sz="1125" b="1">
                <a:solidFill>
                  <a:srgbClr val="1F6F78"/>
                </a:solidFill>
                <a:latin typeface="Aptos"/>
                <a:ea typeface="Aptos"/>
                <a:cs typeface="Aptos"/>
              </a:rPr>
              <a:t>GITLAB DEV-ASSIST</a:t>
            </a:r>
          </a:p>
        </p:txBody>
      </p:sp>
      <p:sp>
        <p:nvSpPr>
          <p:cNvPr id="2" name="title-2">
            <a:extLst xmlns:a="http://schemas.openxmlformats.org/drawingml/2006/main">
              <a:ext uri="{FF2B5EF4-FFF2-40B4-BE49-F238E27FC236}">
                <a16:creationId xmlns:a16="http://schemas.microsoft.com/office/drawing/2014/main" id="{0C70BC36-119E-403D-A599-40A460739E3C}"/>
              </a:ext>
            </a:extLst>
          </p:cNvPr>
          <p:cNvSpPr>
            <a:spLocks xmlns:a="http://schemas.openxmlformats.org/drawingml/2006/main" noGrp="1"/>
          </p:cNvSpPr>
          <p:nvPr/>
        </p:nvSpPr>
        <p:spPr>
          <a:xfrm xmlns:a="http://schemas.openxmlformats.org/drawingml/2006/main">
            <a:off x="723900" y="800100"/>
            <a:ext cx="8763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850" b="1">
                <a:solidFill>
                  <a:srgbClr val="17202A"/>
                </a:solidFill>
                <a:latin typeface="Aptos Display"/>
                <a:ea typeface="Aptos Display"/>
                <a:cs typeface="Aptos Display"/>
              </a:defRPr>
            </a:pPr>
            <a:r>
              <a:rPr sz="2850" b="1">
                <a:solidFill>
                  <a:srgbClr val="17202A"/>
                </a:solidFill>
                <a:latin typeface="Aptos Display"/>
                <a:ea typeface="Aptos Display"/>
                <a:cs typeface="Aptos Display"/>
              </a:rPr>
              <a:t>Problem im GitLab-Issue-Prozess</a:t>
            </a:r>
          </a:p>
        </p:txBody>
      </p:sp>
      <p:sp>
        <p:nvSpPr>
          <p:cNvPr id="3" name="title-rule-2">
            <a:extLst xmlns:a="http://schemas.openxmlformats.org/drawingml/2006/main">
              <a:ext uri="{FF2B5EF4-FFF2-40B4-BE49-F238E27FC236}">
                <a16:creationId xmlns:a16="http://schemas.microsoft.com/office/drawing/2014/main" id="{ADAD2D20-EE90-45A7-B63C-E7F94B8F02A0}"/>
              </a:ext>
            </a:extLst>
          </p:cNvPr>
          <p:cNvSpPr>
            <a:spLocks xmlns:a="http://schemas.openxmlformats.org/drawingml/2006/main" noGrp="1"/>
          </p:cNvSpPr>
          <p:nvPr/>
        </p:nvSpPr>
        <p:spPr>
          <a:xfrm xmlns:a="http://schemas.openxmlformats.org/drawingml/2006/main">
            <a:off x="723900" y="1466850"/>
            <a:ext cx="10744200" cy="19050"/>
          </a:xfrm>
          <a:prstGeom xmlns:a="http://schemas.openxmlformats.org/drawingml/2006/main" prst="rect">
            <a:avLst/>
          </a:prstGeom>
          <a:solidFill xmlns:a="http://schemas.openxmlformats.org/drawingml/2006/main">
            <a:srgbClr val="E6EBF1"/>
          </a:solidFill>
          <a:ln xmlns:a="http://schemas.openxmlformats.org/drawingml/2006/main" w="0">
            <a:solidFill>
              <a:srgbClr val="E6EBF1"/>
            </a:solidFill>
            <a:prstDash val="solid"/>
          </a:ln>
        </p:spPr>
      </p:sp>
      <p:sp>
        <p:nvSpPr>
          <p:cNvPr id="4" name="problem-label-rule">
            <a:extLst xmlns:a="http://schemas.openxmlformats.org/drawingml/2006/main">
              <a:ext uri="{FF2B5EF4-FFF2-40B4-BE49-F238E27FC236}">
                <a16:creationId xmlns:a16="http://schemas.microsoft.com/office/drawing/2014/main" id="{E59807B7-D1BD-47DF-B138-B1DEBDAFAC89}"/>
              </a:ext>
            </a:extLst>
          </p:cNvPr>
          <p:cNvSpPr>
            <a:spLocks xmlns:a="http://schemas.openxmlformats.org/drawingml/2006/main" noGrp="1"/>
          </p:cNvSpPr>
          <p:nvPr/>
        </p:nvSpPr>
        <p:spPr>
          <a:xfrm xmlns:a="http://schemas.openxmlformats.org/drawingml/2006/main">
            <a:off x="857250" y="2000250"/>
            <a:ext cx="266700" cy="38100"/>
          </a:xfrm>
          <a:prstGeom xmlns:a="http://schemas.openxmlformats.org/drawingml/2006/main" prst="rect">
            <a:avLst/>
          </a:prstGeom>
          <a:solidFill xmlns:a="http://schemas.openxmlformats.org/drawingml/2006/main">
            <a:srgbClr val="C26A2E"/>
          </a:solidFill>
          <a:ln xmlns:a="http://schemas.openxmlformats.org/drawingml/2006/main" w="0">
            <a:solidFill>
              <a:srgbClr val="C26A2E"/>
            </a:solidFill>
            <a:prstDash val="solid"/>
          </a:ln>
        </p:spPr>
      </p:sp>
      <p:sp>
        <p:nvSpPr>
          <p:cNvPr id="5" name="problem-label">
            <a:extLst xmlns:a="http://schemas.openxmlformats.org/drawingml/2006/main">
              <a:ext uri="{FF2B5EF4-FFF2-40B4-BE49-F238E27FC236}">
                <a16:creationId xmlns:a16="http://schemas.microsoft.com/office/drawing/2014/main" id="{80FF077D-DAF1-460E-9690-B8B7A30177AF}"/>
              </a:ext>
            </a:extLst>
          </p:cNvPr>
          <p:cNvSpPr>
            <a:spLocks xmlns:a="http://schemas.openxmlformats.org/drawingml/2006/main" noGrp="1"/>
          </p:cNvSpPr>
          <p:nvPr/>
        </p:nvSpPr>
        <p:spPr>
          <a:xfrm xmlns:a="http://schemas.openxmlformats.org/drawingml/2006/main">
            <a:off x="1276350" y="1924050"/>
            <a:ext cx="400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500" b="1">
                <a:solidFill>
                  <a:srgbClr val="17202A"/>
                </a:solidFill>
                <a:latin typeface="Aptos"/>
                <a:ea typeface="Aptos"/>
                <a:cs typeface="Aptos"/>
              </a:defRPr>
            </a:pPr>
            <a:r>
              <a:rPr sz="1500" b="1">
                <a:solidFill>
                  <a:srgbClr val="17202A"/>
                </a:solidFill>
                <a:latin typeface="Aptos"/>
                <a:ea typeface="Aptos"/>
                <a:cs typeface="Aptos"/>
              </a:rPr>
              <a:t>Typische Informationslücken</a:t>
            </a:r>
          </a:p>
        </p:txBody>
      </p:sp>
      <p:sp>
        <p:nvSpPr>
          <p:cNvPr id="6" name="problem-bullets-dot-1">
            <a:extLst xmlns:a="http://schemas.openxmlformats.org/drawingml/2006/main">
              <a:ext uri="{FF2B5EF4-FFF2-40B4-BE49-F238E27FC236}">
                <a16:creationId xmlns:a16="http://schemas.microsoft.com/office/drawing/2014/main" id="{A7B95FF8-9872-43B2-ACEB-822B89C67833}"/>
              </a:ext>
            </a:extLst>
          </p:cNvPr>
          <p:cNvSpPr>
            <a:spLocks xmlns:a="http://schemas.openxmlformats.org/drawingml/2006/main" noGrp="1"/>
          </p:cNvSpPr>
          <p:nvPr/>
        </p:nvSpPr>
        <p:spPr>
          <a:xfrm xmlns:a="http://schemas.openxmlformats.org/drawingml/2006/main">
            <a:off x="914400" y="2505075"/>
            <a:ext cx="95250" cy="95250"/>
          </a:xfrm>
          <a:prstGeom xmlns:a="http://schemas.openxmlformats.org/drawingml/2006/main" prst="ellipse">
            <a:avLst/>
          </a:prstGeom>
          <a:solidFill xmlns:a="http://schemas.openxmlformats.org/drawingml/2006/main">
            <a:srgbClr val="C26A2E"/>
          </a:solidFill>
          <a:ln xmlns:a="http://schemas.openxmlformats.org/drawingml/2006/main" w="0">
            <a:solidFill>
              <a:srgbClr val="C26A2E"/>
            </a:solidFill>
            <a:prstDash val="solid"/>
          </a:ln>
        </p:spPr>
      </p:sp>
      <p:sp>
        <p:nvSpPr>
          <p:cNvPr id="7" name="problem-bullets-text-1">
            <a:extLst xmlns:a="http://schemas.openxmlformats.org/drawingml/2006/main">
              <a:ext uri="{FF2B5EF4-FFF2-40B4-BE49-F238E27FC236}">
                <a16:creationId xmlns:a16="http://schemas.microsoft.com/office/drawing/2014/main" id="{0E5A3593-E695-4B8A-A6BC-B39FF5CE0BB2}"/>
              </a:ext>
            </a:extLst>
          </p:cNvPr>
          <p:cNvSpPr>
            <a:spLocks xmlns:a="http://schemas.openxmlformats.org/drawingml/2006/main" noGrp="1"/>
          </p:cNvSpPr>
          <p:nvPr/>
        </p:nvSpPr>
        <p:spPr>
          <a:xfrm xmlns:a="http://schemas.openxmlformats.org/drawingml/2006/main">
            <a:off x="1143000" y="2419350"/>
            <a:ext cx="4419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575" b="0">
                <a:solidFill>
                  <a:srgbClr val="17202A"/>
                </a:solidFill>
                <a:latin typeface="Aptos"/>
                <a:ea typeface="Aptos"/>
                <a:cs typeface="Aptos"/>
              </a:defRPr>
            </a:pPr>
            <a:r>
              <a:rPr sz="1575" b="0">
                <a:solidFill>
                  <a:srgbClr val="17202A"/>
                </a:solidFill>
                <a:latin typeface="Aptos"/>
                <a:ea typeface="Aptos"/>
                <a:cs typeface="Aptos"/>
              </a:rPr>
              <a:t>Reproduktionsschritte, erwartetes Verhalten oder Logs fehlen.</a:t>
            </a:r>
          </a:p>
        </p:txBody>
      </p:sp>
      <p:sp>
        <p:nvSpPr>
          <p:cNvPr id="8" name="problem-bullets-dot-2">
            <a:extLst xmlns:a="http://schemas.openxmlformats.org/drawingml/2006/main">
              <a:ext uri="{FF2B5EF4-FFF2-40B4-BE49-F238E27FC236}">
                <a16:creationId xmlns:a16="http://schemas.microsoft.com/office/drawing/2014/main" id="{4F04123E-3553-4346-B7B8-8B5A9930CEAC}"/>
              </a:ext>
            </a:extLst>
          </p:cNvPr>
          <p:cNvSpPr>
            <a:spLocks xmlns:a="http://schemas.openxmlformats.org/drawingml/2006/main" noGrp="1"/>
          </p:cNvSpPr>
          <p:nvPr/>
        </p:nvSpPr>
        <p:spPr>
          <a:xfrm xmlns:a="http://schemas.openxmlformats.org/drawingml/2006/main">
            <a:off x="914400" y="3152775"/>
            <a:ext cx="95250" cy="95250"/>
          </a:xfrm>
          <a:prstGeom xmlns:a="http://schemas.openxmlformats.org/drawingml/2006/main" prst="ellipse">
            <a:avLst/>
          </a:prstGeom>
          <a:solidFill xmlns:a="http://schemas.openxmlformats.org/drawingml/2006/main">
            <a:srgbClr val="C26A2E"/>
          </a:solidFill>
          <a:ln xmlns:a="http://schemas.openxmlformats.org/drawingml/2006/main" w="0">
            <a:solidFill>
              <a:srgbClr val="C26A2E"/>
            </a:solidFill>
            <a:prstDash val="solid"/>
          </a:ln>
        </p:spPr>
      </p:sp>
      <p:sp>
        <p:nvSpPr>
          <p:cNvPr id="9" name="problem-bullets-text-2">
            <a:extLst xmlns:a="http://schemas.openxmlformats.org/drawingml/2006/main">
              <a:ext uri="{FF2B5EF4-FFF2-40B4-BE49-F238E27FC236}">
                <a16:creationId xmlns:a16="http://schemas.microsoft.com/office/drawing/2014/main" id="{0AE99C77-38C0-4F0B-8011-7B4CA6AB7955}"/>
              </a:ext>
            </a:extLst>
          </p:cNvPr>
          <p:cNvSpPr>
            <a:spLocks xmlns:a="http://schemas.openxmlformats.org/drawingml/2006/main" noGrp="1"/>
          </p:cNvSpPr>
          <p:nvPr/>
        </p:nvSpPr>
        <p:spPr>
          <a:xfrm xmlns:a="http://schemas.openxmlformats.org/drawingml/2006/main">
            <a:off x="1143000" y="3067050"/>
            <a:ext cx="44196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575" b="0">
                <a:solidFill>
                  <a:srgbClr val="17202A"/>
                </a:solidFill>
                <a:latin typeface="Aptos"/>
                <a:ea typeface="Aptos"/>
                <a:cs typeface="Aptos"/>
              </a:defRPr>
            </a:pPr>
            <a:r>
              <a:rPr sz="1575" b="0">
                <a:solidFill>
                  <a:srgbClr val="17202A"/>
                </a:solidFill>
                <a:latin typeface="Aptos"/>
                <a:ea typeface="Aptos"/>
                <a:cs typeface="Aptos"/>
              </a:rPr>
              <a:t>Akzeptanzkriterien sind oft nicht explizit oder nicht prüfbar formuliert.</a:t>
            </a:r>
          </a:p>
        </p:txBody>
      </p:sp>
      <p:sp>
        <p:nvSpPr>
          <p:cNvPr id="10" name="problem-bullets-dot-3">
            <a:extLst xmlns:a="http://schemas.openxmlformats.org/drawingml/2006/main">
              <a:ext uri="{FF2B5EF4-FFF2-40B4-BE49-F238E27FC236}">
                <a16:creationId xmlns:a16="http://schemas.microsoft.com/office/drawing/2014/main" id="{FB3C3C1F-A77E-467C-B054-FFEA7108C274}"/>
              </a:ext>
            </a:extLst>
          </p:cNvPr>
          <p:cNvSpPr>
            <a:spLocks xmlns:a="http://schemas.openxmlformats.org/drawingml/2006/main" noGrp="1"/>
          </p:cNvSpPr>
          <p:nvPr/>
        </p:nvSpPr>
        <p:spPr>
          <a:xfrm xmlns:a="http://schemas.openxmlformats.org/drawingml/2006/main">
            <a:off x="914400" y="3743325"/>
            <a:ext cx="95250" cy="95250"/>
          </a:xfrm>
          <a:prstGeom xmlns:a="http://schemas.openxmlformats.org/drawingml/2006/main" prst="ellipse">
            <a:avLst/>
          </a:prstGeom>
          <a:solidFill xmlns:a="http://schemas.openxmlformats.org/drawingml/2006/main">
            <a:srgbClr val="C26A2E"/>
          </a:solidFill>
          <a:ln xmlns:a="http://schemas.openxmlformats.org/drawingml/2006/main" w="0">
            <a:solidFill>
              <a:srgbClr val="C26A2E"/>
            </a:solidFill>
            <a:prstDash val="solid"/>
          </a:ln>
        </p:spPr>
      </p:sp>
      <p:sp>
        <p:nvSpPr>
          <p:cNvPr id="11" name="problem-bullets-text-3">
            <a:extLst xmlns:a="http://schemas.openxmlformats.org/drawingml/2006/main">
              <a:ext uri="{FF2B5EF4-FFF2-40B4-BE49-F238E27FC236}">
                <a16:creationId xmlns:a16="http://schemas.microsoft.com/office/drawing/2014/main" id="{2CBB0809-0E96-490F-AAD6-D3502C1C71D2}"/>
              </a:ext>
            </a:extLst>
          </p:cNvPr>
          <p:cNvSpPr>
            <a:spLocks xmlns:a="http://schemas.openxmlformats.org/drawingml/2006/main" noGrp="1"/>
          </p:cNvSpPr>
          <p:nvPr/>
        </p:nvSpPr>
        <p:spPr>
          <a:xfrm xmlns:a="http://schemas.openxmlformats.org/drawingml/2006/main">
            <a:off x="1143000" y="3657600"/>
            <a:ext cx="4419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575" b="0">
                <a:solidFill>
                  <a:srgbClr val="17202A"/>
                </a:solidFill>
                <a:latin typeface="Aptos"/>
                <a:ea typeface="Aptos"/>
                <a:cs typeface="Aptos"/>
              </a:defRPr>
            </a:pPr>
            <a:r>
              <a:rPr sz="1575" b="0">
                <a:solidFill>
                  <a:srgbClr val="17202A"/>
                </a:solidFill>
                <a:latin typeface="Aptos"/>
                <a:ea typeface="Aptos"/>
                <a:cs typeface="Aptos"/>
              </a:rPr>
              <a:t>Screenshots und Hinweise stehen verteilt in späteren Kommentaren.</a:t>
            </a:r>
          </a:p>
        </p:txBody>
      </p:sp>
      <p:sp>
        <p:nvSpPr>
          <p:cNvPr id="12" name="idea-label-rule">
            <a:extLst xmlns:a="http://schemas.openxmlformats.org/drawingml/2006/main">
              <a:ext uri="{FF2B5EF4-FFF2-40B4-BE49-F238E27FC236}">
                <a16:creationId xmlns:a16="http://schemas.microsoft.com/office/drawing/2014/main" id="{AE5EB914-D2C9-4BA6-9C2F-AD21D1877A89}"/>
              </a:ext>
            </a:extLst>
          </p:cNvPr>
          <p:cNvSpPr>
            <a:spLocks xmlns:a="http://schemas.openxmlformats.org/drawingml/2006/main" noGrp="1"/>
          </p:cNvSpPr>
          <p:nvPr/>
        </p:nvSpPr>
        <p:spPr>
          <a:xfrm xmlns:a="http://schemas.openxmlformats.org/drawingml/2006/main">
            <a:off x="6419850" y="2000250"/>
            <a:ext cx="266700" cy="38100"/>
          </a:xfrm>
          <a:prstGeom xmlns:a="http://schemas.openxmlformats.org/drawingml/2006/main" prst="rect">
            <a:avLst/>
          </a:prstGeom>
          <a:solidFill xmlns:a="http://schemas.openxmlformats.org/drawingml/2006/main">
            <a:srgbClr val="1F6F78"/>
          </a:solidFill>
          <a:ln xmlns:a="http://schemas.openxmlformats.org/drawingml/2006/main" w="0">
            <a:solidFill>
              <a:srgbClr val="1F6F78"/>
            </a:solidFill>
            <a:prstDash val="solid"/>
          </a:ln>
        </p:spPr>
      </p:sp>
      <p:sp>
        <p:nvSpPr>
          <p:cNvPr id="13" name="idea-label">
            <a:extLst xmlns:a="http://schemas.openxmlformats.org/drawingml/2006/main">
              <a:ext uri="{FF2B5EF4-FFF2-40B4-BE49-F238E27FC236}">
                <a16:creationId xmlns:a16="http://schemas.microsoft.com/office/drawing/2014/main" id="{28676AA1-2B0A-4B6C-A118-2900BCA267DE}"/>
              </a:ext>
            </a:extLst>
          </p:cNvPr>
          <p:cNvSpPr>
            <a:spLocks xmlns:a="http://schemas.openxmlformats.org/drawingml/2006/main" noGrp="1"/>
          </p:cNvSpPr>
          <p:nvPr/>
        </p:nvSpPr>
        <p:spPr>
          <a:xfrm xmlns:a="http://schemas.openxmlformats.org/drawingml/2006/main">
            <a:off x="6838950" y="1924050"/>
            <a:ext cx="400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500" b="1">
                <a:solidFill>
                  <a:srgbClr val="17202A"/>
                </a:solidFill>
                <a:latin typeface="Aptos"/>
                <a:ea typeface="Aptos"/>
                <a:cs typeface="Aptos"/>
              </a:defRPr>
            </a:pPr>
            <a:r>
              <a:rPr sz="1500" b="1">
                <a:solidFill>
                  <a:srgbClr val="17202A"/>
                </a:solidFill>
                <a:latin typeface="Aptos"/>
                <a:ea typeface="Aptos"/>
                <a:cs typeface="Aptos"/>
              </a:rPr>
              <a:t>Auswirkung</a:t>
            </a:r>
          </a:p>
        </p:txBody>
      </p:sp>
      <p:sp>
        <p:nvSpPr>
          <p:cNvPr id="14" name="idea-main">
            <a:extLst xmlns:a="http://schemas.openxmlformats.org/drawingml/2006/main">
              <a:ext uri="{FF2B5EF4-FFF2-40B4-BE49-F238E27FC236}">
                <a16:creationId xmlns:a16="http://schemas.microsoft.com/office/drawing/2014/main" id="{8EB48DAA-A25D-4B7D-9D00-72238C6BD67B}"/>
              </a:ext>
            </a:extLst>
          </p:cNvPr>
          <p:cNvSpPr>
            <a:spLocks xmlns:a="http://schemas.openxmlformats.org/drawingml/2006/main" noGrp="1"/>
          </p:cNvSpPr>
          <p:nvPr/>
        </p:nvSpPr>
        <p:spPr>
          <a:xfrm xmlns:a="http://schemas.openxmlformats.org/drawingml/2006/main">
            <a:off x="6838950" y="2419350"/>
            <a:ext cx="4095750" cy="1485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800" b="0">
                <a:solidFill>
                  <a:srgbClr val="17202A"/>
                </a:solidFill>
                <a:latin typeface="Aptos"/>
                <a:ea typeface="Aptos"/>
                <a:cs typeface="Aptos"/>
              </a:defRPr>
            </a:pPr>
            <a:r>
              <a:rPr sz="1800" b="0">
                <a:solidFill>
                  <a:srgbClr val="17202A"/>
                </a:solidFill>
                <a:latin typeface="Aptos"/>
                <a:ea typeface="Aptos"/>
                <a:cs typeface="Aptos"/>
              </a:rPr>
              <a:t>Entwickler starten nicht mit einer klaren Aufgabe, sondern müssen zuerst die eigentliche Anforderung rekonstruieren.</a:t>
            </a:r>
          </a:p>
        </p:txBody>
      </p:sp>
      <p:sp>
        <p:nvSpPr>
          <p:cNvPr id="15" name="idea-note">
            <a:extLst xmlns:a="http://schemas.openxmlformats.org/drawingml/2006/main">
              <a:ext uri="{FF2B5EF4-FFF2-40B4-BE49-F238E27FC236}">
                <a16:creationId xmlns:a16="http://schemas.microsoft.com/office/drawing/2014/main" id="{F9854494-CD07-4BD1-BEA1-51171E9C3240}"/>
              </a:ext>
            </a:extLst>
          </p:cNvPr>
          <p:cNvSpPr>
            <a:spLocks xmlns:a="http://schemas.openxmlformats.org/drawingml/2006/main" noGrp="1"/>
          </p:cNvSpPr>
          <p:nvPr/>
        </p:nvSpPr>
        <p:spPr>
          <a:xfrm xmlns:a="http://schemas.openxmlformats.org/drawingml/2006/main">
            <a:off x="6838950" y="4191000"/>
            <a:ext cx="4095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575" b="1">
                <a:solidFill>
                  <a:srgbClr val="1F6F78"/>
                </a:solidFill>
                <a:latin typeface="Aptos"/>
                <a:ea typeface="Aptos"/>
                <a:cs typeface="Aptos"/>
              </a:defRPr>
            </a:pPr>
            <a:r>
              <a:rPr sz="1575" b="1">
                <a:solidFill>
                  <a:srgbClr val="1F6F78"/>
                </a:solidFill>
                <a:latin typeface="Aptos"/>
                <a:ea typeface="Aptos"/>
                <a:cs typeface="Aptos"/>
              </a:rPr>
              <a:t>Für die Arbeit ist daher nicht nur Textgenerierung relevant, sondern kontrollierte Anforderungsaufbereitung.</a:t>
            </a:r>
          </a:p>
        </p:txBody>
      </p:sp>
      <p:sp>
        <p:nvSpPr>
          <p:cNvPr id="16" name="footer-left-2">
            <a:extLst xmlns:a="http://schemas.openxmlformats.org/drawingml/2006/main">
              <a:ext uri="{FF2B5EF4-FFF2-40B4-BE49-F238E27FC236}">
                <a16:creationId xmlns:a16="http://schemas.microsoft.com/office/drawing/2014/main" id="{2FCE6729-B8E3-4AEC-98B6-BB196CD584A1}"/>
              </a:ext>
            </a:extLst>
          </p:cNvPr>
          <p:cNvSpPr>
            <a:spLocks xmlns:a="http://schemas.openxmlformats.org/drawingml/2006/main" noGrp="1"/>
          </p:cNvSpPr>
          <p:nvPr/>
        </p:nvSpPr>
        <p:spPr>
          <a:xfrm xmlns:a="http://schemas.openxmlformats.org/drawingml/2006/main">
            <a:off x="723900" y="63436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75" b="0">
                <a:solidFill>
                  <a:srgbClr val="5B6470"/>
                </a:solidFill>
                <a:latin typeface="Aptos"/>
                <a:ea typeface="Aptos"/>
                <a:cs typeface="Aptos"/>
              </a:defRPr>
            </a:pPr>
            <a:r>
              <a:rPr sz="975" b="0">
                <a:solidFill>
                  <a:srgbClr val="5B6470"/>
                </a:solidFill>
                <a:latin typeface="Aptos"/>
                <a:ea typeface="Aptos"/>
                <a:cs typeface="Aptos"/>
              </a:rPr>
              <a:t>Projektvorstellung für den Zweitgutachter</a:t>
            </a:r>
          </a:p>
        </p:txBody>
      </p:sp>
      <p:sp>
        <p:nvSpPr>
          <p:cNvPr id="17" name="footer-right-2">
            <a:extLst xmlns:a="http://schemas.openxmlformats.org/drawingml/2006/main">
              <a:ext uri="{FF2B5EF4-FFF2-40B4-BE49-F238E27FC236}">
                <a16:creationId xmlns:a16="http://schemas.microsoft.com/office/drawing/2014/main" id="{1FD878C4-73BD-4EEF-A2D3-4BB2E00F04C2}"/>
              </a:ext>
            </a:extLst>
          </p:cNvPr>
          <p:cNvSpPr>
            <a:spLocks xmlns:a="http://schemas.openxmlformats.org/drawingml/2006/main" noGrp="1"/>
          </p:cNvSpPr>
          <p:nvPr/>
        </p:nvSpPr>
        <p:spPr>
          <a:xfrm xmlns:a="http://schemas.openxmlformats.org/drawingml/2006/main">
            <a:off x="10934700" y="6286500"/>
            <a:ext cx="533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1200" b="1">
                <a:solidFill>
                  <a:srgbClr val="5B6470"/>
                </a:solidFill>
                <a:latin typeface="Aptos"/>
                <a:ea typeface="Aptos"/>
                <a:cs typeface="Aptos"/>
              </a:defRPr>
            </a:pPr>
            <a:r>
              <a:rPr sz="1200" b="1">
                <a:solidFill>
                  <a:srgbClr val="5B6470"/>
                </a:solidFill>
                <a:latin typeface="Aptos"/>
                <a:ea typeface="Aptos"/>
                <a:cs typeface="Aptos"/>
              </a:rPr>
              <a:t>03</a:t>
            </a:r>
          </a:p>
        </p:txBody>
      </p:sp>
    </p:spTree>
    <p:extLst>
      <p:ext uri="{BB962C8B-B14F-4D97-AF65-F5344CB8AC3E}">
        <p14:creationId xmlns:p14="http://schemas.microsoft.com/office/powerpoint/2010/main" val="1479781866"/>
      </p:ext>
    </p:extLst>
  </p:cSld>
</p:sld>
</file>

<file path=ppt/slides/slide4.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 name="kicker-3">
            <a:extLst xmlns:a="http://schemas.openxmlformats.org/drawingml/2006/main">
              <a:ext uri="{FF2B5EF4-FFF2-40B4-BE49-F238E27FC236}">
                <a16:creationId xmlns:a16="http://schemas.microsoft.com/office/drawing/2014/main" id="{728E4FFC-A880-44E8-9541-76D52D18A0F8}"/>
              </a:ext>
            </a:extLst>
          </p:cNvPr>
          <p:cNvSpPr>
            <a:spLocks xmlns:a="http://schemas.openxmlformats.org/drawingml/2006/main" noGrp="1"/>
          </p:cNvSpPr>
          <p:nvPr/>
        </p:nvSpPr>
        <p:spPr>
          <a:xfrm xmlns:a="http://schemas.openxmlformats.org/drawingml/2006/main">
            <a:off x="723900" y="457200"/>
            <a:ext cx="723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125" b="1">
                <a:solidFill>
                  <a:srgbClr val="1F6F78"/>
                </a:solidFill>
                <a:latin typeface="Aptos"/>
                <a:ea typeface="Aptos"/>
                <a:cs typeface="Aptos"/>
              </a:defRPr>
            </a:pPr>
            <a:r>
              <a:rPr sz="1125" b="1">
                <a:solidFill>
                  <a:srgbClr val="1F6F78"/>
                </a:solidFill>
                <a:latin typeface="Aptos"/>
                <a:ea typeface="Aptos"/>
                <a:cs typeface="Aptos"/>
              </a:rPr>
              <a:t>GITLAB DEV-ASSIST</a:t>
            </a:r>
          </a:p>
        </p:txBody>
      </p:sp>
      <p:sp>
        <p:nvSpPr>
          <p:cNvPr id="2" name="title-3">
            <a:extLst xmlns:a="http://schemas.openxmlformats.org/drawingml/2006/main">
              <a:ext uri="{FF2B5EF4-FFF2-40B4-BE49-F238E27FC236}">
                <a16:creationId xmlns:a16="http://schemas.microsoft.com/office/drawing/2014/main" id="{39059AFE-C1C2-4FD4-96F5-99D89005F07D}"/>
              </a:ext>
            </a:extLst>
          </p:cNvPr>
          <p:cNvSpPr>
            <a:spLocks xmlns:a="http://schemas.openxmlformats.org/drawingml/2006/main" noGrp="1"/>
          </p:cNvSpPr>
          <p:nvPr/>
        </p:nvSpPr>
        <p:spPr>
          <a:xfrm xmlns:a="http://schemas.openxmlformats.org/drawingml/2006/main">
            <a:off x="723900" y="800100"/>
            <a:ext cx="8763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850" b="1">
                <a:solidFill>
                  <a:srgbClr val="17202A"/>
                </a:solidFill>
                <a:latin typeface="Aptos Display"/>
                <a:ea typeface="Aptos Display"/>
                <a:cs typeface="Aptos Display"/>
              </a:defRPr>
            </a:pPr>
            <a:r>
              <a:rPr sz="2850" b="1">
                <a:solidFill>
                  <a:srgbClr val="17202A"/>
                </a:solidFill>
                <a:latin typeface="Aptos Display"/>
                <a:ea typeface="Aptos Display"/>
                <a:cs typeface="Aptos Display"/>
              </a:rPr>
              <a:t>Fachlicher Bezug: Ticketqualität</a:t>
            </a:r>
          </a:p>
        </p:txBody>
      </p:sp>
      <p:sp>
        <p:nvSpPr>
          <p:cNvPr id="3" name="title-rule-3">
            <a:extLst xmlns:a="http://schemas.openxmlformats.org/drawingml/2006/main">
              <a:ext uri="{FF2B5EF4-FFF2-40B4-BE49-F238E27FC236}">
                <a16:creationId xmlns:a16="http://schemas.microsoft.com/office/drawing/2014/main" id="{6669E86C-E9CB-4EBE-A96B-709581F43F73}"/>
              </a:ext>
            </a:extLst>
          </p:cNvPr>
          <p:cNvSpPr>
            <a:spLocks xmlns:a="http://schemas.openxmlformats.org/drawingml/2006/main" noGrp="1"/>
          </p:cNvSpPr>
          <p:nvPr/>
        </p:nvSpPr>
        <p:spPr>
          <a:xfrm xmlns:a="http://schemas.openxmlformats.org/drawingml/2006/main">
            <a:off x="723900" y="1466850"/>
            <a:ext cx="10744200" cy="19050"/>
          </a:xfrm>
          <a:prstGeom xmlns:a="http://schemas.openxmlformats.org/drawingml/2006/main" prst="rect">
            <a:avLst/>
          </a:prstGeom>
          <a:solidFill xmlns:a="http://schemas.openxmlformats.org/drawingml/2006/main">
            <a:srgbClr val="E6EBF1"/>
          </a:solidFill>
          <a:ln xmlns:a="http://schemas.openxmlformats.org/drawingml/2006/main" w="0">
            <a:solidFill>
              <a:srgbClr val="E6EBF1"/>
            </a:solidFill>
            <a:prstDash val="solid"/>
          </a:ln>
        </p:spPr>
      </p:sp>
      <p:sp>
        <p:nvSpPr>
          <p:cNvPr id="4" name="can-left-dot-1">
            <a:extLst xmlns:a="http://schemas.openxmlformats.org/drawingml/2006/main">
              <a:ext uri="{FF2B5EF4-FFF2-40B4-BE49-F238E27FC236}">
                <a16:creationId xmlns:a16="http://schemas.microsoft.com/office/drawing/2014/main" id="{E7CE6411-8CDB-4373-9BBE-F35DE5BF9418}"/>
              </a:ext>
            </a:extLst>
          </p:cNvPr>
          <p:cNvSpPr>
            <a:spLocks xmlns:a="http://schemas.openxmlformats.org/drawingml/2006/main" noGrp="1"/>
          </p:cNvSpPr>
          <p:nvPr/>
        </p:nvSpPr>
        <p:spPr>
          <a:xfrm xmlns:a="http://schemas.openxmlformats.org/drawingml/2006/main">
            <a:off x="914400" y="2181225"/>
            <a:ext cx="95250" cy="95250"/>
          </a:xfrm>
          <a:prstGeom xmlns:a="http://schemas.openxmlformats.org/drawingml/2006/main" prst="ellipse">
            <a:avLst/>
          </a:prstGeom>
          <a:solidFill xmlns:a="http://schemas.openxmlformats.org/drawingml/2006/main">
            <a:srgbClr val="2E7D5B"/>
          </a:solidFill>
          <a:ln xmlns:a="http://schemas.openxmlformats.org/drawingml/2006/main" w="0">
            <a:solidFill>
              <a:srgbClr val="2E7D5B"/>
            </a:solidFill>
            <a:prstDash val="solid"/>
          </a:ln>
        </p:spPr>
      </p:sp>
      <p:sp>
        <p:nvSpPr>
          <p:cNvPr id="5" name="can-left-text-1">
            <a:extLst xmlns:a="http://schemas.openxmlformats.org/drawingml/2006/main">
              <a:ext uri="{FF2B5EF4-FFF2-40B4-BE49-F238E27FC236}">
                <a16:creationId xmlns:a16="http://schemas.microsoft.com/office/drawing/2014/main" id="{5F4DD59A-4BCB-494E-8203-2FB553B1BA72}"/>
              </a:ext>
            </a:extLst>
          </p:cNvPr>
          <p:cNvSpPr>
            <a:spLocks xmlns:a="http://schemas.openxmlformats.org/drawingml/2006/main" noGrp="1"/>
          </p:cNvSpPr>
          <p:nvPr/>
        </p:nvSpPr>
        <p:spPr>
          <a:xfrm xmlns:a="http://schemas.openxmlformats.org/drawingml/2006/main">
            <a:off x="1143000" y="2095500"/>
            <a:ext cx="45339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500" b="0">
                <a:solidFill>
                  <a:srgbClr val="17202A"/>
                </a:solidFill>
                <a:latin typeface="Aptos"/>
                <a:ea typeface="Aptos"/>
                <a:cs typeface="Aptos"/>
              </a:defRPr>
            </a:pPr>
            <a:r>
              <a:rPr sz="1500" b="0">
                <a:solidFill>
                  <a:srgbClr val="17202A"/>
                </a:solidFill>
                <a:latin typeface="Aptos"/>
                <a:ea typeface="Aptos"/>
                <a:cs typeface="Aptos"/>
              </a:rPr>
              <a:t>Requirements Engineering betrachtet Anforderungen als prüfbare Kommunikationsartefakte.</a:t>
            </a:r>
          </a:p>
        </p:txBody>
      </p:sp>
      <p:sp>
        <p:nvSpPr>
          <p:cNvPr id="6" name="can-left-dot-2">
            <a:extLst xmlns:a="http://schemas.openxmlformats.org/drawingml/2006/main">
              <a:ext uri="{FF2B5EF4-FFF2-40B4-BE49-F238E27FC236}">
                <a16:creationId xmlns:a16="http://schemas.microsoft.com/office/drawing/2014/main" id="{062F0D20-1284-4B3F-80DB-F964627E59AF}"/>
              </a:ext>
            </a:extLst>
          </p:cNvPr>
          <p:cNvSpPr>
            <a:spLocks xmlns:a="http://schemas.openxmlformats.org/drawingml/2006/main" noGrp="1"/>
          </p:cNvSpPr>
          <p:nvPr/>
        </p:nvSpPr>
        <p:spPr>
          <a:xfrm xmlns:a="http://schemas.openxmlformats.org/drawingml/2006/main">
            <a:off x="914400" y="2771775"/>
            <a:ext cx="95250" cy="95250"/>
          </a:xfrm>
          <a:prstGeom xmlns:a="http://schemas.openxmlformats.org/drawingml/2006/main" prst="ellipse">
            <a:avLst/>
          </a:prstGeom>
          <a:solidFill xmlns:a="http://schemas.openxmlformats.org/drawingml/2006/main">
            <a:srgbClr val="2E7D5B"/>
          </a:solidFill>
          <a:ln xmlns:a="http://schemas.openxmlformats.org/drawingml/2006/main" w="0">
            <a:solidFill>
              <a:srgbClr val="2E7D5B"/>
            </a:solidFill>
            <a:prstDash val="solid"/>
          </a:ln>
        </p:spPr>
      </p:sp>
      <p:sp>
        <p:nvSpPr>
          <p:cNvPr id="7" name="can-left-text-2">
            <a:extLst xmlns:a="http://schemas.openxmlformats.org/drawingml/2006/main">
              <a:ext uri="{FF2B5EF4-FFF2-40B4-BE49-F238E27FC236}">
                <a16:creationId xmlns:a16="http://schemas.microsoft.com/office/drawing/2014/main" id="{C1774811-23EA-406F-96EF-AE909DC7ACC0}"/>
              </a:ext>
            </a:extLst>
          </p:cNvPr>
          <p:cNvSpPr>
            <a:spLocks xmlns:a="http://schemas.openxmlformats.org/drawingml/2006/main" noGrp="1"/>
          </p:cNvSpPr>
          <p:nvPr/>
        </p:nvSpPr>
        <p:spPr>
          <a:xfrm xmlns:a="http://schemas.openxmlformats.org/drawingml/2006/main">
            <a:off x="1143000" y="2686050"/>
            <a:ext cx="45339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500" b="0">
                <a:solidFill>
                  <a:srgbClr val="17202A"/>
                </a:solidFill>
                <a:latin typeface="Aptos"/>
                <a:ea typeface="Aptos"/>
                <a:cs typeface="Aptos"/>
              </a:defRPr>
            </a:pPr>
            <a:r>
              <a:rPr sz="1500" b="0">
                <a:solidFill>
                  <a:srgbClr val="17202A"/>
                </a:solidFill>
                <a:latin typeface="Aptos"/>
                <a:ea typeface="Aptos"/>
                <a:cs typeface="Aptos"/>
              </a:rPr>
              <a:t>User Stories und Tickets sind kompakt, aber anfällig für Qualitätsdefekte.</a:t>
            </a:r>
          </a:p>
        </p:txBody>
      </p:sp>
      <p:sp>
        <p:nvSpPr>
          <p:cNvPr id="8" name="can-left-dot-3">
            <a:extLst xmlns:a="http://schemas.openxmlformats.org/drawingml/2006/main">
              <a:ext uri="{FF2B5EF4-FFF2-40B4-BE49-F238E27FC236}">
                <a16:creationId xmlns:a16="http://schemas.microsoft.com/office/drawing/2014/main" id="{0158DDBA-1F2C-4BAC-9BA4-EF4850E5A0EF}"/>
              </a:ext>
            </a:extLst>
          </p:cNvPr>
          <p:cNvSpPr>
            <a:spLocks xmlns:a="http://schemas.openxmlformats.org/drawingml/2006/main" noGrp="1"/>
          </p:cNvSpPr>
          <p:nvPr/>
        </p:nvSpPr>
        <p:spPr>
          <a:xfrm xmlns:a="http://schemas.openxmlformats.org/drawingml/2006/main">
            <a:off x="914400" y="3305175"/>
            <a:ext cx="95250" cy="95250"/>
          </a:xfrm>
          <a:prstGeom xmlns:a="http://schemas.openxmlformats.org/drawingml/2006/main" prst="ellipse">
            <a:avLst/>
          </a:prstGeom>
          <a:solidFill xmlns:a="http://schemas.openxmlformats.org/drawingml/2006/main">
            <a:srgbClr val="2E7D5B"/>
          </a:solidFill>
          <a:ln xmlns:a="http://schemas.openxmlformats.org/drawingml/2006/main" w="0">
            <a:solidFill>
              <a:srgbClr val="2E7D5B"/>
            </a:solidFill>
            <a:prstDash val="solid"/>
          </a:ln>
        </p:spPr>
      </p:sp>
      <p:sp>
        <p:nvSpPr>
          <p:cNvPr id="9" name="can-left-text-3">
            <a:extLst xmlns:a="http://schemas.openxmlformats.org/drawingml/2006/main">
              <a:ext uri="{FF2B5EF4-FFF2-40B4-BE49-F238E27FC236}">
                <a16:creationId xmlns:a16="http://schemas.microsoft.com/office/drawing/2014/main" id="{9BBDB174-0D78-4D4A-945B-A876BEC98559}"/>
              </a:ext>
            </a:extLst>
          </p:cNvPr>
          <p:cNvSpPr>
            <a:spLocks xmlns:a="http://schemas.openxmlformats.org/drawingml/2006/main" noGrp="1"/>
          </p:cNvSpPr>
          <p:nvPr/>
        </p:nvSpPr>
        <p:spPr>
          <a:xfrm xmlns:a="http://schemas.openxmlformats.org/drawingml/2006/main">
            <a:off x="1143000" y="3219450"/>
            <a:ext cx="45339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500" b="0">
                <a:solidFill>
                  <a:srgbClr val="17202A"/>
                </a:solidFill>
                <a:latin typeface="Aptos"/>
                <a:ea typeface="Aptos"/>
                <a:cs typeface="Aptos"/>
              </a:defRPr>
            </a:pPr>
            <a:r>
              <a:rPr sz="1500" b="0">
                <a:solidFill>
                  <a:srgbClr val="17202A"/>
                </a:solidFill>
                <a:latin typeface="Aptos"/>
                <a:ea typeface="Aptos"/>
                <a:cs typeface="Aptos"/>
              </a:rPr>
              <a:t>Bei Bug Reports sind beobachtetes Verhalten, erwartetes Verhalten und Schritte zentral.</a:t>
            </a:r>
          </a:p>
        </p:txBody>
      </p:sp>
      <p:sp>
        <p:nvSpPr>
          <p:cNvPr id="10" name="can-left-dot-4">
            <a:extLst xmlns:a="http://schemas.openxmlformats.org/drawingml/2006/main">
              <a:ext uri="{FF2B5EF4-FFF2-40B4-BE49-F238E27FC236}">
                <a16:creationId xmlns:a16="http://schemas.microsoft.com/office/drawing/2014/main" id="{374BAB0E-08B9-4445-AF15-1FF0C9DABE81}"/>
              </a:ext>
            </a:extLst>
          </p:cNvPr>
          <p:cNvSpPr>
            <a:spLocks xmlns:a="http://schemas.openxmlformats.org/drawingml/2006/main" noGrp="1"/>
          </p:cNvSpPr>
          <p:nvPr/>
        </p:nvSpPr>
        <p:spPr>
          <a:xfrm xmlns:a="http://schemas.openxmlformats.org/drawingml/2006/main">
            <a:off x="914400" y="3895725"/>
            <a:ext cx="95250" cy="95250"/>
          </a:xfrm>
          <a:prstGeom xmlns:a="http://schemas.openxmlformats.org/drawingml/2006/main" prst="ellipse">
            <a:avLst/>
          </a:prstGeom>
          <a:solidFill xmlns:a="http://schemas.openxmlformats.org/drawingml/2006/main">
            <a:srgbClr val="2E7D5B"/>
          </a:solidFill>
          <a:ln xmlns:a="http://schemas.openxmlformats.org/drawingml/2006/main" w="0">
            <a:solidFill>
              <a:srgbClr val="2E7D5B"/>
            </a:solidFill>
            <a:prstDash val="solid"/>
          </a:ln>
        </p:spPr>
      </p:sp>
      <p:sp>
        <p:nvSpPr>
          <p:cNvPr id="11" name="can-left-text-4">
            <a:extLst xmlns:a="http://schemas.openxmlformats.org/drawingml/2006/main">
              <a:ext uri="{FF2B5EF4-FFF2-40B4-BE49-F238E27FC236}">
                <a16:creationId xmlns:a16="http://schemas.microsoft.com/office/drawing/2014/main" id="{88EC4BEB-5EAD-4F81-BE1E-6759E6B58F92}"/>
              </a:ext>
            </a:extLst>
          </p:cNvPr>
          <p:cNvSpPr>
            <a:spLocks xmlns:a="http://schemas.openxmlformats.org/drawingml/2006/main" noGrp="1"/>
          </p:cNvSpPr>
          <p:nvPr/>
        </p:nvSpPr>
        <p:spPr>
          <a:xfrm xmlns:a="http://schemas.openxmlformats.org/drawingml/2006/main">
            <a:off x="1143000" y="3810000"/>
            <a:ext cx="45339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500" b="0">
                <a:solidFill>
                  <a:srgbClr val="17202A"/>
                </a:solidFill>
                <a:latin typeface="Aptos"/>
                <a:ea typeface="Aptos"/>
                <a:cs typeface="Aptos"/>
              </a:defRPr>
            </a:pPr>
            <a:r>
              <a:rPr sz="1500" b="0">
                <a:solidFill>
                  <a:srgbClr val="17202A"/>
                </a:solidFill>
                <a:latin typeface="Aptos"/>
                <a:ea typeface="Aptos"/>
                <a:cs typeface="Aptos"/>
              </a:rPr>
              <a:t>Fehlende Informationen führen zu Rückfragen und zusätzlichem Triaging-Aufwand.</a:t>
            </a:r>
          </a:p>
        </p:txBody>
      </p:sp>
      <p:sp>
        <p:nvSpPr>
          <p:cNvPr id="12" name="can-right-dot-1">
            <a:extLst xmlns:a="http://schemas.openxmlformats.org/drawingml/2006/main">
              <a:ext uri="{FF2B5EF4-FFF2-40B4-BE49-F238E27FC236}">
                <a16:creationId xmlns:a16="http://schemas.microsoft.com/office/drawing/2014/main" id="{F5817573-F56F-48BD-9425-4C8D6D4F24C0}"/>
              </a:ext>
            </a:extLst>
          </p:cNvPr>
          <p:cNvSpPr>
            <a:spLocks xmlns:a="http://schemas.openxmlformats.org/drawingml/2006/main" noGrp="1"/>
          </p:cNvSpPr>
          <p:nvPr/>
        </p:nvSpPr>
        <p:spPr>
          <a:xfrm xmlns:a="http://schemas.openxmlformats.org/drawingml/2006/main">
            <a:off x="6515100" y="2181225"/>
            <a:ext cx="95250" cy="95250"/>
          </a:xfrm>
          <a:prstGeom xmlns:a="http://schemas.openxmlformats.org/drawingml/2006/main" prst="ellipse">
            <a:avLst/>
          </a:prstGeom>
          <a:solidFill xmlns:a="http://schemas.openxmlformats.org/drawingml/2006/main">
            <a:srgbClr val="2E7D5B"/>
          </a:solidFill>
          <a:ln xmlns:a="http://schemas.openxmlformats.org/drawingml/2006/main" w="0">
            <a:solidFill>
              <a:srgbClr val="2E7D5B"/>
            </a:solidFill>
            <a:prstDash val="solid"/>
          </a:ln>
        </p:spPr>
      </p:sp>
      <p:sp>
        <p:nvSpPr>
          <p:cNvPr id="13" name="can-right-text-1">
            <a:extLst xmlns:a="http://schemas.openxmlformats.org/drawingml/2006/main">
              <a:ext uri="{FF2B5EF4-FFF2-40B4-BE49-F238E27FC236}">
                <a16:creationId xmlns:a16="http://schemas.microsoft.com/office/drawing/2014/main" id="{D6114B28-EAB4-4837-8552-982817944E0F}"/>
              </a:ext>
            </a:extLst>
          </p:cNvPr>
          <p:cNvSpPr>
            <a:spLocks xmlns:a="http://schemas.openxmlformats.org/drawingml/2006/main" noGrp="1"/>
          </p:cNvSpPr>
          <p:nvPr/>
        </p:nvSpPr>
        <p:spPr>
          <a:xfrm xmlns:a="http://schemas.openxmlformats.org/drawingml/2006/main">
            <a:off x="6743700" y="2095500"/>
            <a:ext cx="45339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500" b="0">
                <a:solidFill>
                  <a:srgbClr val="17202A"/>
                </a:solidFill>
                <a:latin typeface="Aptos"/>
                <a:ea typeface="Aptos"/>
                <a:cs typeface="Aptos"/>
              </a:defRPr>
            </a:pPr>
            <a:r>
              <a:rPr sz="1500" b="0">
                <a:solidFill>
                  <a:srgbClr val="17202A"/>
                </a:solidFill>
                <a:latin typeface="Aptos"/>
                <a:ea typeface="Aptos"/>
                <a:cs typeface="Aptos"/>
              </a:rPr>
              <a:t>Qualität entsteht durch Struktur, Vollständigkeit und Nutzbarkeit für Entwickler.</a:t>
            </a:r>
          </a:p>
        </p:txBody>
      </p:sp>
      <p:sp>
        <p:nvSpPr>
          <p:cNvPr id="14" name="can-right-dot-2">
            <a:extLst xmlns:a="http://schemas.openxmlformats.org/drawingml/2006/main">
              <a:ext uri="{FF2B5EF4-FFF2-40B4-BE49-F238E27FC236}">
                <a16:creationId xmlns:a16="http://schemas.microsoft.com/office/drawing/2014/main" id="{B3B66FBC-F375-4B54-9039-EFCE26026AAC}"/>
              </a:ext>
            </a:extLst>
          </p:cNvPr>
          <p:cNvSpPr>
            <a:spLocks xmlns:a="http://schemas.openxmlformats.org/drawingml/2006/main" noGrp="1"/>
          </p:cNvSpPr>
          <p:nvPr/>
        </p:nvSpPr>
        <p:spPr>
          <a:xfrm xmlns:a="http://schemas.openxmlformats.org/drawingml/2006/main">
            <a:off x="6515100" y="2828925"/>
            <a:ext cx="95250" cy="95250"/>
          </a:xfrm>
          <a:prstGeom xmlns:a="http://schemas.openxmlformats.org/drawingml/2006/main" prst="ellipse">
            <a:avLst/>
          </a:prstGeom>
          <a:solidFill xmlns:a="http://schemas.openxmlformats.org/drawingml/2006/main">
            <a:srgbClr val="2E7D5B"/>
          </a:solidFill>
          <a:ln xmlns:a="http://schemas.openxmlformats.org/drawingml/2006/main" w="0">
            <a:solidFill>
              <a:srgbClr val="2E7D5B"/>
            </a:solidFill>
            <a:prstDash val="solid"/>
          </a:ln>
        </p:spPr>
      </p:sp>
      <p:sp>
        <p:nvSpPr>
          <p:cNvPr id="15" name="can-right-text-2">
            <a:extLst xmlns:a="http://schemas.openxmlformats.org/drawingml/2006/main">
              <a:ext uri="{FF2B5EF4-FFF2-40B4-BE49-F238E27FC236}">
                <a16:creationId xmlns:a16="http://schemas.microsoft.com/office/drawing/2014/main" id="{D5FF7A1B-7E94-4407-BF9A-7C3418E530D7}"/>
              </a:ext>
            </a:extLst>
          </p:cNvPr>
          <p:cNvSpPr>
            <a:spLocks xmlns:a="http://schemas.openxmlformats.org/drawingml/2006/main" noGrp="1"/>
          </p:cNvSpPr>
          <p:nvPr/>
        </p:nvSpPr>
        <p:spPr>
          <a:xfrm xmlns:a="http://schemas.openxmlformats.org/drawingml/2006/main">
            <a:off x="6743700" y="2743200"/>
            <a:ext cx="45339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500" b="0">
                <a:solidFill>
                  <a:srgbClr val="17202A"/>
                </a:solidFill>
                <a:latin typeface="Aptos"/>
                <a:ea typeface="Aptos"/>
                <a:cs typeface="Aptos"/>
              </a:defRPr>
            </a:pPr>
            <a:r>
              <a:rPr sz="1500" b="0">
                <a:solidFill>
                  <a:srgbClr val="17202A"/>
                </a:solidFill>
                <a:latin typeface="Aptos"/>
                <a:ea typeface="Aptos"/>
                <a:cs typeface="Aptos"/>
              </a:rPr>
              <a:t>Kommentare und Anhänge müssen in den Ticketkontext einbezogen werden.</a:t>
            </a:r>
          </a:p>
        </p:txBody>
      </p:sp>
      <p:sp>
        <p:nvSpPr>
          <p:cNvPr id="16" name="can-right-dot-3">
            <a:extLst xmlns:a="http://schemas.openxmlformats.org/drawingml/2006/main">
              <a:ext uri="{FF2B5EF4-FFF2-40B4-BE49-F238E27FC236}">
                <a16:creationId xmlns:a16="http://schemas.microsoft.com/office/drawing/2014/main" id="{CB78C8BA-9C88-48A2-A590-F87A6529D654}"/>
              </a:ext>
            </a:extLst>
          </p:cNvPr>
          <p:cNvSpPr>
            <a:spLocks xmlns:a="http://schemas.openxmlformats.org/drawingml/2006/main" noGrp="1"/>
          </p:cNvSpPr>
          <p:nvPr/>
        </p:nvSpPr>
        <p:spPr>
          <a:xfrm xmlns:a="http://schemas.openxmlformats.org/drawingml/2006/main">
            <a:off x="6515100" y="3476625"/>
            <a:ext cx="95250" cy="95250"/>
          </a:xfrm>
          <a:prstGeom xmlns:a="http://schemas.openxmlformats.org/drawingml/2006/main" prst="ellipse">
            <a:avLst/>
          </a:prstGeom>
          <a:solidFill xmlns:a="http://schemas.openxmlformats.org/drawingml/2006/main">
            <a:srgbClr val="2E7D5B"/>
          </a:solidFill>
          <a:ln xmlns:a="http://schemas.openxmlformats.org/drawingml/2006/main" w="0">
            <a:solidFill>
              <a:srgbClr val="2E7D5B"/>
            </a:solidFill>
            <a:prstDash val="solid"/>
          </a:ln>
        </p:spPr>
      </p:sp>
      <p:sp>
        <p:nvSpPr>
          <p:cNvPr id="17" name="can-right-text-3">
            <a:extLst xmlns:a="http://schemas.openxmlformats.org/drawingml/2006/main">
              <a:ext uri="{FF2B5EF4-FFF2-40B4-BE49-F238E27FC236}">
                <a16:creationId xmlns:a16="http://schemas.microsoft.com/office/drawing/2014/main" id="{DB0EA892-B3C8-4F1F-BE66-70E883385FD1}"/>
              </a:ext>
            </a:extLst>
          </p:cNvPr>
          <p:cNvSpPr>
            <a:spLocks xmlns:a="http://schemas.openxmlformats.org/drawingml/2006/main" noGrp="1"/>
          </p:cNvSpPr>
          <p:nvPr/>
        </p:nvSpPr>
        <p:spPr>
          <a:xfrm xmlns:a="http://schemas.openxmlformats.org/drawingml/2006/main">
            <a:off x="6743700" y="3390900"/>
            <a:ext cx="45339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500" b="0">
                <a:solidFill>
                  <a:srgbClr val="17202A"/>
                </a:solidFill>
                <a:latin typeface="Aptos"/>
                <a:ea typeface="Aptos"/>
                <a:cs typeface="Aptos"/>
              </a:defRPr>
            </a:pPr>
            <a:r>
              <a:rPr sz="1500" b="0">
                <a:solidFill>
                  <a:srgbClr val="17202A"/>
                </a:solidFill>
                <a:latin typeface="Aptos"/>
                <a:ea typeface="Aptos"/>
                <a:cs typeface="Aptos"/>
              </a:rPr>
              <a:t>Der Assistent soll fehlende Informationen benennen, nicht plausibel ergänzen.</a:t>
            </a:r>
          </a:p>
        </p:txBody>
      </p:sp>
      <p:sp>
        <p:nvSpPr>
          <p:cNvPr id="18" name="can-right-dot-4">
            <a:extLst xmlns:a="http://schemas.openxmlformats.org/drawingml/2006/main">
              <a:ext uri="{FF2B5EF4-FFF2-40B4-BE49-F238E27FC236}">
                <a16:creationId xmlns:a16="http://schemas.microsoft.com/office/drawing/2014/main" id="{9986848B-814A-4B57-9345-D90E3C53DB14}"/>
              </a:ext>
            </a:extLst>
          </p:cNvPr>
          <p:cNvSpPr>
            <a:spLocks xmlns:a="http://schemas.openxmlformats.org/drawingml/2006/main" noGrp="1"/>
          </p:cNvSpPr>
          <p:nvPr/>
        </p:nvSpPr>
        <p:spPr>
          <a:xfrm xmlns:a="http://schemas.openxmlformats.org/drawingml/2006/main">
            <a:off x="6515100" y="4124325"/>
            <a:ext cx="95250" cy="95250"/>
          </a:xfrm>
          <a:prstGeom xmlns:a="http://schemas.openxmlformats.org/drawingml/2006/main" prst="ellipse">
            <a:avLst/>
          </a:prstGeom>
          <a:solidFill xmlns:a="http://schemas.openxmlformats.org/drawingml/2006/main">
            <a:srgbClr val="2E7D5B"/>
          </a:solidFill>
          <a:ln xmlns:a="http://schemas.openxmlformats.org/drawingml/2006/main" w="0">
            <a:solidFill>
              <a:srgbClr val="2E7D5B"/>
            </a:solidFill>
            <a:prstDash val="solid"/>
          </a:ln>
        </p:spPr>
      </p:sp>
      <p:sp>
        <p:nvSpPr>
          <p:cNvPr id="19" name="can-right-text-4">
            <a:extLst xmlns:a="http://schemas.openxmlformats.org/drawingml/2006/main">
              <a:ext uri="{FF2B5EF4-FFF2-40B4-BE49-F238E27FC236}">
                <a16:creationId xmlns:a16="http://schemas.microsoft.com/office/drawing/2014/main" id="{415786A2-1AFA-45C1-ABDE-EFE7D162827A}"/>
              </a:ext>
            </a:extLst>
          </p:cNvPr>
          <p:cNvSpPr>
            <a:spLocks xmlns:a="http://schemas.openxmlformats.org/drawingml/2006/main" noGrp="1"/>
          </p:cNvSpPr>
          <p:nvPr/>
        </p:nvSpPr>
        <p:spPr>
          <a:xfrm xmlns:a="http://schemas.openxmlformats.org/drawingml/2006/main">
            <a:off x="6743700" y="4038600"/>
            <a:ext cx="45339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500" b="0">
                <a:solidFill>
                  <a:srgbClr val="17202A"/>
                </a:solidFill>
                <a:latin typeface="Aptos"/>
                <a:ea typeface="Aptos"/>
                <a:cs typeface="Aptos"/>
              </a:defRPr>
            </a:pPr>
            <a:r>
              <a:rPr sz="1500" b="0">
                <a:solidFill>
                  <a:srgbClr val="17202A"/>
                </a:solidFill>
                <a:latin typeface="Aptos"/>
                <a:ea typeface="Aptos"/>
                <a:cs typeface="Aptos"/>
              </a:rPr>
              <a:t>Damit wird Ticketpflege als wiederkehrender Prozessschritt unterstützt.</a:t>
            </a:r>
          </a:p>
        </p:txBody>
      </p:sp>
      <p:sp>
        <p:nvSpPr>
          <p:cNvPr id="20" name="footer-left-3">
            <a:extLst xmlns:a="http://schemas.openxmlformats.org/drawingml/2006/main">
              <a:ext uri="{FF2B5EF4-FFF2-40B4-BE49-F238E27FC236}">
                <a16:creationId xmlns:a16="http://schemas.microsoft.com/office/drawing/2014/main" id="{932F9BAB-01C3-4504-BC28-297B4EEF342E}"/>
              </a:ext>
            </a:extLst>
          </p:cNvPr>
          <p:cNvSpPr>
            <a:spLocks xmlns:a="http://schemas.openxmlformats.org/drawingml/2006/main" noGrp="1"/>
          </p:cNvSpPr>
          <p:nvPr/>
        </p:nvSpPr>
        <p:spPr>
          <a:xfrm xmlns:a="http://schemas.openxmlformats.org/drawingml/2006/main">
            <a:off x="723900" y="63436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75" b="0">
                <a:solidFill>
                  <a:srgbClr val="5B6470"/>
                </a:solidFill>
                <a:latin typeface="Aptos"/>
                <a:ea typeface="Aptos"/>
                <a:cs typeface="Aptos"/>
              </a:defRPr>
            </a:pPr>
            <a:r>
              <a:rPr sz="975" b="0">
                <a:solidFill>
                  <a:srgbClr val="5B6470"/>
                </a:solidFill>
                <a:latin typeface="Aptos"/>
                <a:ea typeface="Aptos"/>
                <a:cs typeface="Aptos"/>
              </a:rPr>
              <a:t>Projektvorstellung für den Zweitgutachter</a:t>
            </a:r>
          </a:p>
        </p:txBody>
      </p:sp>
      <p:sp>
        <p:nvSpPr>
          <p:cNvPr id="21" name="footer-right-3">
            <a:extLst xmlns:a="http://schemas.openxmlformats.org/drawingml/2006/main">
              <a:ext uri="{FF2B5EF4-FFF2-40B4-BE49-F238E27FC236}">
                <a16:creationId xmlns:a16="http://schemas.microsoft.com/office/drawing/2014/main" id="{FBB86949-4CB3-416D-B440-CA9C09833167}"/>
              </a:ext>
            </a:extLst>
          </p:cNvPr>
          <p:cNvSpPr>
            <a:spLocks xmlns:a="http://schemas.openxmlformats.org/drawingml/2006/main" noGrp="1"/>
          </p:cNvSpPr>
          <p:nvPr/>
        </p:nvSpPr>
        <p:spPr>
          <a:xfrm xmlns:a="http://schemas.openxmlformats.org/drawingml/2006/main">
            <a:off x="10934700" y="6286500"/>
            <a:ext cx="533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1200" b="1">
                <a:solidFill>
                  <a:srgbClr val="5B6470"/>
                </a:solidFill>
                <a:latin typeface="Aptos"/>
                <a:ea typeface="Aptos"/>
                <a:cs typeface="Aptos"/>
              </a:defRPr>
            </a:pPr>
            <a:r>
              <a:rPr sz="1200" b="1">
                <a:solidFill>
                  <a:srgbClr val="5B6470"/>
                </a:solidFill>
                <a:latin typeface="Aptos"/>
                <a:ea typeface="Aptos"/>
                <a:cs typeface="Aptos"/>
              </a:rPr>
              <a:t>04</a:t>
            </a:r>
          </a:p>
        </p:txBody>
      </p:sp>
    </p:spTree>
    <p:extLst>
      <p:ext uri="{BB962C8B-B14F-4D97-AF65-F5344CB8AC3E}">
        <p14:creationId xmlns:p14="http://schemas.microsoft.com/office/powerpoint/2010/main" val="2017202705"/>
      </p:ext>
    </p:extLst>
  </p:cSld>
</p:sld>
</file>

<file path=ppt/slides/slide5.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 name="kicker-4">
            <a:extLst xmlns:a="http://schemas.openxmlformats.org/drawingml/2006/main">
              <a:ext uri="{FF2B5EF4-FFF2-40B4-BE49-F238E27FC236}">
                <a16:creationId xmlns:a16="http://schemas.microsoft.com/office/drawing/2014/main" id="{B179D1FE-8048-4541-9DA4-FD74C81EC37D}"/>
              </a:ext>
            </a:extLst>
          </p:cNvPr>
          <p:cNvSpPr>
            <a:spLocks xmlns:a="http://schemas.openxmlformats.org/drawingml/2006/main" noGrp="1"/>
          </p:cNvSpPr>
          <p:nvPr/>
        </p:nvSpPr>
        <p:spPr>
          <a:xfrm xmlns:a="http://schemas.openxmlformats.org/drawingml/2006/main">
            <a:off x="723900" y="457200"/>
            <a:ext cx="723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125" b="1">
                <a:solidFill>
                  <a:srgbClr val="1F6F78"/>
                </a:solidFill>
                <a:latin typeface="Aptos"/>
                <a:ea typeface="Aptos"/>
                <a:cs typeface="Aptos"/>
              </a:defRPr>
            </a:pPr>
            <a:r>
              <a:rPr sz="1125" b="1">
                <a:solidFill>
                  <a:srgbClr val="1F6F78"/>
                </a:solidFill>
                <a:latin typeface="Aptos"/>
                <a:ea typeface="Aptos"/>
                <a:cs typeface="Aptos"/>
              </a:rPr>
              <a:t>GITLAB DEV-ASSIST</a:t>
            </a:r>
          </a:p>
        </p:txBody>
      </p:sp>
      <p:sp>
        <p:nvSpPr>
          <p:cNvPr id="2" name="title-4">
            <a:extLst xmlns:a="http://schemas.openxmlformats.org/drawingml/2006/main">
              <a:ext uri="{FF2B5EF4-FFF2-40B4-BE49-F238E27FC236}">
                <a16:creationId xmlns:a16="http://schemas.microsoft.com/office/drawing/2014/main" id="{1F8E0010-BC4B-4D30-BAF1-771D5F8C0E93}"/>
              </a:ext>
            </a:extLst>
          </p:cNvPr>
          <p:cNvSpPr>
            <a:spLocks xmlns:a="http://schemas.openxmlformats.org/drawingml/2006/main" noGrp="1"/>
          </p:cNvSpPr>
          <p:nvPr/>
        </p:nvSpPr>
        <p:spPr>
          <a:xfrm xmlns:a="http://schemas.openxmlformats.org/drawingml/2006/main">
            <a:off x="723900" y="800100"/>
            <a:ext cx="8763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850" b="1">
                <a:solidFill>
                  <a:srgbClr val="17202A"/>
                </a:solidFill>
                <a:latin typeface="Aptos Display"/>
                <a:ea typeface="Aptos Display"/>
                <a:cs typeface="Aptos Display"/>
              </a:defRPr>
            </a:pPr>
            <a:r>
              <a:rPr sz="2850" b="1">
                <a:solidFill>
                  <a:srgbClr val="17202A"/>
                </a:solidFill>
                <a:latin typeface="Aptos Display"/>
                <a:ea typeface="Aptos Display"/>
                <a:cs typeface="Aptos Display"/>
              </a:rPr>
              <a:t>Leitfrage und Ziel der Arbeit</a:t>
            </a:r>
          </a:p>
        </p:txBody>
      </p:sp>
      <p:sp>
        <p:nvSpPr>
          <p:cNvPr id="3" name="title-rule-4">
            <a:extLst xmlns:a="http://schemas.openxmlformats.org/drawingml/2006/main">
              <a:ext uri="{FF2B5EF4-FFF2-40B4-BE49-F238E27FC236}">
                <a16:creationId xmlns:a16="http://schemas.microsoft.com/office/drawing/2014/main" id="{4029AF5C-B857-4665-90C8-9C66705E37A2}"/>
              </a:ext>
            </a:extLst>
          </p:cNvPr>
          <p:cNvSpPr>
            <a:spLocks xmlns:a="http://schemas.openxmlformats.org/drawingml/2006/main" noGrp="1"/>
          </p:cNvSpPr>
          <p:nvPr/>
        </p:nvSpPr>
        <p:spPr>
          <a:xfrm xmlns:a="http://schemas.openxmlformats.org/drawingml/2006/main">
            <a:off x="723900" y="1466850"/>
            <a:ext cx="10744200" cy="19050"/>
          </a:xfrm>
          <a:prstGeom xmlns:a="http://schemas.openxmlformats.org/drawingml/2006/main" prst="rect">
            <a:avLst/>
          </a:prstGeom>
          <a:solidFill xmlns:a="http://schemas.openxmlformats.org/drawingml/2006/main">
            <a:srgbClr val="E6EBF1"/>
          </a:solidFill>
          <a:ln xmlns:a="http://schemas.openxmlformats.org/drawingml/2006/main" w="0">
            <a:solidFill>
              <a:srgbClr val="E6EBF1"/>
            </a:solidFill>
            <a:prstDash val="solid"/>
          </a:ln>
        </p:spPr>
      </p:sp>
      <p:sp>
        <p:nvSpPr>
          <p:cNvPr id="4" name="cannot-left-dot-1">
            <a:extLst xmlns:a="http://schemas.openxmlformats.org/drawingml/2006/main">
              <a:ext uri="{FF2B5EF4-FFF2-40B4-BE49-F238E27FC236}">
                <a16:creationId xmlns:a16="http://schemas.microsoft.com/office/drawing/2014/main" id="{CFB1D873-D7F3-4E08-B936-4D20403B1F41}"/>
              </a:ext>
            </a:extLst>
          </p:cNvPr>
          <p:cNvSpPr>
            <a:spLocks xmlns:a="http://schemas.openxmlformats.org/drawingml/2006/main" noGrp="1"/>
          </p:cNvSpPr>
          <p:nvPr/>
        </p:nvSpPr>
        <p:spPr>
          <a:xfrm xmlns:a="http://schemas.openxmlformats.org/drawingml/2006/main">
            <a:off x="952500" y="2238375"/>
            <a:ext cx="95250" cy="95250"/>
          </a:xfrm>
          <a:prstGeom xmlns:a="http://schemas.openxmlformats.org/drawingml/2006/main" prst="ellipse">
            <a:avLst/>
          </a:prstGeom>
          <a:solidFill xmlns:a="http://schemas.openxmlformats.org/drawingml/2006/main">
            <a:srgbClr val="A33E3E"/>
          </a:solidFill>
          <a:ln xmlns:a="http://schemas.openxmlformats.org/drawingml/2006/main" w="0">
            <a:solidFill>
              <a:srgbClr val="A33E3E"/>
            </a:solidFill>
            <a:prstDash val="solid"/>
          </a:ln>
        </p:spPr>
      </p:sp>
      <p:sp>
        <p:nvSpPr>
          <p:cNvPr id="5" name="cannot-left-text-1">
            <a:extLst xmlns:a="http://schemas.openxmlformats.org/drawingml/2006/main">
              <a:ext uri="{FF2B5EF4-FFF2-40B4-BE49-F238E27FC236}">
                <a16:creationId xmlns:a16="http://schemas.microsoft.com/office/drawing/2014/main" id="{28981EDE-85C0-4D16-A8DF-A1D5159F6958}"/>
              </a:ext>
            </a:extLst>
          </p:cNvPr>
          <p:cNvSpPr>
            <a:spLocks xmlns:a="http://schemas.openxmlformats.org/drawingml/2006/main" noGrp="1"/>
          </p:cNvSpPr>
          <p:nvPr/>
        </p:nvSpPr>
        <p:spPr>
          <a:xfrm xmlns:a="http://schemas.openxmlformats.org/drawingml/2006/main">
            <a:off x="1181100" y="2152650"/>
            <a:ext cx="47815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575" b="0">
                <a:solidFill>
                  <a:srgbClr val="17202A"/>
                </a:solidFill>
                <a:latin typeface="Aptos"/>
                <a:ea typeface="Aptos"/>
                <a:cs typeface="Aptos"/>
              </a:defRPr>
            </a:pPr>
            <a:r>
              <a:rPr sz="1575" b="0">
                <a:solidFill>
                  <a:srgbClr val="17202A"/>
                </a:solidFill>
                <a:latin typeface="Aptos"/>
                <a:ea typeface="Aptos"/>
                <a:cs typeface="Aptos"/>
              </a:rPr>
              <a:t>Welche Informationen braucht ein GitLab-Ticket, damit es umsetzbar und prüfbar ist?</a:t>
            </a:r>
          </a:p>
        </p:txBody>
      </p:sp>
      <p:sp>
        <p:nvSpPr>
          <p:cNvPr id="6" name="cannot-left-dot-2">
            <a:extLst xmlns:a="http://schemas.openxmlformats.org/drawingml/2006/main">
              <a:ext uri="{FF2B5EF4-FFF2-40B4-BE49-F238E27FC236}">
                <a16:creationId xmlns:a16="http://schemas.microsoft.com/office/drawing/2014/main" id="{A6C74487-3589-4448-B851-B9025970F33F}"/>
              </a:ext>
            </a:extLst>
          </p:cNvPr>
          <p:cNvSpPr>
            <a:spLocks xmlns:a="http://schemas.openxmlformats.org/drawingml/2006/main" noGrp="1"/>
          </p:cNvSpPr>
          <p:nvPr/>
        </p:nvSpPr>
        <p:spPr>
          <a:xfrm xmlns:a="http://schemas.openxmlformats.org/drawingml/2006/main">
            <a:off x="952500" y="2847975"/>
            <a:ext cx="95250" cy="95250"/>
          </a:xfrm>
          <a:prstGeom xmlns:a="http://schemas.openxmlformats.org/drawingml/2006/main" prst="ellipse">
            <a:avLst/>
          </a:prstGeom>
          <a:solidFill xmlns:a="http://schemas.openxmlformats.org/drawingml/2006/main">
            <a:srgbClr val="A33E3E"/>
          </a:solidFill>
          <a:ln xmlns:a="http://schemas.openxmlformats.org/drawingml/2006/main" w="0">
            <a:solidFill>
              <a:srgbClr val="A33E3E"/>
            </a:solidFill>
            <a:prstDash val="solid"/>
          </a:ln>
        </p:spPr>
      </p:sp>
      <p:sp>
        <p:nvSpPr>
          <p:cNvPr id="7" name="cannot-left-text-2">
            <a:extLst xmlns:a="http://schemas.openxmlformats.org/drawingml/2006/main">
              <a:ext uri="{FF2B5EF4-FFF2-40B4-BE49-F238E27FC236}">
                <a16:creationId xmlns:a16="http://schemas.microsoft.com/office/drawing/2014/main" id="{7C43F153-9BF5-47F4-9872-2AD9471AB458}"/>
              </a:ext>
            </a:extLst>
          </p:cNvPr>
          <p:cNvSpPr>
            <a:spLocks xmlns:a="http://schemas.openxmlformats.org/drawingml/2006/main" noGrp="1"/>
          </p:cNvSpPr>
          <p:nvPr/>
        </p:nvSpPr>
        <p:spPr>
          <a:xfrm xmlns:a="http://schemas.openxmlformats.org/drawingml/2006/main">
            <a:off x="1181100" y="2762250"/>
            <a:ext cx="47815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575" b="0">
                <a:solidFill>
                  <a:srgbClr val="17202A"/>
                </a:solidFill>
                <a:latin typeface="Aptos"/>
                <a:ea typeface="Aptos"/>
                <a:cs typeface="Aptos"/>
              </a:defRPr>
            </a:pPr>
            <a:r>
              <a:rPr sz="1575" b="0">
                <a:solidFill>
                  <a:srgbClr val="17202A"/>
                </a:solidFill>
                <a:latin typeface="Aptos"/>
                <a:ea typeface="Aptos"/>
                <a:cs typeface="Aptos"/>
              </a:rPr>
              <a:t>Wie kann ein KI-Assistent in den GitLab-Workflow integriert werden?</a:t>
            </a:r>
          </a:p>
        </p:txBody>
      </p:sp>
      <p:sp>
        <p:nvSpPr>
          <p:cNvPr id="8" name="cannot-left-dot-3">
            <a:extLst xmlns:a="http://schemas.openxmlformats.org/drawingml/2006/main">
              <a:ext uri="{FF2B5EF4-FFF2-40B4-BE49-F238E27FC236}">
                <a16:creationId xmlns:a16="http://schemas.microsoft.com/office/drawing/2014/main" id="{E8880D68-5342-43E9-B37C-BA012BB10212}"/>
              </a:ext>
            </a:extLst>
          </p:cNvPr>
          <p:cNvSpPr>
            <a:spLocks xmlns:a="http://schemas.openxmlformats.org/drawingml/2006/main" noGrp="1"/>
          </p:cNvSpPr>
          <p:nvPr/>
        </p:nvSpPr>
        <p:spPr>
          <a:xfrm xmlns:a="http://schemas.openxmlformats.org/drawingml/2006/main">
            <a:off x="952500" y="3381375"/>
            <a:ext cx="95250" cy="95250"/>
          </a:xfrm>
          <a:prstGeom xmlns:a="http://schemas.openxmlformats.org/drawingml/2006/main" prst="ellipse">
            <a:avLst/>
          </a:prstGeom>
          <a:solidFill xmlns:a="http://schemas.openxmlformats.org/drawingml/2006/main">
            <a:srgbClr val="A33E3E"/>
          </a:solidFill>
          <a:ln xmlns:a="http://schemas.openxmlformats.org/drawingml/2006/main" w="0">
            <a:solidFill>
              <a:srgbClr val="A33E3E"/>
            </a:solidFill>
            <a:prstDash val="solid"/>
          </a:ln>
        </p:spPr>
      </p:sp>
      <p:sp>
        <p:nvSpPr>
          <p:cNvPr id="9" name="cannot-left-text-3">
            <a:extLst xmlns:a="http://schemas.openxmlformats.org/drawingml/2006/main">
              <a:ext uri="{FF2B5EF4-FFF2-40B4-BE49-F238E27FC236}">
                <a16:creationId xmlns:a16="http://schemas.microsoft.com/office/drawing/2014/main" id="{84706092-B23B-440B-BBD6-FBBE2504BD01}"/>
              </a:ext>
            </a:extLst>
          </p:cNvPr>
          <p:cNvSpPr>
            <a:spLocks xmlns:a="http://schemas.openxmlformats.org/drawingml/2006/main" noGrp="1"/>
          </p:cNvSpPr>
          <p:nvPr/>
        </p:nvSpPr>
        <p:spPr>
          <a:xfrm xmlns:a="http://schemas.openxmlformats.org/drawingml/2006/main">
            <a:off x="1181100" y="3295650"/>
            <a:ext cx="47815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575" b="0">
                <a:solidFill>
                  <a:srgbClr val="17202A"/>
                </a:solidFill>
                <a:latin typeface="Aptos"/>
                <a:ea typeface="Aptos"/>
                <a:cs typeface="Aptos"/>
              </a:defRPr>
            </a:pPr>
            <a:r>
              <a:rPr sz="1575" b="0">
                <a:solidFill>
                  <a:srgbClr val="17202A"/>
                </a:solidFill>
                <a:latin typeface="Aptos"/>
                <a:ea typeface="Aptos"/>
                <a:cs typeface="Aptos"/>
              </a:rPr>
              <a:t>Wie bleiben Analyse, Vorschlag und Übernahme technisch kontrolliert?</a:t>
            </a:r>
          </a:p>
        </p:txBody>
      </p:sp>
      <p:sp>
        <p:nvSpPr>
          <p:cNvPr id="10" name="cannot-left-dot-4">
            <a:extLst xmlns:a="http://schemas.openxmlformats.org/drawingml/2006/main">
              <a:ext uri="{FF2B5EF4-FFF2-40B4-BE49-F238E27FC236}">
                <a16:creationId xmlns:a16="http://schemas.microsoft.com/office/drawing/2014/main" id="{3E25228A-179E-43E2-A258-B0F8C2498D1E}"/>
              </a:ext>
            </a:extLst>
          </p:cNvPr>
          <p:cNvSpPr>
            <a:spLocks xmlns:a="http://schemas.openxmlformats.org/drawingml/2006/main" noGrp="1"/>
          </p:cNvSpPr>
          <p:nvPr/>
        </p:nvSpPr>
        <p:spPr>
          <a:xfrm xmlns:a="http://schemas.openxmlformats.org/drawingml/2006/main">
            <a:off x="952500" y="3914775"/>
            <a:ext cx="95250" cy="95250"/>
          </a:xfrm>
          <a:prstGeom xmlns:a="http://schemas.openxmlformats.org/drawingml/2006/main" prst="ellipse">
            <a:avLst/>
          </a:prstGeom>
          <a:solidFill xmlns:a="http://schemas.openxmlformats.org/drawingml/2006/main">
            <a:srgbClr val="A33E3E"/>
          </a:solidFill>
          <a:ln xmlns:a="http://schemas.openxmlformats.org/drawingml/2006/main" w="0">
            <a:solidFill>
              <a:srgbClr val="A33E3E"/>
            </a:solidFill>
            <a:prstDash val="solid"/>
          </a:ln>
        </p:spPr>
      </p:sp>
      <p:sp>
        <p:nvSpPr>
          <p:cNvPr id="11" name="cannot-left-text-4">
            <a:extLst xmlns:a="http://schemas.openxmlformats.org/drawingml/2006/main">
              <a:ext uri="{FF2B5EF4-FFF2-40B4-BE49-F238E27FC236}">
                <a16:creationId xmlns:a16="http://schemas.microsoft.com/office/drawing/2014/main" id="{D798B034-D30F-4807-BE21-096EBB2493BC}"/>
              </a:ext>
            </a:extLst>
          </p:cNvPr>
          <p:cNvSpPr>
            <a:spLocks xmlns:a="http://schemas.openxmlformats.org/drawingml/2006/main" noGrp="1"/>
          </p:cNvSpPr>
          <p:nvPr/>
        </p:nvSpPr>
        <p:spPr>
          <a:xfrm xmlns:a="http://schemas.openxmlformats.org/drawingml/2006/main">
            <a:off x="1181100" y="3829050"/>
            <a:ext cx="47815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575" b="0">
                <a:solidFill>
                  <a:srgbClr val="17202A"/>
                </a:solidFill>
                <a:latin typeface="Aptos"/>
                <a:ea typeface="Aptos"/>
                <a:cs typeface="Aptos"/>
              </a:defRPr>
            </a:pPr>
            <a:r>
              <a:rPr sz="1575" b="0">
                <a:solidFill>
                  <a:srgbClr val="17202A"/>
                </a:solidFill>
                <a:latin typeface="Aptos"/>
                <a:ea typeface="Aptos"/>
                <a:cs typeface="Aptos"/>
              </a:rPr>
              <a:t>Wie lässt sich das Verhalten reproduzierbar testen?</a:t>
            </a:r>
          </a:p>
        </p:txBody>
      </p:sp>
      <p:sp>
        <p:nvSpPr>
          <p:cNvPr id="12" name="boundary-note-box">
            <a:extLst xmlns:a="http://schemas.openxmlformats.org/drawingml/2006/main">
              <a:ext uri="{FF2B5EF4-FFF2-40B4-BE49-F238E27FC236}">
                <a16:creationId xmlns:a16="http://schemas.microsoft.com/office/drawing/2014/main" id="{DAAF9F0D-E909-4096-96AF-792A966F5755}"/>
              </a:ext>
            </a:extLst>
          </p:cNvPr>
          <p:cNvSpPr>
            <a:spLocks xmlns:a="http://schemas.openxmlformats.org/drawingml/2006/main" noGrp="1"/>
          </p:cNvSpPr>
          <p:nvPr/>
        </p:nvSpPr>
        <p:spPr>
          <a:xfrm xmlns:a="http://schemas.openxmlformats.org/drawingml/2006/main">
            <a:off x="6762750" y="2266950"/>
            <a:ext cx="3771900" cy="2209800"/>
          </a:xfrm>
          <a:prstGeom xmlns:a="http://schemas.openxmlformats.org/drawingml/2006/main" prst="rect">
            <a:avLst/>
          </a:prstGeom>
          <a:solidFill xmlns:a="http://schemas.openxmlformats.org/drawingml/2006/main">
            <a:srgbClr val="FFFFFF"/>
          </a:solidFill>
          <a:ln xmlns:a="http://schemas.openxmlformats.org/drawingml/2006/main" w="9525">
            <a:solidFill>
              <a:srgbClr val="E6EBF1"/>
            </a:solidFill>
            <a:prstDash val="solid"/>
          </a:ln>
        </p:spPr>
      </p:sp>
      <p:sp>
        <p:nvSpPr>
          <p:cNvPr id="13" name="boundary-note-rule">
            <a:extLst xmlns:a="http://schemas.openxmlformats.org/drawingml/2006/main">
              <a:ext uri="{FF2B5EF4-FFF2-40B4-BE49-F238E27FC236}">
                <a16:creationId xmlns:a16="http://schemas.microsoft.com/office/drawing/2014/main" id="{B3BF16EF-92E9-48C0-97F1-9F7EAF099E85}"/>
              </a:ext>
            </a:extLst>
          </p:cNvPr>
          <p:cNvSpPr>
            <a:spLocks xmlns:a="http://schemas.openxmlformats.org/drawingml/2006/main" noGrp="1"/>
          </p:cNvSpPr>
          <p:nvPr/>
        </p:nvSpPr>
        <p:spPr>
          <a:xfrm xmlns:a="http://schemas.openxmlformats.org/drawingml/2006/main">
            <a:off x="6762750" y="2266950"/>
            <a:ext cx="3771900" cy="47625"/>
          </a:xfrm>
          <a:prstGeom xmlns:a="http://schemas.openxmlformats.org/drawingml/2006/main" prst="rect">
            <a:avLst/>
          </a:prstGeom>
          <a:solidFill xmlns:a="http://schemas.openxmlformats.org/drawingml/2006/main">
            <a:srgbClr val="A33E3E"/>
          </a:solidFill>
          <a:ln xmlns:a="http://schemas.openxmlformats.org/drawingml/2006/main" w="0">
            <a:solidFill>
              <a:srgbClr val="A33E3E"/>
            </a:solidFill>
            <a:prstDash val="solid"/>
          </a:ln>
        </p:spPr>
      </p:sp>
      <p:sp>
        <p:nvSpPr>
          <p:cNvPr id="14" name="boundary-note-title">
            <a:extLst xmlns:a="http://schemas.openxmlformats.org/drawingml/2006/main">
              <a:ext uri="{FF2B5EF4-FFF2-40B4-BE49-F238E27FC236}">
                <a16:creationId xmlns:a16="http://schemas.microsoft.com/office/drawing/2014/main" id="{8AE2C65A-827A-4CD3-A01F-843B5B2F848F}"/>
              </a:ext>
            </a:extLst>
          </p:cNvPr>
          <p:cNvSpPr>
            <a:spLocks xmlns:a="http://schemas.openxmlformats.org/drawingml/2006/main" noGrp="1"/>
          </p:cNvSpPr>
          <p:nvPr/>
        </p:nvSpPr>
        <p:spPr>
          <a:xfrm xmlns:a="http://schemas.openxmlformats.org/drawingml/2006/main">
            <a:off x="7067550" y="2609850"/>
            <a:ext cx="3162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875" b="1">
                <a:solidFill>
                  <a:srgbClr val="17202A"/>
                </a:solidFill>
                <a:latin typeface="Aptos"/>
                <a:ea typeface="Aptos"/>
                <a:cs typeface="Aptos"/>
              </a:defRPr>
            </a:pPr>
            <a:r>
              <a:rPr sz="1875" b="1">
                <a:solidFill>
                  <a:srgbClr val="17202A"/>
                </a:solidFill>
                <a:latin typeface="Aptos"/>
                <a:ea typeface="Aptos"/>
                <a:cs typeface="Aptos"/>
              </a:rPr>
              <a:t>Zielbild</a:t>
            </a:r>
          </a:p>
        </p:txBody>
      </p:sp>
      <p:sp>
        <p:nvSpPr>
          <p:cNvPr id="15" name="boundary-note-copy">
            <a:extLst xmlns:a="http://schemas.openxmlformats.org/drawingml/2006/main">
              <a:ext uri="{FF2B5EF4-FFF2-40B4-BE49-F238E27FC236}">
                <a16:creationId xmlns:a16="http://schemas.microsoft.com/office/drawing/2014/main" id="{DF3AFCE7-E812-4928-AA28-B05E25BEE399}"/>
              </a:ext>
            </a:extLst>
          </p:cNvPr>
          <p:cNvSpPr>
            <a:spLocks xmlns:a="http://schemas.openxmlformats.org/drawingml/2006/main" noGrp="1"/>
          </p:cNvSpPr>
          <p:nvPr/>
        </p:nvSpPr>
        <p:spPr>
          <a:xfrm xmlns:a="http://schemas.openxmlformats.org/drawingml/2006/main">
            <a:off x="7067550" y="3105150"/>
            <a:ext cx="31242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575" b="0">
                <a:solidFill>
                  <a:srgbClr val="5B6470"/>
                </a:solidFill>
                <a:latin typeface="Aptos"/>
                <a:ea typeface="Aptos"/>
                <a:cs typeface="Aptos"/>
              </a:defRPr>
            </a:pPr>
            <a:r>
              <a:rPr sz="1575" b="0">
                <a:solidFill>
                  <a:srgbClr val="5B6470"/>
                </a:solidFill>
                <a:latin typeface="Aptos"/>
                <a:ea typeface="Aptos"/>
                <a:cs typeface="Aptos"/>
              </a:rPr>
              <a:t>Ein prototypischer Dev-Assist, der Kontext sammelt, fehlende Informationen erkennt, Rückfragen stellt oder eine strukturierte Ticketfassung vorschlägt.</a:t>
            </a:r>
          </a:p>
        </p:txBody>
      </p:sp>
      <p:sp>
        <p:nvSpPr>
          <p:cNvPr id="16" name="footer-left-4">
            <a:extLst xmlns:a="http://schemas.openxmlformats.org/drawingml/2006/main">
              <a:ext uri="{FF2B5EF4-FFF2-40B4-BE49-F238E27FC236}">
                <a16:creationId xmlns:a16="http://schemas.microsoft.com/office/drawing/2014/main" id="{D0330BCE-930D-4434-B54F-C1F25852F659}"/>
              </a:ext>
            </a:extLst>
          </p:cNvPr>
          <p:cNvSpPr>
            <a:spLocks xmlns:a="http://schemas.openxmlformats.org/drawingml/2006/main" noGrp="1"/>
          </p:cNvSpPr>
          <p:nvPr/>
        </p:nvSpPr>
        <p:spPr>
          <a:xfrm xmlns:a="http://schemas.openxmlformats.org/drawingml/2006/main">
            <a:off x="723900" y="63436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75" b="0">
                <a:solidFill>
                  <a:srgbClr val="5B6470"/>
                </a:solidFill>
                <a:latin typeface="Aptos"/>
                <a:ea typeface="Aptos"/>
                <a:cs typeface="Aptos"/>
              </a:defRPr>
            </a:pPr>
            <a:r>
              <a:rPr sz="975" b="0">
                <a:solidFill>
                  <a:srgbClr val="5B6470"/>
                </a:solidFill>
                <a:latin typeface="Aptos"/>
                <a:ea typeface="Aptos"/>
                <a:cs typeface="Aptos"/>
              </a:rPr>
              <a:t>Projektvorstellung für den Zweitgutachter</a:t>
            </a:r>
          </a:p>
        </p:txBody>
      </p:sp>
      <p:sp>
        <p:nvSpPr>
          <p:cNvPr id="17" name="footer-right-4">
            <a:extLst xmlns:a="http://schemas.openxmlformats.org/drawingml/2006/main">
              <a:ext uri="{FF2B5EF4-FFF2-40B4-BE49-F238E27FC236}">
                <a16:creationId xmlns:a16="http://schemas.microsoft.com/office/drawing/2014/main" id="{BB6C5E02-F5BC-4ADC-ABF8-CC995B4DD9BF}"/>
              </a:ext>
            </a:extLst>
          </p:cNvPr>
          <p:cNvSpPr>
            <a:spLocks xmlns:a="http://schemas.openxmlformats.org/drawingml/2006/main" noGrp="1"/>
          </p:cNvSpPr>
          <p:nvPr/>
        </p:nvSpPr>
        <p:spPr>
          <a:xfrm xmlns:a="http://schemas.openxmlformats.org/drawingml/2006/main">
            <a:off x="10934700" y="6286500"/>
            <a:ext cx="533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1200" b="1">
                <a:solidFill>
                  <a:srgbClr val="5B6470"/>
                </a:solidFill>
                <a:latin typeface="Aptos"/>
                <a:ea typeface="Aptos"/>
                <a:cs typeface="Aptos"/>
              </a:defRPr>
            </a:pPr>
            <a:r>
              <a:rPr sz="1200" b="1">
                <a:solidFill>
                  <a:srgbClr val="5B6470"/>
                </a:solidFill>
                <a:latin typeface="Aptos"/>
                <a:ea typeface="Aptos"/>
                <a:cs typeface="Aptos"/>
              </a:rPr>
              <a:t>05</a:t>
            </a:r>
          </a:p>
        </p:txBody>
      </p:sp>
    </p:spTree>
    <p:extLst>
      <p:ext uri="{BB962C8B-B14F-4D97-AF65-F5344CB8AC3E}">
        <p14:creationId xmlns:p14="http://schemas.microsoft.com/office/powerpoint/2010/main" val="284948577"/>
      </p:ext>
    </p:extLst>
  </p:cSld>
</p:sld>
</file>

<file path=ppt/slides/slide6.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 name="kicker-4">
            <a:extLst xmlns:a="http://schemas.openxmlformats.org/drawingml/2006/main">
              <a:ext uri="{FF2B5EF4-FFF2-40B4-BE49-F238E27FC236}">
                <a16:creationId xmlns:a16="http://schemas.microsoft.com/office/drawing/2014/main" id="{B179D1FE-8048-4541-9DA4-FD74C81EC37D}"/>
              </a:ext>
            </a:extLst>
          </p:cNvPr>
          <p:cNvSpPr>
            <a:spLocks xmlns:a="http://schemas.openxmlformats.org/drawingml/2006/main" noGrp="1"/>
          </p:cNvSpPr>
          <p:nvPr/>
        </p:nvSpPr>
        <p:spPr>
          <a:xfrm xmlns:a="http://schemas.openxmlformats.org/drawingml/2006/main">
            <a:off x="723900" y="457200"/>
            <a:ext cx="723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125" b="1">
                <a:solidFill>
                  <a:srgbClr val="1F6F78"/>
                </a:solidFill>
                <a:latin typeface="Aptos"/>
                <a:ea typeface="Aptos"/>
                <a:cs typeface="Aptos"/>
              </a:defRPr>
            </a:pPr>
            <a:r>
              <a:rPr sz="1125" b="1">
                <a:solidFill>
                  <a:srgbClr val="1F6F78"/>
                </a:solidFill>
                <a:latin typeface="Aptos"/>
                <a:ea typeface="Aptos"/>
                <a:cs typeface="Aptos"/>
              </a:rPr>
              <a:t>GITLAB DEV-ASSIST</a:t>
            </a:r>
          </a:p>
        </p:txBody>
      </p:sp>
      <p:sp>
        <p:nvSpPr>
          <p:cNvPr id="2" name="title-4">
            <a:extLst xmlns:a="http://schemas.openxmlformats.org/drawingml/2006/main">
              <a:ext uri="{FF2B5EF4-FFF2-40B4-BE49-F238E27FC236}">
                <a16:creationId xmlns:a16="http://schemas.microsoft.com/office/drawing/2014/main" id="{1F8E0010-BC4B-4D30-BAF1-771D5F8C0E93}"/>
              </a:ext>
            </a:extLst>
          </p:cNvPr>
          <p:cNvSpPr>
            <a:spLocks xmlns:a="http://schemas.openxmlformats.org/drawingml/2006/main" noGrp="1"/>
          </p:cNvSpPr>
          <p:nvPr/>
        </p:nvSpPr>
        <p:spPr>
          <a:xfrm xmlns:a="http://schemas.openxmlformats.org/drawingml/2006/main">
            <a:off x="723900" y="800100"/>
            <a:ext cx="8763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850" b="1">
                <a:solidFill>
                  <a:srgbClr val="17202A"/>
                </a:solidFill>
                <a:latin typeface="Aptos Display"/>
                <a:ea typeface="Aptos Display"/>
                <a:cs typeface="Aptos Display"/>
              </a:defRPr>
            </a:pPr>
            <a:r>
              <a:rPr sz="2850" b="1">
                <a:solidFill>
                  <a:srgbClr val="17202A"/>
                </a:solidFill>
                <a:latin typeface="Aptos Display"/>
                <a:ea typeface="Aptos Display"/>
                <a:cs typeface="Aptos Display"/>
              </a:rPr>
              <a:t>Abgrenzung: Assistenz statt Autonomie</a:t>
            </a:r>
          </a:p>
        </p:txBody>
      </p:sp>
      <p:sp>
        <p:nvSpPr>
          <p:cNvPr id="3" name="title-rule-4">
            <a:extLst xmlns:a="http://schemas.openxmlformats.org/drawingml/2006/main">
              <a:ext uri="{FF2B5EF4-FFF2-40B4-BE49-F238E27FC236}">
                <a16:creationId xmlns:a16="http://schemas.microsoft.com/office/drawing/2014/main" id="{4029AF5C-B857-4665-90C8-9C66705E37A2}"/>
              </a:ext>
            </a:extLst>
          </p:cNvPr>
          <p:cNvSpPr>
            <a:spLocks xmlns:a="http://schemas.openxmlformats.org/drawingml/2006/main" noGrp="1"/>
          </p:cNvSpPr>
          <p:nvPr/>
        </p:nvSpPr>
        <p:spPr>
          <a:xfrm xmlns:a="http://schemas.openxmlformats.org/drawingml/2006/main">
            <a:off x="723900" y="1466850"/>
            <a:ext cx="10744200" cy="19050"/>
          </a:xfrm>
          <a:prstGeom xmlns:a="http://schemas.openxmlformats.org/drawingml/2006/main" prst="rect">
            <a:avLst/>
          </a:prstGeom>
          <a:solidFill xmlns:a="http://schemas.openxmlformats.org/drawingml/2006/main">
            <a:srgbClr val="E6EBF1"/>
          </a:solidFill>
          <a:ln xmlns:a="http://schemas.openxmlformats.org/drawingml/2006/main" w="0">
            <a:solidFill>
              <a:srgbClr val="E6EBF1"/>
            </a:solidFill>
            <a:prstDash val="solid"/>
          </a:ln>
        </p:spPr>
      </p:sp>
      <p:sp>
        <p:nvSpPr>
          <p:cNvPr id="4" name="cannot-left-dot-1">
            <a:extLst xmlns:a="http://schemas.openxmlformats.org/drawingml/2006/main">
              <a:ext uri="{FF2B5EF4-FFF2-40B4-BE49-F238E27FC236}">
                <a16:creationId xmlns:a16="http://schemas.microsoft.com/office/drawing/2014/main" id="{CFB1D873-D7F3-4E08-B936-4D20403B1F41}"/>
              </a:ext>
            </a:extLst>
          </p:cNvPr>
          <p:cNvSpPr>
            <a:spLocks xmlns:a="http://schemas.openxmlformats.org/drawingml/2006/main" noGrp="1"/>
          </p:cNvSpPr>
          <p:nvPr/>
        </p:nvSpPr>
        <p:spPr>
          <a:xfrm xmlns:a="http://schemas.openxmlformats.org/drawingml/2006/main">
            <a:off x="952500" y="2238375"/>
            <a:ext cx="95250" cy="95250"/>
          </a:xfrm>
          <a:prstGeom xmlns:a="http://schemas.openxmlformats.org/drawingml/2006/main" prst="ellipse">
            <a:avLst/>
          </a:prstGeom>
          <a:solidFill xmlns:a="http://schemas.openxmlformats.org/drawingml/2006/main">
            <a:srgbClr val="A33E3E"/>
          </a:solidFill>
          <a:ln xmlns:a="http://schemas.openxmlformats.org/drawingml/2006/main" w="0">
            <a:solidFill>
              <a:srgbClr val="A33E3E"/>
            </a:solidFill>
            <a:prstDash val="solid"/>
          </a:ln>
        </p:spPr>
      </p:sp>
      <p:sp>
        <p:nvSpPr>
          <p:cNvPr id="5" name="cannot-left-text-1">
            <a:extLst xmlns:a="http://schemas.openxmlformats.org/drawingml/2006/main">
              <a:ext uri="{FF2B5EF4-FFF2-40B4-BE49-F238E27FC236}">
                <a16:creationId xmlns:a16="http://schemas.microsoft.com/office/drawing/2014/main" id="{28981EDE-85C0-4D16-A8DF-A1D5159F6958}"/>
              </a:ext>
            </a:extLst>
          </p:cNvPr>
          <p:cNvSpPr>
            <a:spLocks xmlns:a="http://schemas.openxmlformats.org/drawingml/2006/main" noGrp="1"/>
          </p:cNvSpPr>
          <p:nvPr/>
        </p:nvSpPr>
        <p:spPr>
          <a:xfrm xmlns:a="http://schemas.openxmlformats.org/drawingml/2006/main">
            <a:off x="1181100" y="2152650"/>
            <a:ext cx="47815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575" b="0">
                <a:solidFill>
                  <a:srgbClr val="17202A"/>
                </a:solidFill>
                <a:latin typeface="Aptos"/>
                <a:ea typeface="Aptos"/>
                <a:cs typeface="Aptos"/>
              </a:defRPr>
            </a:pPr>
            <a:r>
              <a:rPr sz="1575" b="0">
                <a:solidFill>
                  <a:srgbClr val="17202A"/>
                </a:solidFill>
                <a:latin typeface="Aptos"/>
                <a:ea typeface="Aptos"/>
                <a:cs typeface="Aptos"/>
              </a:rPr>
              <a:t>Keine autonome Code-Änderung und keine Umsetzung von Tickets.</a:t>
            </a:r>
          </a:p>
        </p:txBody>
      </p:sp>
      <p:sp>
        <p:nvSpPr>
          <p:cNvPr id="6" name="cannot-left-dot-2">
            <a:extLst xmlns:a="http://schemas.openxmlformats.org/drawingml/2006/main">
              <a:ext uri="{FF2B5EF4-FFF2-40B4-BE49-F238E27FC236}">
                <a16:creationId xmlns:a16="http://schemas.microsoft.com/office/drawing/2014/main" id="{A6C74487-3589-4448-B851-B9025970F33F}"/>
              </a:ext>
            </a:extLst>
          </p:cNvPr>
          <p:cNvSpPr>
            <a:spLocks xmlns:a="http://schemas.openxmlformats.org/drawingml/2006/main" noGrp="1"/>
          </p:cNvSpPr>
          <p:nvPr/>
        </p:nvSpPr>
        <p:spPr>
          <a:xfrm xmlns:a="http://schemas.openxmlformats.org/drawingml/2006/main">
            <a:off x="952500" y="2847975"/>
            <a:ext cx="95250" cy="95250"/>
          </a:xfrm>
          <a:prstGeom xmlns:a="http://schemas.openxmlformats.org/drawingml/2006/main" prst="ellipse">
            <a:avLst/>
          </a:prstGeom>
          <a:solidFill xmlns:a="http://schemas.openxmlformats.org/drawingml/2006/main">
            <a:srgbClr val="A33E3E"/>
          </a:solidFill>
          <a:ln xmlns:a="http://schemas.openxmlformats.org/drawingml/2006/main" w="0">
            <a:solidFill>
              <a:srgbClr val="A33E3E"/>
            </a:solidFill>
            <a:prstDash val="solid"/>
          </a:ln>
        </p:spPr>
      </p:sp>
      <p:sp>
        <p:nvSpPr>
          <p:cNvPr id="7" name="cannot-left-text-2">
            <a:extLst xmlns:a="http://schemas.openxmlformats.org/drawingml/2006/main">
              <a:ext uri="{FF2B5EF4-FFF2-40B4-BE49-F238E27FC236}">
                <a16:creationId xmlns:a16="http://schemas.microsoft.com/office/drawing/2014/main" id="{7C43F153-9BF5-47F4-9872-2AD9471AB458}"/>
              </a:ext>
            </a:extLst>
          </p:cNvPr>
          <p:cNvSpPr>
            <a:spLocks xmlns:a="http://schemas.openxmlformats.org/drawingml/2006/main" noGrp="1"/>
          </p:cNvSpPr>
          <p:nvPr/>
        </p:nvSpPr>
        <p:spPr>
          <a:xfrm xmlns:a="http://schemas.openxmlformats.org/drawingml/2006/main">
            <a:off x="1181100" y="2762250"/>
            <a:ext cx="47815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575" b="0">
                <a:solidFill>
                  <a:srgbClr val="17202A"/>
                </a:solidFill>
                <a:latin typeface="Aptos"/>
                <a:ea typeface="Aptos"/>
                <a:cs typeface="Aptos"/>
              </a:defRPr>
            </a:pPr>
            <a:r>
              <a:rPr sz="1575" b="0">
                <a:solidFill>
                  <a:srgbClr val="17202A"/>
                </a:solidFill>
                <a:latin typeface="Aptos"/>
                <a:ea typeface="Aptos"/>
                <a:cs typeface="Aptos"/>
              </a:rPr>
              <a:t>Keine automatische Issue-Änderung ohne explizites Publish-Kommando.</a:t>
            </a:r>
          </a:p>
        </p:txBody>
      </p:sp>
      <p:sp>
        <p:nvSpPr>
          <p:cNvPr id="8" name="cannot-left-dot-3">
            <a:extLst xmlns:a="http://schemas.openxmlformats.org/drawingml/2006/main">
              <a:ext uri="{FF2B5EF4-FFF2-40B4-BE49-F238E27FC236}">
                <a16:creationId xmlns:a16="http://schemas.microsoft.com/office/drawing/2014/main" id="{E8880D68-5342-43E9-B37C-BA012BB10212}"/>
              </a:ext>
            </a:extLst>
          </p:cNvPr>
          <p:cNvSpPr>
            <a:spLocks xmlns:a="http://schemas.openxmlformats.org/drawingml/2006/main" noGrp="1"/>
          </p:cNvSpPr>
          <p:nvPr/>
        </p:nvSpPr>
        <p:spPr>
          <a:xfrm xmlns:a="http://schemas.openxmlformats.org/drawingml/2006/main">
            <a:off x="952500" y="3381375"/>
            <a:ext cx="95250" cy="95250"/>
          </a:xfrm>
          <a:prstGeom xmlns:a="http://schemas.openxmlformats.org/drawingml/2006/main" prst="ellipse">
            <a:avLst/>
          </a:prstGeom>
          <a:solidFill xmlns:a="http://schemas.openxmlformats.org/drawingml/2006/main">
            <a:srgbClr val="A33E3E"/>
          </a:solidFill>
          <a:ln xmlns:a="http://schemas.openxmlformats.org/drawingml/2006/main" w="0">
            <a:solidFill>
              <a:srgbClr val="A33E3E"/>
            </a:solidFill>
            <a:prstDash val="solid"/>
          </a:ln>
        </p:spPr>
      </p:sp>
      <p:sp>
        <p:nvSpPr>
          <p:cNvPr id="9" name="cannot-left-text-3">
            <a:extLst xmlns:a="http://schemas.openxmlformats.org/drawingml/2006/main">
              <a:ext uri="{FF2B5EF4-FFF2-40B4-BE49-F238E27FC236}">
                <a16:creationId xmlns:a16="http://schemas.microsoft.com/office/drawing/2014/main" id="{84706092-B23B-440B-BBD6-FBBE2504BD01}"/>
              </a:ext>
            </a:extLst>
          </p:cNvPr>
          <p:cNvSpPr>
            <a:spLocks xmlns:a="http://schemas.openxmlformats.org/drawingml/2006/main" noGrp="1"/>
          </p:cNvSpPr>
          <p:nvPr/>
        </p:nvSpPr>
        <p:spPr>
          <a:xfrm xmlns:a="http://schemas.openxmlformats.org/drawingml/2006/main">
            <a:off x="1181100" y="3295650"/>
            <a:ext cx="47815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575" b="0">
                <a:solidFill>
                  <a:srgbClr val="17202A"/>
                </a:solidFill>
                <a:latin typeface="Aptos"/>
                <a:ea typeface="Aptos"/>
                <a:cs typeface="Aptos"/>
              </a:defRPr>
            </a:pPr>
            <a:r>
              <a:rPr sz="1575" b="0">
                <a:solidFill>
                  <a:srgbClr val="17202A"/>
                </a:solidFill>
                <a:latin typeface="Aptos"/>
                <a:ea typeface="Aptos"/>
                <a:cs typeface="Aptos"/>
              </a:rPr>
              <a:t>Keine fachliche Entscheidung über Priorität, Scope oder Produktnutzen.</a:t>
            </a:r>
          </a:p>
        </p:txBody>
      </p:sp>
      <p:sp>
        <p:nvSpPr>
          <p:cNvPr id="10" name="cannot-left-dot-4">
            <a:extLst xmlns:a="http://schemas.openxmlformats.org/drawingml/2006/main">
              <a:ext uri="{FF2B5EF4-FFF2-40B4-BE49-F238E27FC236}">
                <a16:creationId xmlns:a16="http://schemas.microsoft.com/office/drawing/2014/main" id="{3E25228A-179E-43E2-A258-B0F8C2498D1E}"/>
              </a:ext>
            </a:extLst>
          </p:cNvPr>
          <p:cNvSpPr>
            <a:spLocks xmlns:a="http://schemas.openxmlformats.org/drawingml/2006/main" noGrp="1"/>
          </p:cNvSpPr>
          <p:nvPr/>
        </p:nvSpPr>
        <p:spPr>
          <a:xfrm xmlns:a="http://schemas.openxmlformats.org/drawingml/2006/main">
            <a:off x="952500" y="3914775"/>
            <a:ext cx="95250" cy="95250"/>
          </a:xfrm>
          <a:prstGeom xmlns:a="http://schemas.openxmlformats.org/drawingml/2006/main" prst="ellipse">
            <a:avLst/>
          </a:prstGeom>
          <a:solidFill xmlns:a="http://schemas.openxmlformats.org/drawingml/2006/main">
            <a:srgbClr val="A33E3E"/>
          </a:solidFill>
          <a:ln xmlns:a="http://schemas.openxmlformats.org/drawingml/2006/main" w="0">
            <a:solidFill>
              <a:srgbClr val="A33E3E"/>
            </a:solidFill>
            <a:prstDash val="solid"/>
          </a:ln>
        </p:spPr>
      </p:sp>
      <p:sp>
        <p:nvSpPr>
          <p:cNvPr id="11" name="cannot-left-text-4">
            <a:extLst xmlns:a="http://schemas.openxmlformats.org/drawingml/2006/main">
              <a:ext uri="{FF2B5EF4-FFF2-40B4-BE49-F238E27FC236}">
                <a16:creationId xmlns:a16="http://schemas.microsoft.com/office/drawing/2014/main" id="{D798B034-D30F-4807-BE21-096EBB2493BC}"/>
              </a:ext>
            </a:extLst>
          </p:cNvPr>
          <p:cNvSpPr>
            <a:spLocks xmlns:a="http://schemas.openxmlformats.org/drawingml/2006/main" noGrp="1"/>
          </p:cNvSpPr>
          <p:nvPr/>
        </p:nvSpPr>
        <p:spPr>
          <a:xfrm xmlns:a="http://schemas.openxmlformats.org/drawingml/2006/main">
            <a:off x="1181100" y="3829050"/>
            <a:ext cx="47815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575" b="0">
                <a:solidFill>
                  <a:srgbClr val="17202A"/>
                </a:solidFill>
                <a:latin typeface="Aptos"/>
                <a:ea typeface="Aptos"/>
                <a:cs typeface="Aptos"/>
              </a:defRPr>
            </a:pPr>
            <a:r>
              <a:rPr sz="1575" b="0">
                <a:solidFill>
                  <a:srgbClr val="17202A"/>
                </a:solidFill>
                <a:latin typeface="Aptos"/>
                <a:ea typeface="Aptos"/>
                <a:cs typeface="Aptos"/>
              </a:rPr>
              <a:t>Keine Annahmen als gesicherte Akzeptanzkriterien ausgeben.</a:t>
            </a:r>
          </a:p>
        </p:txBody>
      </p:sp>
      <p:sp>
        <p:nvSpPr>
          <p:cNvPr id="12" name="boundary-note-box">
            <a:extLst xmlns:a="http://schemas.openxmlformats.org/drawingml/2006/main">
              <a:ext uri="{FF2B5EF4-FFF2-40B4-BE49-F238E27FC236}">
                <a16:creationId xmlns:a16="http://schemas.microsoft.com/office/drawing/2014/main" id="{DAAF9F0D-E909-4096-96AF-792A966F5755}"/>
              </a:ext>
            </a:extLst>
          </p:cNvPr>
          <p:cNvSpPr>
            <a:spLocks xmlns:a="http://schemas.openxmlformats.org/drawingml/2006/main" noGrp="1"/>
          </p:cNvSpPr>
          <p:nvPr/>
        </p:nvSpPr>
        <p:spPr>
          <a:xfrm xmlns:a="http://schemas.openxmlformats.org/drawingml/2006/main">
            <a:off x="6762750" y="2266950"/>
            <a:ext cx="3771900" cy="2209800"/>
          </a:xfrm>
          <a:prstGeom xmlns:a="http://schemas.openxmlformats.org/drawingml/2006/main" prst="rect">
            <a:avLst/>
          </a:prstGeom>
          <a:solidFill xmlns:a="http://schemas.openxmlformats.org/drawingml/2006/main">
            <a:srgbClr val="FFFFFF"/>
          </a:solidFill>
          <a:ln xmlns:a="http://schemas.openxmlformats.org/drawingml/2006/main" w="9525">
            <a:solidFill>
              <a:srgbClr val="E6EBF1"/>
            </a:solidFill>
            <a:prstDash val="solid"/>
          </a:ln>
        </p:spPr>
      </p:sp>
      <p:sp>
        <p:nvSpPr>
          <p:cNvPr id="13" name="boundary-note-rule">
            <a:extLst xmlns:a="http://schemas.openxmlformats.org/drawingml/2006/main">
              <a:ext uri="{FF2B5EF4-FFF2-40B4-BE49-F238E27FC236}">
                <a16:creationId xmlns:a16="http://schemas.microsoft.com/office/drawing/2014/main" id="{B3BF16EF-92E9-48C0-97F1-9F7EAF099E85}"/>
              </a:ext>
            </a:extLst>
          </p:cNvPr>
          <p:cNvSpPr>
            <a:spLocks xmlns:a="http://schemas.openxmlformats.org/drawingml/2006/main" noGrp="1"/>
          </p:cNvSpPr>
          <p:nvPr/>
        </p:nvSpPr>
        <p:spPr>
          <a:xfrm xmlns:a="http://schemas.openxmlformats.org/drawingml/2006/main">
            <a:off x="6762750" y="2266950"/>
            <a:ext cx="3771900" cy="47625"/>
          </a:xfrm>
          <a:prstGeom xmlns:a="http://schemas.openxmlformats.org/drawingml/2006/main" prst="rect">
            <a:avLst/>
          </a:prstGeom>
          <a:solidFill xmlns:a="http://schemas.openxmlformats.org/drawingml/2006/main">
            <a:srgbClr val="A33E3E"/>
          </a:solidFill>
          <a:ln xmlns:a="http://schemas.openxmlformats.org/drawingml/2006/main" w="0">
            <a:solidFill>
              <a:srgbClr val="A33E3E"/>
            </a:solidFill>
            <a:prstDash val="solid"/>
          </a:ln>
        </p:spPr>
      </p:sp>
      <p:sp>
        <p:nvSpPr>
          <p:cNvPr id="14" name="boundary-note-title">
            <a:extLst xmlns:a="http://schemas.openxmlformats.org/drawingml/2006/main">
              <a:ext uri="{FF2B5EF4-FFF2-40B4-BE49-F238E27FC236}">
                <a16:creationId xmlns:a16="http://schemas.microsoft.com/office/drawing/2014/main" id="{8AE2C65A-827A-4CD3-A01F-843B5B2F848F}"/>
              </a:ext>
            </a:extLst>
          </p:cNvPr>
          <p:cNvSpPr>
            <a:spLocks xmlns:a="http://schemas.openxmlformats.org/drawingml/2006/main" noGrp="1"/>
          </p:cNvSpPr>
          <p:nvPr/>
        </p:nvSpPr>
        <p:spPr>
          <a:xfrm xmlns:a="http://schemas.openxmlformats.org/drawingml/2006/main">
            <a:off x="7067550" y="2609850"/>
            <a:ext cx="3162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875" b="1">
                <a:solidFill>
                  <a:srgbClr val="17202A"/>
                </a:solidFill>
                <a:latin typeface="Aptos"/>
                <a:ea typeface="Aptos"/>
                <a:cs typeface="Aptos"/>
              </a:defRPr>
            </a:pPr>
            <a:r>
              <a:rPr sz="1875" b="1">
                <a:solidFill>
                  <a:srgbClr val="17202A"/>
                </a:solidFill>
                <a:latin typeface="Aptos"/>
                <a:ea typeface="Aptos"/>
                <a:cs typeface="Aptos"/>
              </a:rPr>
              <a:t>Kontrollprinzip</a:t>
            </a:r>
          </a:p>
        </p:txBody>
      </p:sp>
      <p:sp>
        <p:nvSpPr>
          <p:cNvPr id="15" name="boundary-note-copy">
            <a:extLst xmlns:a="http://schemas.openxmlformats.org/drawingml/2006/main">
              <a:ext uri="{FF2B5EF4-FFF2-40B4-BE49-F238E27FC236}">
                <a16:creationId xmlns:a16="http://schemas.microsoft.com/office/drawing/2014/main" id="{DF3AFCE7-E812-4928-AA28-B05E25BEE399}"/>
              </a:ext>
            </a:extLst>
          </p:cNvPr>
          <p:cNvSpPr>
            <a:spLocks xmlns:a="http://schemas.openxmlformats.org/drawingml/2006/main" noGrp="1"/>
          </p:cNvSpPr>
          <p:nvPr/>
        </p:nvSpPr>
        <p:spPr>
          <a:xfrm xmlns:a="http://schemas.openxmlformats.org/drawingml/2006/main">
            <a:off x="7067550" y="3105150"/>
            <a:ext cx="31242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575" b="0">
                <a:solidFill>
                  <a:srgbClr val="5B6470"/>
                </a:solidFill>
                <a:latin typeface="Aptos"/>
                <a:ea typeface="Aptos"/>
                <a:cs typeface="Aptos"/>
              </a:defRPr>
            </a:pPr>
            <a:r>
              <a:rPr sz="1575" b="0">
                <a:solidFill>
                  <a:srgbClr val="5B6470"/>
                </a:solidFill>
                <a:latin typeface="Aptos"/>
                <a:ea typeface="Aptos"/>
                <a:cs typeface="Aptos"/>
              </a:rPr>
              <a:t>Das Modell analysiert und formuliert. Die Anwendung validiert, begrenzt Berechtigungen und übernimmt Änderungen erst nach menschlicher Freigabe.</a:t>
            </a:r>
          </a:p>
        </p:txBody>
      </p:sp>
      <p:sp>
        <p:nvSpPr>
          <p:cNvPr id="16" name="footer-left-4">
            <a:extLst xmlns:a="http://schemas.openxmlformats.org/drawingml/2006/main">
              <a:ext uri="{FF2B5EF4-FFF2-40B4-BE49-F238E27FC236}">
                <a16:creationId xmlns:a16="http://schemas.microsoft.com/office/drawing/2014/main" id="{D0330BCE-930D-4434-B54F-C1F25852F659}"/>
              </a:ext>
            </a:extLst>
          </p:cNvPr>
          <p:cNvSpPr>
            <a:spLocks xmlns:a="http://schemas.openxmlformats.org/drawingml/2006/main" noGrp="1"/>
          </p:cNvSpPr>
          <p:nvPr/>
        </p:nvSpPr>
        <p:spPr>
          <a:xfrm xmlns:a="http://schemas.openxmlformats.org/drawingml/2006/main">
            <a:off x="723900" y="63436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75" b="0">
                <a:solidFill>
                  <a:srgbClr val="5B6470"/>
                </a:solidFill>
                <a:latin typeface="Aptos"/>
                <a:ea typeface="Aptos"/>
                <a:cs typeface="Aptos"/>
              </a:defRPr>
            </a:pPr>
            <a:r>
              <a:rPr sz="975" b="0">
                <a:solidFill>
                  <a:srgbClr val="5B6470"/>
                </a:solidFill>
                <a:latin typeface="Aptos"/>
                <a:ea typeface="Aptos"/>
                <a:cs typeface="Aptos"/>
              </a:rPr>
              <a:t>Projektvorstellung für den Zweitgutachter</a:t>
            </a:r>
          </a:p>
        </p:txBody>
      </p:sp>
      <p:sp>
        <p:nvSpPr>
          <p:cNvPr id="17" name="footer-right-4">
            <a:extLst xmlns:a="http://schemas.openxmlformats.org/drawingml/2006/main">
              <a:ext uri="{FF2B5EF4-FFF2-40B4-BE49-F238E27FC236}">
                <a16:creationId xmlns:a16="http://schemas.microsoft.com/office/drawing/2014/main" id="{BB6C5E02-F5BC-4ADC-ABF8-CC995B4DD9BF}"/>
              </a:ext>
            </a:extLst>
          </p:cNvPr>
          <p:cNvSpPr>
            <a:spLocks xmlns:a="http://schemas.openxmlformats.org/drawingml/2006/main" noGrp="1"/>
          </p:cNvSpPr>
          <p:nvPr/>
        </p:nvSpPr>
        <p:spPr>
          <a:xfrm xmlns:a="http://schemas.openxmlformats.org/drawingml/2006/main">
            <a:off x="10934700" y="6286500"/>
            <a:ext cx="533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1200" b="1">
                <a:solidFill>
                  <a:srgbClr val="5B6470"/>
                </a:solidFill>
                <a:latin typeface="Aptos"/>
                <a:ea typeface="Aptos"/>
                <a:cs typeface="Aptos"/>
              </a:defRPr>
            </a:pPr>
            <a:r>
              <a:rPr sz="1200" b="1">
                <a:solidFill>
                  <a:srgbClr val="5B6470"/>
                </a:solidFill>
                <a:latin typeface="Aptos"/>
                <a:ea typeface="Aptos"/>
                <a:cs typeface="Aptos"/>
              </a:rPr>
              <a:t>06</a:t>
            </a:r>
          </a:p>
        </p:txBody>
      </p:sp>
    </p:spTree>
    <p:extLst>
      <p:ext uri="{BB962C8B-B14F-4D97-AF65-F5344CB8AC3E}">
        <p14:creationId xmlns:p14="http://schemas.microsoft.com/office/powerpoint/2010/main" val="284948577"/>
      </p:ext>
    </p:extLst>
  </p:cSld>
</p:sld>
</file>

<file path=ppt/slides/slide7.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 name="kicker-3">
            <a:extLst xmlns:a="http://schemas.openxmlformats.org/drawingml/2006/main">
              <a:ext uri="{FF2B5EF4-FFF2-40B4-BE49-F238E27FC236}">
                <a16:creationId xmlns:a16="http://schemas.microsoft.com/office/drawing/2014/main" id="{728E4FFC-A880-44E8-9541-76D52D18A0F8}"/>
              </a:ext>
            </a:extLst>
          </p:cNvPr>
          <p:cNvSpPr>
            <a:spLocks xmlns:a="http://schemas.openxmlformats.org/drawingml/2006/main" noGrp="1"/>
          </p:cNvSpPr>
          <p:nvPr/>
        </p:nvSpPr>
        <p:spPr>
          <a:xfrm xmlns:a="http://schemas.openxmlformats.org/drawingml/2006/main">
            <a:off x="723900" y="457200"/>
            <a:ext cx="723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125" b="1">
                <a:solidFill>
                  <a:srgbClr val="1F6F78"/>
                </a:solidFill>
                <a:latin typeface="Aptos"/>
                <a:ea typeface="Aptos"/>
                <a:cs typeface="Aptos"/>
              </a:defRPr>
            </a:pPr>
            <a:r>
              <a:rPr sz="1125" b="1">
                <a:solidFill>
                  <a:srgbClr val="1F6F78"/>
                </a:solidFill>
                <a:latin typeface="Aptos"/>
                <a:ea typeface="Aptos"/>
                <a:cs typeface="Aptos"/>
              </a:rPr>
              <a:t>GITLAB DEV-ASSIST</a:t>
            </a:r>
          </a:p>
        </p:txBody>
      </p:sp>
      <p:sp>
        <p:nvSpPr>
          <p:cNvPr id="2" name="title-3">
            <a:extLst xmlns:a="http://schemas.openxmlformats.org/drawingml/2006/main">
              <a:ext uri="{FF2B5EF4-FFF2-40B4-BE49-F238E27FC236}">
                <a16:creationId xmlns:a16="http://schemas.microsoft.com/office/drawing/2014/main" id="{39059AFE-C1C2-4FD4-96F5-99D89005F07D}"/>
              </a:ext>
            </a:extLst>
          </p:cNvPr>
          <p:cNvSpPr>
            <a:spLocks xmlns:a="http://schemas.openxmlformats.org/drawingml/2006/main" noGrp="1"/>
          </p:cNvSpPr>
          <p:nvPr/>
        </p:nvSpPr>
        <p:spPr>
          <a:xfrm xmlns:a="http://schemas.openxmlformats.org/drawingml/2006/main">
            <a:off x="723900" y="800100"/>
            <a:ext cx="8763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850" b="1">
                <a:solidFill>
                  <a:srgbClr val="17202A"/>
                </a:solidFill>
                <a:latin typeface="Aptos Display"/>
                <a:ea typeface="Aptos Display"/>
                <a:cs typeface="Aptos Display"/>
              </a:defRPr>
            </a:pPr>
            <a:r>
              <a:rPr sz="2850" b="1">
                <a:solidFill>
                  <a:srgbClr val="17202A"/>
                </a:solidFill>
                <a:latin typeface="Aptos Display"/>
                <a:ea typeface="Aptos Display"/>
                <a:cs typeface="Aptos Display"/>
              </a:rPr>
              <a:t>Anforderungen an Dev-Assist</a:t>
            </a:r>
          </a:p>
        </p:txBody>
      </p:sp>
      <p:sp>
        <p:nvSpPr>
          <p:cNvPr id="3" name="title-rule-3">
            <a:extLst xmlns:a="http://schemas.openxmlformats.org/drawingml/2006/main">
              <a:ext uri="{FF2B5EF4-FFF2-40B4-BE49-F238E27FC236}">
                <a16:creationId xmlns:a16="http://schemas.microsoft.com/office/drawing/2014/main" id="{6669E86C-E9CB-4EBE-A96B-709581F43F73}"/>
              </a:ext>
            </a:extLst>
          </p:cNvPr>
          <p:cNvSpPr>
            <a:spLocks xmlns:a="http://schemas.openxmlformats.org/drawingml/2006/main" noGrp="1"/>
          </p:cNvSpPr>
          <p:nvPr/>
        </p:nvSpPr>
        <p:spPr>
          <a:xfrm xmlns:a="http://schemas.openxmlformats.org/drawingml/2006/main">
            <a:off x="723900" y="1466850"/>
            <a:ext cx="10744200" cy="19050"/>
          </a:xfrm>
          <a:prstGeom xmlns:a="http://schemas.openxmlformats.org/drawingml/2006/main" prst="rect">
            <a:avLst/>
          </a:prstGeom>
          <a:solidFill xmlns:a="http://schemas.openxmlformats.org/drawingml/2006/main">
            <a:srgbClr val="E6EBF1"/>
          </a:solidFill>
          <a:ln xmlns:a="http://schemas.openxmlformats.org/drawingml/2006/main" w="0">
            <a:solidFill>
              <a:srgbClr val="E6EBF1"/>
            </a:solidFill>
            <a:prstDash val="solid"/>
          </a:ln>
        </p:spPr>
      </p:sp>
      <p:sp>
        <p:nvSpPr>
          <p:cNvPr id="4" name="can-left-dot-1">
            <a:extLst xmlns:a="http://schemas.openxmlformats.org/drawingml/2006/main">
              <a:ext uri="{FF2B5EF4-FFF2-40B4-BE49-F238E27FC236}">
                <a16:creationId xmlns:a16="http://schemas.microsoft.com/office/drawing/2014/main" id="{E7CE6411-8CDB-4373-9BBE-F35DE5BF9418}"/>
              </a:ext>
            </a:extLst>
          </p:cNvPr>
          <p:cNvSpPr>
            <a:spLocks xmlns:a="http://schemas.openxmlformats.org/drawingml/2006/main" noGrp="1"/>
          </p:cNvSpPr>
          <p:nvPr/>
        </p:nvSpPr>
        <p:spPr>
          <a:xfrm xmlns:a="http://schemas.openxmlformats.org/drawingml/2006/main">
            <a:off x="914400" y="2181225"/>
            <a:ext cx="95250" cy="95250"/>
          </a:xfrm>
          <a:prstGeom xmlns:a="http://schemas.openxmlformats.org/drawingml/2006/main" prst="ellipse">
            <a:avLst/>
          </a:prstGeom>
          <a:solidFill xmlns:a="http://schemas.openxmlformats.org/drawingml/2006/main">
            <a:srgbClr val="2E7D5B"/>
          </a:solidFill>
          <a:ln xmlns:a="http://schemas.openxmlformats.org/drawingml/2006/main" w="0">
            <a:solidFill>
              <a:srgbClr val="2E7D5B"/>
            </a:solidFill>
            <a:prstDash val="solid"/>
          </a:ln>
        </p:spPr>
      </p:sp>
      <p:sp>
        <p:nvSpPr>
          <p:cNvPr id="5" name="can-left-text-1">
            <a:extLst xmlns:a="http://schemas.openxmlformats.org/drawingml/2006/main">
              <a:ext uri="{FF2B5EF4-FFF2-40B4-BE49-F238E27FC236}">
                <a16:creationId xmlns:a16="http://schemas.microsoft.com/office/drawing/2014/main" id="{5F4DD59A-4BCB-494E-8203-2FB553B1BA72}"/>
              </a:ext>
            </a:extLst>
          </p:cNvPr>
          <p:cNvSpPr>
            <a:spLocks xmlns:a="http://schemas.openxmlformats.org/drawingml/2006/main" noGrp="1"/>
          </p:cNvSpPr>
          <p:nvPr/>
        </p:nvSpPr>
        <p:spPr>
          <a:xfrm xmlns:a="http://schemas.openxmlformats.org/drawingml/2006/main">
            <a:off x="1143000" y="2095500"/>
            <a:ext cx="45339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500" b="0">
                <a:solidFill>
                  <a:srgbClr val="17202A"/>
                </a:solidFill>
                <a:latin typeface="Aptos"/>
                <a:ea typeface="Aptos"/>
                <a:cs typeface="Aptos"/>
              </a:defRPr>
            </a:pPr>
            <a:r>
              <a:rPr sz="1500" b="0">
                <a:solidFill>
                  <a:srgbClr val="17202A"/>
                </a:solidFill>
                <a:latin typeface="Aptos"/>
                <a:ea typeface="Aptos"/>
                <a:cs typeface="Aptos"/>
              </a:rPr>
              <a:t>@dev-assist in Issues und Kommentaren zuverlässig erkennen.</a:t>
            </a:r>
          </a:p>
        </p:txBody>
      </p:sp>
      <p:sp>
        <p:nvSpPr>
          <p:cNvPr id="6" name="can-left-dot-2">
            <a:extLst xmlns:a="http://schemas.openxmlformats.org/drawingml/2006/main">
              <a:ext uri="{FF2B5EF4-FFF2-40B4-BE49-F238E27FC236}">
                <a16:creationId xmlns:a16="http://schemas.microsoft.com/office/drawing/2014/main" id="{062F0D20-1284-4B3F-80DB-F964627E59AF}"/>
              </a:ext>
            </a:extLst>
          </p:cNvPr>
          <p:cNvSpPr>
            <a:spLocks xmlns:a="http://schemas.openxmlformats.org/drawingml/2006/main" noGrp="1"/>
          </p:cNvSpPr>
          <p:nvPr/>
        </p:nvSpPr>
        <p:spPr>
          <a:xfrm xmlns:a="http://schemas.openxmlformats.org/drawingml/2006/main">
            <a:off x="914400" y="2771775"/>
            <a:ext cx="95250" cy="95250"/>
          </a:xfrm>
          <a:prstGeom xmlns:a="http://schemas.openxmlformats.org/drawingml/2006/main" prst="ellipse">
            <a:avLst/>
          </a:prstGeom>
          <a:solidFill xmlns:a="http://schemas.openxmlformats.org/drawingml/2006/main">
            <a:srgbClr val="2E7D5B"/>
          </a:solidFill>
          <a:ln xmlns:a="http://schemas.openxmlformats.org/drawingml/2006/main" w="0">
            <a:solidFill>
              <a:srgbClr val="2E7D5B"/>
            </a:solidFill>
            <a:prstDash val="solid"/>
          </a:ln>
        </p:spPr>
      </p:sp>
      <p:sp>
        <p:nvSpPr>
          <p:cNvPr id="7" name="can-left-text-2">
            <a:extLst xmlns:a="http://schemas.openxmlformats.org/drawingml/2006/main">
              <a:ext uri="{FF2B5EF4-FFF2-40B4-BE49-F238E27FC236}">
                <a16:creationId xmlns:a16="http://schemas.microsoft.com/office/drawing/2014/main" id="{C1774811-23EA-406F-96EF-AE909DC7ACC0}"/>
              </a:ext>
            </a:extLst>
          </p:cNvPr>
          <p:cNvSpPr>
            <a:spLocks xmlns:a="http://schemas.openxmlformats.org/drawingml/2006/main" noGrp="1"/>
          </p:cNvSpPr>
          <p:nvPr/>
        </p:nvSpPr>
        <p:spPr>
          <a:xfrm xmlns:a="http://schemas.openxmlformats.org/drawingml/2006/main">
            <a:off x="1143000" y="2686050"/>
            <a:ext cx="45339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500" b="0">
                <a:solidFill>
                  <a:srgbClr val="17202A"/>
                </a:solidFill>
                <a:latin typeface="Aptos"/>
                <a:ea typeface="Aptos"/>
                <a:cs typeface="Aptos"/>
              </a:defRPr>
            </a:pPr>
            <a:r>
              <a:rPr sz="1500" b="0">
                <a:solidFill>
                  <a:srgbClr val="17202A"/>
                </a:solidFill>
                <a:latin typeface="Aptos"/>
                <a:ea typeface="Aptos"/>
                <a:cs typeface="Aptos"/>
              </a:rPr>
              <a:t>Issue-, Kommentar- und Bildkontext über GitLab-Schnittstellen sammeln.</a:t>
            </a:r>
          </a:p>
        </p:txBody>
      </p:sp>
      <p:sp>
        <p:nvSpPr>
          <p:cNvPr id="8" name="can-left-dot-3">
            <a:extLst xmlns:a="http://schemas.openxmlformats.org/drawingml/2006/main">
              <a:ext uri="{FF2B5EF4-FFF2-40B4-BE49-F238E27FC236}">
                <a16:creationId xmlns:a16="http://schemas.microsoft.com/office/drawing/2014/main" id="{0158DDBA-1F2C-4BAC-9BA4-EF4850E5A0EF}"/>
              </a:ext>
            </a:extLst>
          </p:cNvPr>
          <p:cNvSpPr>
            <a:spLocks xmlns:a="http://schemas.openxmlformats.org/drawingml/2006/main" noGrp="1"/>
          </p:cNvSpPr>
          <p:nvPr/>
        </p:nvSpPr>
        <p:spPr>
          <a:xfrm xmlns:a="http://schemas.openxmlformats.org/drawingml/2006/main">
            <a:off x="914400" y="3305175"/>
            <a:ext cx="95250" cy="95250"/>
          </a:xfrm>
          <a:prstGeom xmlns:a="http://schemas.openxmlformats.org/drawingml/2006/main" prst="ellipse">
            <a:avLst/>
          </a:prstGeom>
          <a:solidFill xmlns:a="http://schemas.openxmlformats.org/drawingml/2006/main">
            <a:srgbClr val="2E7D5B"/>
          </a:solidFill>
          <a:ln xmlns:a="http://schemas.openxmlformats.org/drawingml/2006/main" w="0">
            <a:solidFill>
              <a:srgbClr val="2E7D5B"/>
            </a:solidFill>
            <a:prstDash val="solid"/>
          </a:ln>
        </p:spPr>
      </p:sp>
      <p:sp>
        <p:nvSpPr>
          <p:cNvPr id="9" name="can-left-text-3">
            <a:extLst xmlns:a="http://schemas.openxmlformats.org/drawingml/2006/main">
              <a:ext uri="{FF2B5EF4-FFF2-40B4-BE49-F238E27FC236}">
                <a16:creationId xmlns:a16="http://schemas.microsoft.com/office/drawing/2014/main" id="{9BBDB174-0D78-4D4A-945B-A876BEC98559}"/>
              </a:ext>
            </a:extLst>
          </p:cNvPr>
          <p:cNvSpPr>
            <a:spLocks xmlns:a="http://schemas.openxmlformats.org/drawingml/2006/main" noGrp="1"/>
          </p:cNvSpPr>
          <p:nvPr/>
        </p:nvSpPr>
        <p:spPr>
          <a:xfrm xmlns:a="http://schemas.openxmlformats.org/drawingml/2006/main">
            <a:off x="1143000" y="3219450"/>
            <a:ext cx="45339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500" b="0">
                <a:solidFill>
                  <a:srgbClr val="17202A"/>
                </a:solidFill>
                <a:latin typeface="Aptos"/>
                <a:ea typeface="Aptos"/>
                <a:cs typeface="Aptos"/>
              </a:defRPr>
            </a:pPr>
            <a:r>
              <a:rPr sz="1500" b="0">
                <a:solidFill>
                  <a:srgbClr val="17202A"/>
                </a:solidFill>
                <a:latin typeface="Aptos"/>
                <a:ea typeface="Aptos"/>
                <a:cs typeface="Aptos"/>
              </a:rPr>
              <a:t>Analyse- und Publish-Kommandos eindeutig unterscheiden.</a:t>
            </a:r>
          </a:p>
        </p:txBody>
      </p:sp>
      <p:sp>
        <p:nvSpPr>
          <p:cNvPr id="10" name="can-left-dot-4">
            <a:extLst xmlns:a="http://schemas.openxmlformats.org/drawingml/2006/main">
              <a:ext uri="{FF2B5EF4-FFF2-40B4-BE49-F238E27FC236}">
                <a16:creationId xmlns:a16="http://schemas.microsoft.com/office/drawing/2014/main" id="{374BAB0E-08B9-4445-AF15-1FF0C9DABE81}"/>
              </a:ext>
            </a:extLst>
          </p:cNvPr>
          <p:cNvSpPr>
            <a:spLocks xmlns:a="http://schemas.openxmlformats.org/drawingml/2006/main" noGrp="1"/>
          </p:cNvSpPr>
          <p:nvPr/>
        </p:nvSpPr>
        <p:spPr>
          <a:xfrm xmlns:a="http://schemas.openxmlformats.org/drawingml/2006/main">
            <a:off x="914400" y="3895725"/>
            <a:ext cx="95250" cy="95250"/>
          </a:xfrm>
          <a:prstGeom xmlns:a="http://schemas.openxmlformats.org/drawingml/2006/main" prst="ellipse">
            <a:avLst/>
          </a:prstGeom>
          <a:solidFill xmlns:a="http://schemas.openxmlformats.org/drawingml/2006/main">
            <a:srgbClr val="2E7D5B"/>
          </a:solidFill>
          <a:ln xmlns:a="http://schemas.openxmlformats.org/drawingml/2006/main" w="0">
            <a:solidFill>
              <a:srgbClr val="2E7D5B"/>
            </a:solidFill>
            <a:prstDash val="solid"/>
          </a:ln>
        </p:spPr>
      </p:sp>
      <p:sp>
        <p:nvSpPr>
          <p:cNvPr id="11" name="can-left-text-4">
            <a:extLst xmlns:a="http://schemas.openxmlformats.org/drawingml/2006/main">
              <a:ext uri="{FF2B5EF4-FFF2-40B4-BE49-F238E27FC236}">
                <a16:creationId xmlns:a16="http://schemas.microsoft.com/office/drawing/2014/main" id="{88EC4BEB-5EAD-4F81-BE1E-6759E6B58F92}"/>
              </a:ext>
            </a:extLst>
          </p:cNvPr>
          <p:cNvSpPr>
            <a:spLocks xmlns:a="http://schemas.openxmlformats.org/drawingml/2006/main" noGrp="1"/>
          </p:cNvSpPr>
          <p:nvPr/>
        </p:nvSpPr>
        <p:spPr>
          <a:xfrm xmlns:a="http://schemas.openxmlformats.org/drawingml/2006/main">
            <a:off x="1143000" y="3810000"/>
            <a:ext cx="45339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500" b="0">
                <a:solidFill>
                  <a:srgbClr val="17202A"/>
                </a:solidFill>
                <a:latin typeface="Aptos"/>
                <a:ea typeface="Aptos"/>
                <a:cs typeface="Aptos"/>
              </a:defRPr>
            </a:pPr>
            <a:r>
              <a:rPr sz="1500" b="0">
                <a:solidFill>
                  <a:srgbClr val="17202A"/>
                </a:solidFill>
                <a:latin typeface="Aptos"/>
                <a:ea typeface="Aptos"/>
                <a:cs typeface="Aptos"/>
              </a:rPr>
              <a:t>Eigene Bot-Ereignisse ignorieren und Endlosschleifen vermeiden.</a:t>
            </a:r>
          </a:p>
        </p:txBody>
      </p:sp>
      <p:sp>
        <p:nvSpPr>
          <p:cNvPr id="12" name="can-right-dot-1">
            <a:extLst xmlns:a="http://schemas.openxmlformats.org/drawingml/2006/main">
              <a:ext uri="{FF2B5EF4-FFF2-40B4-BE49-F238E27FC236}">
                <a16:creationId xmlns:a16="http://schemas.microsoft.com/office/drawing/2014/main" id="{F5817573-F56F-48BD-9425-4C8D6D4F24C0}"/>
              </a:ext>
            </a:extLst>
          </p:cNvPr>
          <p:cNvSpPr>
            <a:spLocks xmlns:a="http://schemas.openxmlformats.org/drawingml/2006/main" noGrp="1"/>
          </p:cNvSpPr>
          <p:nvPr/>
        </p:nvSpPr>
        <p:spPr>
          <a:xfrm xmlns:a="http://schemas.openxmlformats.org/drawingml/2006/main">
            <a:off x="6515100" y="2181225"/>
            <a:ext cx="95250" cy="95250"/>
          </a:xfrm>
          <a:prstGeom xmlns:a="http://schemas.openxmlformats.org/drawingml/2006/main" prst="ellipse">
            <a:avLst/>
          </a:prstGeom>
          <a:solidFill xmlns:a="http://schemas.openxmlformats.org/drawingml/2006/main">
            <a:srgbClr val="2E7D5B"/>
          </a:solidFill>
          <a:ln xmlns:a="http://schemas.openxmlformats.org/drawingml/2006/main" w="0">
            <a:solidFill>
              <a:srgbClr val="2E7D5B"/>
            </a:solidFill>
            <a:prstDash val="solid"/>
          </a:ln>
        </p:spPr>
      </p:sp>
      <p:sp>
        <p:nvSpPr>
          <p:cNvPr id="13" name="can-right-text-1">
            <a:extLst xmlns:a="http://schemas.openxmlformats.org/drawingml/2006/main">
              <a:ext uri="{FF2B5EF4-FFF2-40B4-BE49-F238E27FC236}">
                <a16:creationId xmlns:a16="http://schemas.microsoft.com/office/drawing/2014/main" id="{D6114B28-EAB4-4837-8552-982817944E0F}"/>
              </a:ext>
            </a:extLst>
          </p:cNvPr>
          <p:cNvSpPr>
            <a:spLocks xmlns:a="http://schemas.openxmlformats.org/drawingml/2006/main" noGrp="1"/>
          </p:cNvSpPr>
          <p:nvPr/>
        </p:nvSpPr>
        <p:spPr>
          <a:xfrm xmlns:a="http://schemas.openxmlformats.org/drawingml/2006/main">
            <a:off x="6743700" y="2095500"/>
            <a:ext cx="45339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500" b="0">
                <a:solidFill>
                  <a:srgbClr val="17202A"/>
                </a:solidFill>
                <a:latin typeface="Aptos"/>
                <a:ea typeface="Aptos"/>
                <a:cs typeface="Aptos"/>
              </a:defRPr>
            </a:pPr>
            <a:r>
              <a:rPr sz="1500" b="0">
                <a:solidFill>
                  <a:srgbClr val="17202A"/>
                </a:solidFill>
                <a:latin typeface="Aptos"/>
                <a:ea typeface="Aptos"/>
                <a:cs typeface="Aptos"/>
              </a:rPr>
              <a:t>Bei fehlendem Kontext konkrete Rückfragen als Kommentar posten.</a:t>
            </a:r>
          </a:p>
        </p:txBody>
      </p:sp>
      <p:sp>
        <p:nvSpPr>
          <p:cNvPr id="14" name="can-right-dot-2">
            <a:extLst xmlns:a="http://schemas.openxmlformats.org/drawingml/2006/main">
              <a:ext uri="{FF2B5EF4-FFF2-40B4-BE49-F238E27FC236}">
                <a16:creationId xmlns:a16="http://schemas.microsoft.com/office/drawing/2014/main" id="{B3B66FBC-F375-4B54-9039-EFCE26026AAC}"/>
              </a:ext>
            </a:extLst>
          </p:cNvPr>
          <p:cNvSpPr>
            <a:spLocks xmlns:a="http://schemas.openxmlformats.org/drawingml/2006/main" noGrp="1"/>
          </p:cNvSpPr>
          <p:nvPr/>
        </p:nvSpPr>
        <p:spPr>
          <a:xfrm xmlns:a="http://schemas.openxmlformats.org/drawingml/2006/main">
            <a:off x="6515100" y="2828925"/>
            <a:ext cx="95250" cy="95250"/>
          </a:xfrm>
          <a:prstGeom xmlns:a="http://schemas.openxmlformats.org/drawingml/2006/main" prst="ellipse">
            <a:avLst/>
          </a:prstGeom>
          <a:solidFill xmlns:a="http://schemas.openxmlformats.org/drawingml/2006/main">
            <a:srgbClr val="2E7D5B"/>
          </a:solidFill>
          <a:ln xmlns:a="http://schemas.openxmlformats.org/drawingml/2006/main" w="0">
            <a:solidFill>
              <a:srgbClr val="2E7D5B"/>
            </a:solidFill>
            <a:prstDash val="solid"/>
          </a:ln>
        </p:spPr>
      </p:sp>
      <p:sp>
        <p:nvSpPr>
          <p:cNvPr id="15" name="can-right-text-2">
            <a:extLst xmlns:a="http://schemas.openxmlformats.org/drawingml/2006/main">
              <a:ext uri="{FF2B5EF4-FFF2-40B4-BE49-F238E27FC236}">
                <a16:creationId xmlns:a16="http://schemas.microsoft.com/office/drawing/2014/main" id="{D5FF7A1B-7E94-4407-BF9A-7C3418E530D7}"/>
              </a:ext>
            </a:extLst>
          </p:cNvPr>
          <p:cNvSpPr>
            <a:spLocks xmlns:a="http://schemas.openxmlformats.org/drawingml/2006/main" noGrp="1"/>
          </p:cNvSpPr>
          <p:nvPr/>
        </p:nvSpPr>
        <p:spPr>
          <a:xfrm xmlns:a="http://schemas.openxmlformats.org/drawingml/2006/main">
            <a:off x="6743700" y="2743200"/>
            <a:ext cx="45339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500" b="0">
                <a:solidFill>
                  <a:srgbClr val="17202A"/>
                </a:solidFill>
                <a:latin typeface="Aptos"/>
                <a:ea typeface="Aptos"/>
                <a:cs typeface="Aptos"/>
              </a:defRPr>
            </a:pPr>
            <a:r>
              <a:rPr sz="1500" b="0">
                <a:solidFill>
                  <a:srgbClr val="17202A"/>
                </a:solidFill>
                <a:latin typeface="Aptos"/>
                <a:ea typeface="Aptos"/>
                <a:cs typeface="Aptos"/>
              </a:rPr>
              <a:t>Bei ausreichendem Kontext Titel und Beschreibung strukturiert vorschlagen.</a:t>
            </a:r>
          </a:p>
        </p:txBody>
      </p:sp>
      <p:sp>
        <p:nvSpPr>
          <p:cNvPr id="16" name="can-right-dot-3">
            <a:extLst xmlns:a="http://schemas.openxmlformats.org/drawingml/2006/main">
              <a:ext uri="{FF2B5EF4-FFF2-40B4-BE49-F238E27FC236}">
                <a16:creationId xmlns:a16="http://schemas.microsoft.com/office/drawing/2014/main" id="{CB78C8BA-9C88-48A2-A590-F87A6529D654}"/>
              </a:ext>
            </a:extLst>
          </p:cNvPr>
          <p:cNvSpPr>
            <a:spLocks xmlns:a="http://schemas.openxmlformats.org/drawingml/2006/main" noGrp="1"/>
          </p:cNvSpPr>
          <p:nvPr/>
        </p:nvSpPr>
        <p:spPr>
          <a:xfrm xmlns:a="http://schemas.openxmlformats.org/drawingml/2006/main">
            <a:off x="6515100" y="3476625"/>
            <a:ext cx="95250" cy="95250"/>
          </a:xfrm>
          <a:prstGeom xmlns:a="http://schemas.openxmlformats.org/drawingml/2006/main" prst="ellipse">
            <a:avLst/>
          </a:prstGeom>
          <a:solidFill xmlns:a="http://schemas.openxmlformats.org/drawingml/2006/main">
            <a:srgbClr val="2E7D5B"/>
          </a:solidFill>
          <a:ln xmlns:a="http://schemas.openxmlformats.org/drawingml/2006/main" w="0">
            <a:solidFill>
              <a:srgbClr val="2E7D5B"/>
            </a:solidFill>
            <a:prstDash val="solid"/>
          </a:ln>
        </p:spPr>
      </p:sp>
      <p:sp>
        <p:nvSpPr>
          <p:cNvPr id="17" name="can-right-text-3">
            <a:extLst xmlns:a="http://schemas.openxmlformats.org/drawingml/2006/main">
              <a:ext uri="{FF2B5EF4-FFF2-40B4-BE49-F238E27FC236}">
                <a16:creationId xmlns:a16="http://schemas.microsoft.com/office/drawing/2014/main" id="{DB0EA892-B3C8-4F1F-BE66-70E883385FD1}"/>
              </a:ext>
            </a:extLst>
          </p:cNvPr>
          <p:cNvSpPr>
            <a:spLocks xmlns:a="http://schemas.openxmlformats.org/drawingml/2006/main" noGrp="1"/>
          </p:cNvSpPr>
          <p:nvPr/>
        </p:nvSpPr>
        <p:spPr>
          <a:xfrm xmlns:a="http://schemas.openxmlformats.org/drawingml/2006/main">
            <a:off x="6743700" y="3390900"/>
            <a:ext cx="45339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500" b="0">
                <a:solidFill>
                  <a:srgbClr val="17202A"/>
                </a:solidFill>
                <a:latin typeface="Aptos"/>
                <a:ea typeface="Aptos"/>
                <a:cs typeface="Aptos"/>
              </a:defRPr>
            </a:pPr>
            <a:r>
              <a:rPr sz="1500" b="0">
                <a:solidFill>
                  <a:srgbClr val="17202A"/>
                </a:solidFill>
                <a:latin typeface="Aptos"/>
                <a:ea typeface="Aptos"/>
                <a:cs typeface="Aptos"/>
              </a:rPr>
              <a:t>Agent-Antworten als JSON parsen und zur Laufzeit validieren.</a:t>
            </a:r>
          </a:p>
        </p:txBody>
      </p:sp>
      <p:sp>
        <p:nvSpPr>
          <p:cNvPr id="18" name="can-right-dot-4">
            <a:extLst xmlns:a="http://schemas.openxmlformats.org/drawingml/2006/main">
              <a:ext uri="{FF2B5EF4-FFF2-40B4-BE49-F238E27FC236}">
                <a16:creationId xmlns:a16="http://schemas.microsoft.com/office/drawing/2014/main" id="{9986848B-814A-4B57-9345-D90E3C53DB14}"/>
              </a:ext>
            </a:extLst>
          </p:cNvPr>
          <p:cNvSpPr>
            <a:spLocks xmlns:a="http://schemas.openxmlformats.org/drawingml/2006/main" noGrp="1"/>
          </p:cNvSpPr>
          <p:nvPr/>
        </p:nvSpPr>
        <p:spPr>
          <a:xfrm xmlns:a="http://schemas.openxmlformats.org/drawingml/2006/main">
            <a:off x="6515100" y="4124325"/>
            <a:ext cx="95250" cy="95250"/>
          </a:xfrm>
          <a:prstGeom xmlns:a="http://schemas.openxmlformats.org/drawingml/2006/main" prst="ellipse">
            <a:avLst/>
          </a:prstGeom>
          <a:solidFill xmlns:a="http://schemas.openxmlformats.org/drawingml/2006/main">
            <a:srgbClr val="2E7D5B"/>
          </a:solidFill>
          <a:ln xmlns:a="http://schemas.openxmlformats.org/drawingml/2006/main" w="0">
            <a:solidFill>
              <a:srgbClr val="2E7D5B"/>
            </a:solidFill>
            <a:prstDash val="solid"/>
          </a:ln>
        </p:spPr>
      </p:sp>
      <p:sp>
        <p:nvSpPr>
          <p:cNvPr id="19" name="can-right-text-4">
            <a:extLst xmlns:a="http://schemas.openxmlformats.org/drawingml/2006/main">
              <a:ext uri="{FF2B5EF4-FFF2-40B4-BE49-F238E27FC236}">
                <a16:creationId xmlns:a16="http://schemas.microsoft.com/office/drawing/2014/main" id="{415786A2-1AFA-45C1-ABDE-EFE7D162827A}"/>
              </a:ext>
            </a:extLst>
          </p:cNvPr>
          <p:cNvSpPr>
            <a:spLocks xmlns:a="http://schemas.openxmlformats.org/drawingml/2006/main" noGrp="1"/>
          </p:cNvSpPr>
          <p:nvPr/>
        </p:nvSpPr>
        <p:spPr>
          <a:xfrm xmlns:a="http://schemas.openxmlformats.org/drawingml/2006/main">
            <a:off x="6743700" y="4038600"/>
            <a:ext cx="45339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500" b="0">
                <a:solidFill>
                  <a:srgbClr val="17202A"/>
                </a:solidFill>
                <a:latin typeface="Aptos"/>
                <a:ea typeface="Aptos"/>
                <a:cs typeface="Aptos"/>
              </a:defRPr>
            </a:pPr>
            <a:r>
              <a:rPr sz="1500" b="0">
                <a:solidFill>
                  <a:srgbClr val="17202A"/>
                </a:solidFill>
                <a:latin typeface="Aptos"/>
                <a:ea typeface="Aptos"/>
                <a:cs typeface="Aptos"/>
              </a:rPr>
              <a:t>Fehler nachvollziehbar loggen und Webhook-Antworten schnell senden.</a:t>
            </a:r>
          </a:p>
        </p:txBody>
      </p:sp>
      <p:sp>
        <p:nvSpPr>
          <p:cNvPr id="20" name="footer-left-3">
            <a:extLst xmlns:a="http://schemas.openxmlformats.org/drawingml/2006/main">
              <a:ext uri="{FF2B5EF4-FFF2-40B4-BE49-F238E27FC236}">
                <a16:creationId xmlns:a16="http://schemas.microsoft.com/office/drawing/2014/main" id="{932F9BAB-01C3-4504-BC28-297B4EEF342E}"/>
              </a:ext>
            </a:extLst>
          </p:cNvPr>
          <p:cNvSpPr>
            <a:spLocks xmlns:a="http://schemas.openxmlformats.org/drawingml/2006/main" noGrp="1"/>
          </p:cNvSpPr>
          <p:nvPr/>
        </p:nvSpPr>
        <p:spPr>
          <a:xfrm xmlns:a="http://schemas.openxmlformats.org/drawingml/2006/main">
            <a:off x="723900" y="63436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75" b="0">
                <a:solidFill>
                  <a:srgbClr val="5B6470"/>
                </a:solidFill>
                <a:latin typeface="Aptos"/>
                <a:ea typeface="Aptos"/>
                <a:cs typeface="Aptos"/>
              </a:defRPr>
            </a:pPr>
            <a:r>
              <a:rPr sz="975" b="0">
                <a:solidFill>
                  <a:srgbClr val="5B6470"/>
                </a:solidFill>
                <a:latin typeface="Aptos"/>
                <a:ea typeface="Aptos"/>
                <a:cs typeface="Aptos"/>
              </a:rPr>
              <a:t>Projektvorstellung für den Zweitgutachter</a:t>
            </a:r>
          </a:p>
        </p:txBody>
      </p:sp>
      <p:sp>
        <p:nvSpPr>
          <p:cNvPr id="21" name="footer-right-3">
            <a:extLst xmlns:a="http://schemas.openxmlformats.org/drawingml/2006/main">
              <a:ext uri="{FF2B5EF4-FFF2-40B4-BE49-F238E27FC236}">
                <a16:creationId xmlns:a16="http://schemas.microsoft.com/office/drawing/2014/main" id="{FBB86949-4CB3-416D-B440-CA9C09833167}"/>
              </a:ext>
            </a:extLst>
          </p:cNvPr>
          <p:cNvSpPr>
            <a:spLocks xmlns:a="http://schemas.openxmlformats.org/drawingml/2006/main" noGrp="1"/>
          </p:cNvSpPr>
          <p:nvPr/>
        </p:nvSpPr>
        <p:spPr>
          <a:xfrm xmlns:a="http://schemas.openxmlformats.org/drawingml/2006/main">
            <a:off x="10934700" y="6286500"/>
            <a:ext cx="533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1200" b="1">
                <a:solidFill>
                  <a:srgbClr val="5B6470"/>
                </a:solidFill>
                <a:latin typeface="Aptos"/>
                <a:ea typeface="Aptos"/>
                <a:cs typeface="Aptos"/>
              </a:defRPr>
            </a:pPr>
            <a:r>
              <a:rPr sz="1200" b="1">
                <a:solidFill>
                  <a:srgbClr val="5B6470"/>
                </a:solidFill>
                <a:latin typeface="Aptos"/>
                <a:ea typeface="Aptos"/>
                <a:cs typeface="Aptos"/>
              </a:rPr>
              <a:t>07</a:t>
            </a:r>
          </a:p>
        </p:txBody>
      </p:sp>
    </p:spTree>
    <p:extLst>
      <p:ext uri="{BB962C8B-B14F-4D97-AF65-F5344CB8AC3E}">
        <p14:creationId xmlns:p14="http://schemas.microsoft.com/office/powerpoint/2010/main" val="2017202705"/>
      </p:ext>
    </p:extLst>
  </p:cSld>
</p:sld>
</file>

<file path=ppt/slides/slide8.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 name="kicker-5">
            <a:extLst xmlns:a="http://schemas.openxmlformats.org/drawingml/2006/main">
              <a:ext uri="{FF2B5EF4-FFF2-40B4-BE49-F238E27FC236}">
                <a16:creationId xmlns:a16="http://schemas.microsoft.com/office/drawing/2014/main" id="{67B17952-5F6E-4C1B-BB5C-E00F266AC43B}"/>
              </a:ext>
            </a:extLst>
          </p:cNvPr>
          <p:cNvSpPr>
            <a:spLocks xmlns:a="http://schemas.openxmlformats.org/drawingml/2006/main" noGrp="1"/>
          </p:cNvSpPr>
          <p:nvPr/>
        </p:nvSpPr>
        <p:spPr>
          <a:xfrm xmlns:a="http://schemas.openxmlformats.org/drawingml/2006/main">
            <a:off x="723900" y="457200"/>
            <a:ext cx="723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125" b="1">
                <a:solidFill>
                  <a:srgbClr val="1F6F78"/>
                </a:solidFill>
                <a:latin typeface="Aptos"/>
                <a:ea typeface="Aptos"/>
                <a:cs typeface="Aptos"/>
              </a:defRPr>
            </a:pPr>
            <a:r>
              <a:rPr sz="1125" b="1">
                <a:solidFill>
                  <a:srgbClr val="1F6F78"/>
                </a:solidFill>
                <a:latin typeface="Aptos"/>
                <a:ea typeface="Aptos"/>
                <a:cs typeface="Aptos"/>
              </a:rPr>
              <a:t>GITLAB DEV-ASSIST</a:t>
            </a:r>
          </a:p>
        </p:txBody>
      </p:sp>
      <p:sp>
        <p:nvSpPr>
          <p:cNvPr id="2" name="title-5">
            <a:extLst xmlns:a="http://schemas.openxmlformats.org/drawingml/2006/main">
              <a:ext uri="{FF2B5EF4-FFF2-40B4-BE49-F238E27FC236}">
                <a16:creationId xmlns:a16="http://schemas.microsoft.com/office/drawing/2014/main" id="{0C15E580-1E4C-421A-AEA4-44D8638C7D45}"/>
              </a:ext>
            </a:extLst>
          </p:cNvPr>
          <p:cNvSpPr>
            <a:spLocks xmlns:a="http://schemas.openxmlformats.org/drawingml/2006/main" noGrp="1"/>
          </p:cNvSpPr>
          <p:nvPr/>
        </p:nvSpPr>
        <p:spPr>
          <a:xfrm xmlns:a="http://schemas.openxmlformats.org/drawingml/2006/main">
            <a:off x="723900" y="800100"/>
            <a:ext cx="8763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850" b="1">
                <a:solidFill>
                  <a:srgbClr val="17202A"/>
                </a:solidFill>
                <a:latin typeface="Aptos Display"/>
                <a:ea typeface="Aptos Display"/>
                <a:cs typeface="Aptos Display"/>
              </a:defRPr>
            </a:pPr>
            <a:r>
              <a:rPr sz="2850" b="1">
                <a:solidFill>
                  <a:srgbClr val="17202A"/>
                </a:solidFill>
                <a:latin typeface="Aptos Display"/>
                <a:ea typeface="Aptos Display"/>
                <a:cs typeface="Aptos Display"/>
              </a:rPr>
              <a:t>Ablauf im Betrieb</a:t>
            </a:r>
          </a:p>
        </p:txBody>
      </p:sp>
      <p:sp>
        <p:nvSpPr>
          <p:cNvPr id="3" name="title-rule-5">
            <a:extLst xmlns:a="http://schemas.openxmlformats.org/drawingml/2006/main">
              <a:ext uri="{FF2B5EF4-FFF2-40B4-BE49-F238E27FC236}">
                <a16:creationId xmlns:a16="http://schemas.microsoft.com/office/drawing/2014/main" id="{2EDA6161-0A2E-495A-826E-663A47F497A7}"/>
              </a:ext>
            </a:extLst>
          </p:cNvPr>
          <p:cNvSpPr>
            <a:spLocks xmlns:a="http://schemas.openxmlformats.org/drawingml/2006/main" noGrp="1"/>
          </p:cNvSpPr>
          <p:nvPr/>
        </p:nvSpPr>
        <p:spPr>
          <a:xfrm xmlns:a="http://schemas.openxmlformats.org/drawingml/2006/main">
            <a:off x="723900" y="1466850"/>
            <a:ext cx="10744200" cy="19050"/>
          </a:xfrm>
          <a:prstGeom xmlns:a="http://schemas.openxmlformats.org/drawingml/2006/main" prst="rect">
            <a:avLst/>
          </a:prstGeom>
          <a:solidFill xmlns:a="http://schemas.openxmlformats.org/drawingml/2006/main">
            <a:srgbClr val="E6EBF1"/>
          </a:solidFill>
          <a:ln xmlns:a="http://schemas.openxmlformats.org/drawingml/2006/main" w="0">
            <a:solidFill>
              <a:srgbClr val="E6EBF1"/>
            </a:solidFill>
            <a:prstDash val="solid"/>
          </a:ln>
        </p:spPr>
      </p:sp>
      <p:sp>
        <p:nvSpPr>
          <p:cNvPr id="4" name="flow-arrow-1">
            <a:extLst xmlns:a="http://schemas.openxmlformats.org/drawingml/2006/main">
              <a:ext uri="{FF2B5EF4-FFF2-40B4-BE49-F238E27FC236}">
                <a16:creationId xmlns:a16="http://schemas.microsoft.com/office/drawing/2014/main" id="{DA7603DA-5E7B-44E5-8220-05A6D0C288D4}"/>
              </a:ext>
            </a:extLst>
          </p:cNvPr>
          <p:cNvSpPr>
            <a:spLocks xmlns:a="http://schemas.openxmlformats.org/drawingml/2006/main" noGrp="1"/>
          </p:cNvSpPr>
          <p:nvPr/>
        </p:nvSpPr>
        <p:spPr>
          <a:xfrm xmlns:a="http://schemas.openxmlformats.org/drawingml/2006/main">
            <a:off x="2419350" y="3143250"/>
            <a:ext cx="209550" cy="0"/>
          </a:xfrm>
          <a:prstGeom xmlns:a="http://schemas.openxmlformats.org/drawingml/2006/main" prst="line">
            <a:avLst/>
          </a:prstGeom>
          <a:noFill xmlns:a="http://schemas.openxmlformats.org/drawingml/2006/main"/>
          <a:ln xmlns:a="http://schemas.openxmlformats.org/drawingml/2006/main" w="19050">
            <a:solidFill>
              <a:srgbClr val="CCD4DD"/>
            </a:solidFill>
            <a:prstDash val="solid"/>
          </a:ln>
        </p:spPr>
      </p:sp>
      <p:sp>
        <p:nvSpPr>
          <p:cNvPr id="5" name="flow-arrow-2">
            <a:extLst xmlns:a="http://schemas.openxmlformats.org/drawingml/2006/main">
              <a:ext uri="{FF2B5EF4-FFF2-40B4-BE49-F238E27FC236}">
                <a16:creationId xmlns:a16="http://schemas.microsoft.com/office/drawing/2014/main" id="{7938A326-9BCD-40A2-A9D1-EBADD7A4A336}"/>
              </a:ext>
            </a:extLst>
          </p:cNvPr>
          <p:cNvSpPr>
            <a:spLocks xmlns:a="http://schemas.openxmlformats.org/drawingml/2006/main" noGrp="1"/>
          </p:cNvSpPr>
          <p:nvPr/>
        </p:nvSpPr>
        <p:spPr>
          <a:xfrm xmlns:a="http://schemas.openxmlformats.org/drawingml/2006/main">
            <a:off x="4343400" y="3143250"/>
            <a:ext cx="209550" cy="0"/>
          </a:xfrm>
          <a:prstGeom xmlns:a="http://schemas.openxmlformats.org/drawingml/2006/main" prst="line">
            <a:avLst/>
          </a:prstGeom>
          <a:noFill xmlns:a="http://schemas.openxmlformats.org/drawingml/2006/main"/>
          <a:ln xmlns:a="http://schemas.openxmlformats.org/drawingml/2006/main" w="19050">
            <a:solidFill>
              <a:srgbClr val="CCD4DD"/>
            </a:solidFill>
            <a:prstDash val="solid"/>
          </a:ln>
        </p:spPr>
      </p:sp>
      <p:sp>
        <p:nvSpPr>
          <p:cNvPr id="6" name="flow-arrow-3">
            <a:extLst xmlns:a="http://schemas.openxmlformats.org/drawingml/2006/main">
              <a:ext uri="{FF2B5EF4-FFF2-40B4-BE49-F238E27FC236}">
                <a16:creationId xmlns:a16="http://schemas.microsoft.com/office/drawing/2014/main" id="{3361FC6D-4BE0-4C11-97D8-272CAAF8AD44}"/>
              </a:ext>
            </a:extLst>
          </p:cNvPr>
          <p:cNvSpPr>
            <a:spLocks xmlns:a="http://schemas.openxmlformats.org/drawingml/2006/main" noGrp="1"/>
          </p:cNvSpPr>
          <p:nvPr/>
        </p:nvSpPr>
        <p:spPr>
          <a:xfrm xmlns:a="http://schemas.openxmlformats.org/drawingml/2006/main">
            <a:off x="6267450" y="3143250"/>
            <a:ext cx="209550" cy="0"/>
          </a:xfrm>
          <a:prstGeom xmlns:a="http://schemas.openxmlformats.org/drawingml/2006/main" prst="line">
            <a:avLst/>
          </a:prstGeom>
          <a:noFill xmlns:a="http://schemas.openxmlformats.org/drawingml/2006/main"/>
          <a:ln xmlns:a="http://schemas.openxmlformats.org/drawingml/2006/main" w="19050">
            <a:solidFill>
              <a:srgbClr val="CCD4DD"/>
            </a:solidFill>
            <a:prstDash val="solid"/>
          </a:ln>
        </p:spPr>
      </p:sp>
      <p:sp>
        <p:nvSpPr>
          <p:cNvPr id="7" name="flow-arrow-4">
            <a:extLst xmlns:a="http://schemas.openxmlformats.org/drawingml/2006/main">
              <a:ext uri="{FF2B5EF4-FFF2-40B4-BE49-F238E27FC236}">
                <a16:creationId xmlns:a16="http://schemas.microsoft.com/office/drawing/2014/main" id="{CB267244-7F57-41BF-94BE-FE3134C9CF28}"/>
              </a:ext>
            </a:extLst>
          </p:cNvPr>
          <p:cNvSpPr>
            <a:spLocks xmlns:a="http://schemas.openxmlformats.org/drawingml/2006/main" noGrp="1"/>
          </p:cNvSpPr>
          <p:nvPr/>
        </p:nvSpPr>
        <p:spPr>
          <a:xfrm xmlns:a="http://schemas.openxmlformats.org/drawingml/2006/main">
            <a:off x="8191500" y="3143250"/>
            <a:ext cx="209550" cy="0"/>
          </a:xfrm>
          <a:prstGeom xmlns:a="http://schemas.openxmlformats.org/drawingml/2006/main" prst="line">
            <a:avLst/>
          </a:prstGeom>
          <a:noFill xmlns:a="http://schemas.openxmlformats.org/drawingml/2006/main"/>
          <a:ln xmlns:a="http://schemas.openxmlformats.org/drawingml/2006/main" w="19050">
            <a:solidFill>
              <a:srgbClr val="CCD4DD"/>
            </a:solidFill>
            <a:prstDash val="solid"/>
          </a:ln>
        </p:spPr>
      </p:sp>
      <p:sp>
        <p:nvSpPr>
          <p:cNvPr id="8" name="flow-arrow-5">
            <a:extLst xmlns:a="http://schemas.openxmlformats.org/drawingml/2006/main">
              <a:ext uri="{FF2B5EF4-FFF2-40B4-BE49-F238E27FC236}">
                <a16:creationId xmlns:a16="http://schemas.microsoft.com/office/drawing/2014/main" id="{8BDF897E-A608-4FE6-BB10-B1CEE23E2BEE}"/>
              </a:ext>
            </a:extLst>
          </p:cNvPr>
          <p:cNvSpPr>
            <a:spLocks xmlns:a="http://schemas.openxmlformats.org/drawingml/2006/main" noGrp="1"/>
          </p:cNvSpPr>
          <p:nvPr/>
        </p:nvSpPr>
        <p:spPr>
          <a:xfrm xmlns:a="http://schemas.openxmlformats.org/drawingml/2006/main">
            <a:off x="10115550" y="3143250"/>
            <a:ext cx="209550" cy="0"/>
          </a:xfrm>
          <a:prstGeom xmlns:a="http://schemas.openxmlformats.org/drawingml/2006/main" prst="line">
            <a:avLst/>
          </a:prstGeom>
          <a:noFill xmlns:a="http://schemas.openxmlformats.org/drawingml/2006/main"/>
          <a:ln xmlns:a="http://schemas.openxmlformats.org/drawingml/2006/main" w="19050">
            <a:solidFill>
              <a:srgbClr val="CCD4DD"/>
            </a:solidFill>
            <a:prstDash val="solid"/>
          </a:ln>
        </p:spPr>
      </p:sp>
      <p:sp>
        <p:nvSpPr>
          <p:cNvPr id="9" name="flow-1-box">
            <a:extLst xmlns:a="http://schemas.openxmlformats.org/drawingml/2006/main">
              <a:ext uri="{FF2B5EF4-FFF2-40B4-BE49-F238E27FC236}">
                <a16:creationId xmlns:a16="http://schemas.microsoft.com/office/drawing/2014/main" id="{D510B8D4-A83E-4C83-9980-83351B5B8925}"/>
              </a:ext>
            </a:extLst>
          </p:cNvPr>
          <p:cNvSpPr>
            <a:spLocks xmlns:a="http://schemas.openxmlformats.org/drawingml/2006/main" noGrp="1"/>
          </p:cNvSpPr>
          <p:nvPr/>
        </p:nvSpPr>
        <p:spPr>
          <a:xfrm xmlns:a="http://schemas.openxmlformats.org/drawingml/2006/main">
            <a:off x="781050" y="2457450"/>
            <a:ext cx="1600200" cy="1371600"/>
          </a:xfrm>
          <a:prstGeom xmlns:a="http://schemas.openxmlformats.org/drawingml/2006/main" prst="rect">
            <a:avLst/>
          </a:prstGeom>
          <a:solidFill xmlns:a="http://schemas.openxmlformats.org/drawingml/2006/main">
            <a:srgbClr val="FFFFFF"/>
          </a:solidFill>
          <a:ln xmlns:a="http://schemas.openxmlformats.org/drawingml/2006/main" w="9525">
            <a:solidFill>
              <a:srgbClr val="305C89"/>
            </a:solidFill>
            <a:prstDash val="solid"/>
          </a:ln>
        </p:spPr>
      </p:sp>
      <p:sp>
        <p:nvSpPr>
          <p:cNvPr id="10" name="flow-1-accent">
            <a:extLst xmlns:a="http://schemas.openxmlformats.org/drawingml/2006/main">
              <a:ext uri="{FF2B5EF4-FFF2-40B4-BE49-F238E27FC236}">
                <a16:creationId xmlns:a16="http://schemas.microsoft.com/office/drawing/2014/main" id="{85572EA1-0500-4CB7-B0AA-A17FA5D1C533}"/>
              </a:ext>
            </a:extLst>
          </p:cNvPr>
          <p:cNvSpPr>
            <a:spLocks xmlns:a="http://schemas.openxmlformats.org/drawingml/2006/main" noGrp="1"/>
          </p:cNvSpPr>
          <p:nvPr/>
        </p:nvSpPr>
        <p:spPr>
          <a:xfrm xmlns:a="http://schemas.openxmlformats.org/drawingml/2006/main">
            <a:off x="781050" y="2457450"/>
            <a:ext cx="1600200" cy="47625"/>
          </a:xfrm>
          <a:prstGeom xmlns:a="http://schemas.openxmlformats.org/drawingml/2006/main" prst="rect">
            <a:avLst/>
          </a:prstGeom>
          <a:solidFill xmlns:a="http://schemas.openxmlformats.org/drawingml/2006/main">
            <a:srgbClr val="305C89"/>
          </a:solidFill>
          <a:ln xmlns:a="http://schemas.openxmlformats.org/drawingml/2006/main" w="0">
            <a:solidFill>
              <a:srgbClr val="305C89"/>
            </a:solidFill>
            <a:prstDash val="solid"/>
          </a:ln>
        </p:spPr>
      </p:sp>
      <p:sp>
        <p:nvSpPr>
          <p:cNvPr id="11" name="flow-1-label">
            <a:extLst xmlns:a="http://schemas.openxmlformats.org/drawingml/2006/main">
              <a:ext uri="{FF2B5EF4-FFF2-40B4-BE49-F238E27FC236}">
                <a16:creationId xmlns:a16="http://schemas.microsoft.com/office/drawing/2014/main" id="{349FF616-277C-4AEA-8A0F-930468704D57}"/>
              </a:ext>
            </a:extLst>
          </p:cNvPr>
          <p:cNvSpPr>
            <a:spLocks xmlns:a="http://schemas.openxmlformats.org/drawingml/2006/main" noGrp="1"/>
          </p:cNvSpPr>
          <p:nvPr/>
        </p:nvSpPr>
        <p:spPr>
          <a:xfrm xmlns:a="http://schemas.openxmlformats.org/drawingml/2006/main">
            <a:off x="933450" y="2628900"/>
            <a:ext cx="1295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575" b="1">
                <a:solidFill>
                  <a:srgbClr val="17202A"/>
                </a:solidFill>
                <a:latin typeface="Aptos"/>
                <a:ea typeface="Aptos"/>
                <a:cs typeface="Aptos"/>
              </a:defRPr>
            </a:pPr>
            <a:r>
              <a:rPr sz="1575" b="1">
                <a:solidFill>
                  <a:srgbClr val="17202A"/>
                </a:solidFill>
                <a:latin typeface="Aptos"/>
                <a:ea typeface="Aptos"/>
                <a:cs typeface="Aptos"/>
              </a:rPr>
              <a:t>GitLab</a:t>
            </a:r>
          </a:p>
        </p:txBody>
      </p:sp>
      <p:sp>
        <p:nvSpPr>
          <p:cNvPr id="12" name="flow-1-sub">
            <a:extLst xmlns:a="http://schemas.openxmlformats.org/drawingml/2006/main">
              <a:ext uri="{FF2B5EF4-FFF2-40B4-BE49-F238E27FC236}">
                <a16:creationId xmlns:a16="http://schemas.microsoft.com/office/drawing/2014/main" id="{17034C36-ABF3-4712-9471-2DDC1A6758DC}"/>
              </a:ext>
            </a:extLst>
          </p:cNvPr>
          <p:cNvSpPr>
            <a:spLocks xmlns:a="http://schemas.openxmlformats.org/drawingml/2006/main" noGrp="1"/>
          </p:cNvSpPr>
          <p:nvPr/>
        </p:nvSpPr>
        <p:spPr>
          <a:xfrm xmlns:a="http://schemas.openxmlformats.org/drawingml/2006/main">
            <a:off x="933450" y="2952750"/>
            <a:ext cx="12954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200" b="0">
                <a:solidFill>
                  <a:srgbClr val="5B6470"/>
                </a:solidFill>
                <a:latin typeface="Aptos"/>
                <a:ea typeface="Aptos"/>
                <a:cs typeface="Aptos"/>
              </a:defRPr>
            </a:pPr>
            <a:r>
              <a:rPr sz="1200" b="0">
                <a:solidFill>
                  <a:srgbClr val="5B6470"/>
                </a:solidFill>
                <a:latin typeface="Aptos"/>
                <a:ea typeface="Aptos"/>
                <a:cs typeface="Aptos"/>
              </a:rPr>
              <a:t>Issue/Kommentar mit @dev-assist</a:t>
            </a:r>
          </a:p>
        </p:txBody>
      </p:sp>
      <p:sp>
        <p:nvSpPr>
          <p:cNvPr id="13" name="flow-2-box">
            <a:extLst xmlns:a="http://schemas.openxmlformats.org/drawingml/2006/main">
              <a:ext uri="{FF2B5EF4-FFF2-40B4-BE49-F238E27FC236}">
                <a16:creationId xmlns:a16="http://schemas.microsoft.com/office/drawing/2014/main" id="{7F22131F-12C5-4FD0-A7A9-3D3BBB12AA64}"/>
              </a:ext>
            </a:extLst>
          </p:cNvPr>
          <p:cNvSpPr>
            <a:spLocks xmlns:a="http://schemas.openxmlformats.org/drawingml/2006/main" noGrp="1"/>
          </p:cNvSpPr>
          <p:nvPr/>
        </p:nvSpPr>
        <p:spPr>
          <a:xfrm xmlns:a="http://schemas.openxmlformats.org/drawingml/2006/main">
            <a:off x="2705100" y="2457450"/>
            <a:ext cx="1600200" cy="1371600"/>
          </a:xfrm>
          <a:prstGeom xmlns:a="http://schemas.openxmlformats.org/drawingml/2006/main" prst="rect">
            <a:avLst/>
          </a:prstGeom>
          <a:solidFill xmlns:a="http://schemas.openxmlformats.org/drawingml/2006/main">
            <a:srgbClr val="FFFFFF"/>
          </a:solidFill>
          <a:ln xmlns:a="http://schemas.openxmlformats.org/drawingml/2006/main" w="9525">
            <a:solidFill>
              <a:srgbClr val="1F6F78"/>
            </a:solidFill>
            <a:prstDash val="solid"/>
          </a:ln>
        </p:spPr>
      </p:sp>
      <p:sp>
        <p:nvSpPr>
          <p:cNvPr id="14" name="flow-2-accent">
            <a:extLst xmlns:a="http://schemas.openxmlformats.org/drawingml/2006/main">
              <a:ext uri="{FF2B5EF4-FFF2-40B4-BE49-F238E27FC236}">
                <a16:creationId xmlns:a16="http://schemas.microsoft.com/office/drawing/2014/main" id="{4A017DFD-78B1-4E5D-ABBE-233E44E6AB6E}"/>
              </a:ext>
            </a:extLst>
          </p:cNvPr>
          <p:cNvSpPr>
            <a:spLocks xmlns:a="http://schemas.openxmlformats.org/drawingml/2006/main" noGrp="1"/>
          </p:cNvSpPr>
          <p:nvPr/>
        </p:nvSpPr>
        <p:spPr>
          <a:xfrm xmlns:a="http://schemas.openxmlformats.org/drawingml/2006/main">
            <a:off x="2705100" y="2457450"/>
            <a:ext cx="1600200" cy="47625"/>
          </a:xfrm>
          <a:prstGeom xmlns:a="http://schemas.openxmlformats.org/drawingml/2006/main" prst="rect">
            <a:avLst/>
          </a:prstGeom>
          <a:solidFill xmlns:a="http://schemas.openxmlformats.org/drawingml/2006/main">
            <a:srgbClr val="1F6F78"/>
          </a:solidFill>
          <a:ln xmlns:a="http://schemas.openxmlformats.org/drawingml/2006/main" w="0">
            <a:solidFill>
              <a:srgbClr val="1F6F78"/>
            </a:solidFill>
            <a:prstDash val="solid"/>
          </a:ln>
        </p:spPr>
      </p:sp>
      <p:sp>
        <p:nvSpPr>
          <p:cNvPr id="15" name="flow-2-label">
            <a:extLst xmlns:a="http://schemas.openxmlformats.org/drawingml/2006/main">
              <a:ext uri="{FF2B5EF4-FFF2-40B4-BE49-F238E27FC236}">
                <a16:creationId xmlns:a16="http://schemas.microsoft.com/office/drawing/2014/main" id="{0AF2A5C8-40EC-4BB4-BE43-308F85C6BD3F}"/>
              </a:ext>
            </a:extLst>
          </p:cNvPr>
          <p:cNvSpPr>
            <a:spLocks xmlns:a="http://schemas.openxmlformats.org/drawingml/2006/main" noGrp="1"/>
          </p:cNvSpPr>
          <p:nvPr/>
        </p:nvSpPr>
        <p:spPr>
          <a:xfrm xmlns:a="http://schemas.openxmlformats.org/drawingml/2006/main">
            <a:off x="2857500" y="2628900"/>
            <a:ext cx="1295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575" b="1">
                <a:solidFill>
                  <a:srgbClr val="17202A"/>
                </a:solidFill>
                <a:latin typeface="Aptos"/>
                <a:ea typeface="Aptos"/>
                <a:cs typeface="Aptos"/>
              </a:defRPr>
            </a:pPr>
            <a:r>
              <a:rPr sz="1575" b="1">
                <a:solidFill>
                  <a:srgbClr val="17202A"/>
                </a:solidFill>
                <a:latin typeface="Aptos"/>
                <a:ea typeface="Aptos"/>
                <a:cs typeface="Aptos"/>
              </a:rPr>
              <a:t>Eingang</a:t>
            </a:r>
          </a:p>
        </p:txBody>
      </p:sp>
      <p:sp>
        <p:nvSpPr>
          <p:cNvPr id="16" name="flow-2-sub">
            <a:extLst xmlns:a="http://schemas.openxmlformats.org/drawingml/2006/main">
              <a:ext uri="{FF2B5EF4-FFF2-40B4-BE49-F238E27FC236}">
                <a16:creationId xmlns:a16="http://schemas.microsoft.com/office/drawing/2014/main" id="{F81E692C-0EB2-4E65-9788-4AC42F89006A}"/>
              </a:ext>
            </a:extLst>
          </p:cNvPr>
          <p:cNvSpPr>
            <a:spLocks xmlns:a="http://schemas.openxmlformats.org/drawingml/2006/main" noGrp="1"/>
          </p:cNvSpPr>
          <p:nvPr/>
        </p:nvSpPr>
        <p:spPr>
          <a:xfrm xmlns:a="http://schemas.openxmlformats.org/drawingml/2006/main">
            <a:off x="2857500" y="2952750"/>
            <a:ext cx="12954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200" b="0">
                <a:solidFill>
                  <a:srgbClr val="5B6470"/>
                </a:solidFill>
                <a:latin typeface="Aptos"/>
                <a:ea typeface="Aptos"/>
                <a:cs typeface="Aptos"/>
              </a:defRPr>
            </a:pPr>
            <a:r>
              <a:rPr sz="1200" b="0">
                <a:solidFill>
                  <a:srgbClr val="5B6470"/>
                </a:solidFill>
                <a:latin typeface="Aptos"/>
                <a:ea typeface="Aptos"/>
                <a:cs typeface="Aptos"/>
              </a:rPr>
              <a:t>Signatur, Payload, Bot-Schutz</a:t>
            </a:r>
          </a:p>
        </p:txBody>
      </p:sp>
      <p:sp>
        <p:nvSpPr>
          <p:cNvPr id="17" name="flow-3-box">
            <a:extLst xmlns:a="http://schemas.openxmlformats.org/drawingml/2006/main">
              <a:ext uri="{FF2B5EF4-FFF2-40B4-BE49-F238E27FC236}">
                <a16:creationId xmlns:a16="http://schemas.microsoft.com/office/drawing/2014/main" id="{8730F2FA-292D-4905-B11A-12FACC88AE64}"/>
              </a:ext>
            </a:extLst>
          </p:cNvPr>
          <p:cNvSpPr>
            <a:spLocks xmlns:a="http://schemas.openxmlformats.org/drawingml/2006/main" noGrp="1"/>
          </p:cNvSpPr>
          <p:nvPr/>
        </p:nvSpPr>
        <p:spPr>
          <a:xfrm xmlns:a="http://schemas.openxmlformats.org/drawingml/2006/main">
            <a:off x="4629150" y="2457450"/>
            <a:ext cx="1600200" cy="1371600"/>
          </a:xfrm>
          <a:prstGeom xmlns:a="http://schemas.openxmlformats.org/drawingml/2006/main" prst="rect">
            <a:avLst/>
          </a:prstGeom>
          <a:solidFill xmlns:a="http://schemas.openxmlformats.org/drawingml/2006/main">
            <a:srgbClr val="FFFFFF"/>
          </a:solidFill>
          <a:ln xmlns:a="http://schemas.openxmlformats.org/drawingml/2006/main" w="9525">
            <a:solidFill>
              <a:srgbClr val="C26A2E"/>
            </a:solidFill>
            <a:prstDash val="solid"/>
          </a:ln>
        </p:spPr>
      </p:sp>
      <p:sp>
        <p:nvSpPr>
          <p:cNvPr id="18" name="flow-3-accent">
            <a:extLst xmlns:a="http://schemas.openxmlformats.org/drawingml/2006/main">
              <a:ext uri="{FF2B5EF4-FFF2-40B4-BE49-F238E27FC236}">
                <a16:creationId xmlns:a16="http://schemas.microsoft.com/office/drawing/2014/main" id="{C38E186F-70E1-45E3-A3F9-DE6D89E58519}"/>
              </a:ext>
            </a:extLst>
          </p:cNvPr>
          <p:cNvSpPr>
            <a:spLocks xmlns:a="http://schemas.openxmlformats.org/drawingml/2006/main" noGrp="1"/>
          </p:cNvSpPr>
          <p:nvPr/>
        </p:nvSpPr>
        <p:spPr>
          <a:xfrm xmlns:a="http://schemas.openxmlformats.org/drawingml/2006/main">
            <a:off x="4629150" y="2457450"/>
            <a:ext cx="1600200" cy="47625"/>
          </a:xfrm>
          <a:prstGeom xmlns:a="http://schemas.openxmlformats.org/drawingml/2006/main" prst="rect">
            <a:avLst/>
          </a:prstGeom>
          <a:solidFill xmlns:a="http://schemas.openxmlformats.org/drawingml/2006/main">
            <a:srgbClr val="C26A2E"/>
          </a:solidFill>
          <a:ln xmlns:a="http://schemas.openxmlformats.org/drawingml/2006/main" w="0">
            <a:solidFill>
              <a:srgbClr val="C26A2E"/>
            </a:solidFill>
            <a:prstDash val="solid"/>
          </a:ln>
        </p:spPr>
      </p:sp>
      <p:sp>
        <p:nvSpPr>
          <p:cNvPr id="19" name="flow-3-label">
            <a:extLst xmlns:a="http://schemas.openxmlformats.org/drawingml/2006/main">
              <a:ext uri="{FF2B5EF4-FFF2-40B4-BE49-F238E27FC236}">
                <a16:creationId xmlns:a16="http://schemas.microsoft.com/office/drawing/2014/main" id="{4AEB5FA4-E2F2-43B2-B610-1DC164B0BFA2}"/>
              </a:ext>
            </a:extLst>
          </p:cNvPr>
          <p:cNvSpPr>
            <a:spLocks xmlns:a="http://schemas.openxmlformats.org/drawingml/2006/main" noGrp="1"/>
          </p:cNvSpPr>
          <p:nvPr/>
        </p:nvSpPr>
        <p:spPr>
          <a:xfrm xmlns:a="http://schemas.openxmlformats.org/drawingml/2006/main">
            <a:off x="4781550" y="2628900"/>
            <a:ext cx="1295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575" b="1">
                <a:solidFill>
                  <a:srgbClr val="17202A"/>
                </a:solidFill>
                <a:latin typeface="Aptos"/>
                <a:ea typeface="Aptos"/>
                <a:cs typeface="Aptos"/>
              </a:defRPr>
            </a:pPr>
            <a:r>
              <a:rPr sz="1575" b="1">
                <a:solidFill>
                  <a:srgbClr val="17202A"/>
                </a:solidFill>
                <a:latin typeface="Aptos"/>
                <a:ea typeface="Aptos"/>
                <a:cs typeface="Aptos"/>
              </a:rPr>
              <a:t>Routing</a:t>
            </a:r>
          </a:p>
        </p:txBody>
      </p:sp>
      <p:sp>
        <p:nvSpPr>
          <p:cNvPr id="20" name="flow-3-sub">
            <a:extLst xmlns:a="http://schemas.openxmlformats.org/drawingml/2006/main">
              <a:ext uri="{FF2B5EF4-FFF2-40B4-BE49-F238E27FC236}">
                <a16:creationId xmlns:a16="http://schemas.microsoft.com/office/drawing/2014/main" id="{84288384-DC70-46C3-9BF9-B3B96382EF00}"/>
              </a:ext>
            </a:extLst>
          </p:cNvPr>
          <p:cNvSpPr>
            <a:spLocks xmlns:a="http://schemas.openxmlformats.org/drawingml/2006/main" noGrp="1"/>
          </p:cNvSpPr>
          <p:nvPr/>
        </p:nvSpPr>
        <p:spPr>
          <a:xfrm xmlns:a="http://schemas.openxmlformats.org/drawingml/2006/main">
            <a:off x="4781550" y="2952750"/>
            <a:ext cx="12954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200" b="0">
                <a:solidFill>
                  <a:srgbClr val="5B6470"/>
                </a:solidFill>
                <a:latin typeface="Aptos"/>
                <a:ea typeface="Aptos"/>
                <a:cs typeface="Aptos"/>
              </a:defRPr>
            </a:pPr>
            <a:r>
              <a:rPr sz="1200" b="0">
                <a:solidFill>
                  <a:srgbClr val="5B6470"/>
                </a:solidFill>
                <a:latin typeface="Aptos"/>
                <a:ea typeface="Aptos"/>
                <a:cs typeface="Aptos"/>
              </a:rPr>
              <a:t>Analyse oder Publish-Pfad</a:t>
            </a:r>
          </a:p>
        </p:txBody>
      </p:sp>
      <p:sp>
        <p:nvSpPr>
          <p:cNvPr id="21" name="flow-4-box">
            <a:extLst xmlns:a="http://schemas.openxmlformats.org/drawingml/2006/main">
              <a:ext uri="{FF2B5EF4-FFF2-40B4-BE49-F238E27FC236}">
                <a16:creationId xmlns:a16="http://schemas.microsoft.com/office/drawing/2014/main" id="{22B8046A-2E0E-49E2-B3AB-280F2A686100}"/>
              </a:ext>
            </a:extLst>
          </p:cNvPr>
          <p:cNvSpPr>
            <a:spLocks xmlns:a="http://schemas.openxmlformats.org/drawingml/2006/main" noGrp="1"/>
          </p:cNvSpPr>
          <p:nvPr/>
        </p:nvSpPr>
        <p:spPr>
          <a:xfrm xmlns:a="http://schemas.openxmlformats.org/drawingml/2006/main">
            <a:off x="6553200" y="2457450"/>
            <a:ext cx="1600200" cy="1371600"/>
          </a:xfrm>
          <a:prstGeom xmlns:a="http://schemas.openxmlformats.org/drawingml/2006/main" prst="rect">
            <a:avLst/>
          </a:prstGeom>
          <a:solidFill xmlns:a="http://schemas.openxmlformats.org/drawingml/2006/main">
            <a:srgbClr val="FFFFFF"/>
          </a:solidFill>
          <a:ln xmlns:a="http://schemas.openxmlformats.org/drawingml/2006/main" w="9525">
            <a:solidFill>
              <a:srgbClr val="2E7D5B"/>
            </a:solidFill>
            <a:prstDash val="solid"/>
          </a:ln>
        </p:spPr>
      </p:sp>
      <p:sp>
        <p:nvSpPr>
          <p:cNvPr id="22" name="flow-4-accent">
            <a:extLst xmlns:a="http://schemas.openxmlformats.org/drawingml/2006/main">
              <a:ext uri="{FF2B5EF4-FFF2-40B4-BE49-F238E27FC236}">
                <a16:creationId xmlns:a16="http://schemas.microsoft.com/office/drawing/2014/main" id="{8628F9B4-2815-44F1-8286-5481E689641B}"/>
              </a:ext>
            </a:extLst>
          </p:cNvPr>
          <p:cNvSpPr>
            <a:spLocks xmlns:a="http://schemas.openxmlformats.org/drawingml/2006/main" noGrp="1"/>
          </p:cNvSpPr>
          <p:nvPr/>
        </p:nvSpPr>
        <p:spPr>
          <a:xfrm xmlns:a="http://schemas.openxmlformats.org/drawingml/2006/main">
            <a:off x="6553200" y="2457450"/>
            <a:ext cx="1600200" cy="47625"/>
          </a:xfrm>
          <a:prstGeom xmlns:a="http://schemas.openxmlformats.org/drawingml/2006/main" prst="rect">
            <a:avLst/>
          </a:prstGeom>
          <a:solidFill xmlns:a="http://schemas.openxmlformats.org/drawingml/2006/main">
            <a:srgbClr val="2E7D5B"/>
          </a:solidFill>
          <a:ln xmlns:a="http://schemas.openxmlformats.org/drawingml/2006/main" w="0">
            <a:solidFill>
              <a:srgbClr val="2E7D5B"/>
            </a:solidFill>
            <a:prstDash val="solid"/>
          </a:ln>
        </p:spPr>
      </p:sp>
      <p:sp>
        <p:nvSpPr>
          <p:cNvPr id="23" name="flow-4-label">
            <a:extLst xmlns:a="http://schemas.openxmlformats.org/drawingml/2006/main">
              <a:ext uri="{FF2B5EF4-FFF2-40B4-BE49-F238E27FC236}">
                <a16:creationId xmlns:a16="http://schemas.microsoft.com/office/drawing/2014/main" id="{9E243CA1-AC09-42D1-BB06-DD6D3ED9A299}"/>
              </a:ext>
            </a:extLst>
          </p:cNvPr>
          <p:cNvSpPr>
            <a:spLocks xmlns:a="http://schemas.openxmlformats.org/drawingml/2006/main" noGrp="1"/>
          </p:cNvSpPr>
          <p:nvPr/>
        </p:nvSpPr>
        <p:spPr>
          <a:xfrm xmlns:a="http://schemas.openxmlformats.org/drawingml/2006/main">
            <a:off x="6705600" y="2628900"/>
            <a:ext cx="1295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575" b="1">
                <a:solidFill>
                  <a:srgbClr val="17202A"/>
                </a:solidFill>
                <a:latin typeface="Aptos"/>
                <a:ea typeface="Aptos"/>
                <a:cs typeface="Aptos"/>
              </a:defRPr>
            </a:pPr>
            <a:r>
              <a:rPr sz="1575" b="1">
                <a:solidFill>
                  <a:srgbClr val="17202A"/>
                </a:solidFill>
                <a:latin typeface="Aptos"/>
                <a:ea typeface="Aptos"/>
                <a:cs typeface="Aptos"/>
              </a:rPr>
              <a:t>Kontext</a:t>
            </a:r>
          </a:p>
        </p:txBody>
      </p:sp>
      <p:sp>
        <p:nvSpPr>
          <p:cNvPr id="24" name="flow-4-sub">
            <a:extLst xmlns:a="http://schemas.openxmlformats.org/drawingml/2006/main">
              <a:ext uri="{FF2B5EF4-FFF2-40B4-BE49-F238E27FC236}">
                <a16:creationId xmlns:a16="http://schemas.microsoft.com/office/drawing/2014/main" id="{CDC6093E-F979-4A5D-B9D8-C43852892314}"/>
              </a:ext>
            </a:extLst>
          </p:cNvPr>
          <p:cNvSpPr>
            <a:spLocks xmlns:a="http://schemas.openxmlformats.org/drawingml/2006/main" noGrp="1"/>
          </p:cNvSpPr>
          <p:nvPr/>
        </p:nvSpPr>
        <p:spPr>
          <a:xfrm xmlns:a="http://schemas.openxmlformats.org/drawingml/2006/main">
            <a:off x="6705600" y="2952750"/>
            <a:ext cx="12954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200" b="0">
                <a:solidFill>
                  <a:srgbClr val="5B6470"/>
                </a:solidFill>
                <a:latin typeface="Aptos"/>
                <a:ea typeface="Aptos"/>
                <a:cs typeface="Aptos"/>
              </a:defRPr>
            </a:pPr>
            <a:r>
              <a:rPr sz="1200" b="0">
                <a:solidFill>
                  <a:srgbClr val="5B6470"/>
                </a:solidFill>
                <a:latin typeface="Aptos"/>
                <a:ea typeface="Aptos"/>
                <a:cs typeface="Aptos"/>
              </a:rPr>
              <a:t>Issue, Kommentare, Bilder</a:t>
            </a:r>
          </a:p>
        </p:txBody>
      </p:sp>
      <p:sp>
        <p:nvSpPr>
          <p:cNvPr id="25" name="flow-5-box">
            <a:extLst xmlns:a="http://schemas.openxmlformats.org/drawingml/2006/main">
              <a:ext uri="{FF2B5EF4-FFF2-40B4-BE49-F238E27FC236}">
                <a16:creationId xmlns:a16="http://schemas.microsoft.com/office/drawing/2014/main" id="{E1372123-8596-4072-AC7F-6D8C69875280}"/>
              </a:ext>
            </a:extLst>
          </p:cNvPr>
          <p:cNvSpPr>
            <a:spLocks xmlns:a="http://schemas.openxmlformats.org/drawingml/2006/main" noGrp="1"/>
          </p:cNvSpPr>
          <p:nvPr/>
        </p:nvSpPr>
        <p:spPr>
          <a:xfrm xmlns:a="http://schemas.openxmlformats.org/drawingml/2006/main">
            <a:off x="8477250" y="2457450"/>
            <a:ext cx="1600200" cy="1371600"/>
          </a:xfrm>
          <a:prstGeom xmlns:a="http://schemas.openxmlformats.org/drawingml/2006/main" prst="rect">
            <a:avLst/>
          </a:prstGeom>
          <a:solidFill xmlns:a="http://schemas.openxmlformats.org/drawingml/2006/main">
            <a:srgbClr val="FFFFFF"/>
          </a:solidFill>
          <a:ln xmlns:a="http://schemas.openxmlformats.org/drawingml/2006/main" w="9525">
            <a:solidFill>
              <a:srgbClr val="1F6F78"/>
            </a:solidFill>
            <a:prstDash val="solid"/>
          </a:ln>
        </p:spPr>
      </p:sp>
      <p:sp>
        <p:nvSpPr>
          <p:cNvPr id="26" name="flow-5-accent">
            <a:extLst xmlns:a="http://schemas.openxmlformats.org/drawingml/2006/main">
              <a:ext uri="{FF2B5EF4-FFF2-40B4-BE49-F238E27FC236}">
                <a16:creationId xmlns:a16="http://schemas.microsoft.com/office/drawing/2014/main" id="{BED1E8FD-C665-43B3-96C4-2669AD39193D}"/>
              </a:ext>
            </a:extLst>
          </p:cNvPr>
          <p:cNvSpPr>
            <a:spLocks xmlns:a="http://schemas.openxmlformats.org/drawingml/2006/main" noGrp="1"/>
          </p:cNvSpPr>
          <p:nvPr/>
        </p:nvSpPr>
        <p:spPr>
          <a:xfrm xmlns:a="http://schemas.openxmlformats.org/drawingml/2006/main">
            <a:off x="8477250" y="2457450"/>
            <a:ext cx="1600200" cy="47625"/>
          </a:xfrm>
          <a:prstGeom xmlns:a="http://schemas.openxmlformats.org/drawingml/2006/main" prst="rect">
            <a:avLst/>
          </a:prstGeom>
          <a:solidFill xmlns:a="http://schemas.openxmlformats.org/drawingml/2006/main">
            <a:srgbClr val="1F6F78"/>
          </a:solidFill>
          <a:ln xmlns:a="http://schemas.openxmlformats.org/drawingml/2006/main" w="0">
            <a:solidFill>
              <a:srgbClr val="1F6F78"/>
            </a:solidFill>
            <a:prstDash val="solid"/>
          </a:ln>
        </p:spPr>
      </p:sp>
      <p:sp>
        <p:nvSpPr>
          <p:cNvPr id="27" name="flow-5-label">
            <a:extLst xmlns:a="http://schemas.openxmlformats.org/drawingml/2006/main">
              <a:ext uri="{FF2B5EF4-FFF2-40B4-BE49-F238E27FC236}">
                <a16:creationId xmlns:a16="http://schemas.microsoft.com/office/drawing/2014/main" id="{FC4008A3-DC27-4030-BB49-84A047B501B8}"/>
              </a:ext>
            </a:extLst>
          </p:cNvPr>
          <p:cNvSpPr>
            <a:spLocks xmlns:a="http://schemas.openxmlformats.org/drawingml/2006/main" noGrp="1"/>
          </p:cNvSpPr>
          <p:nvPr/>
        </p:nvSpPr>
        <p:spPr>
          <a:xfrm xmlns:a="http://schemas.openxmlformats.org/drawingml/2006/main">
            <a:off x="8629650" y="2628900"/>
            <a:ext cx="1295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575" b="1">
                <a:solidFill>
                  <a:srgbClr val="17202A"/>
                </a:solidFill>
                <a:latin typeface="Aptos"/>
                <a:ea typeface="Aptos"/>
                <a:cs typeface="Aptos"/>
              </a:defRPr>
            </a:pPr>
            <a:r>
              <a:rPr sz="1575" b="1">
                <a:solidFill>
                  <a:srgbClr val="17202A"/>
                </a:solidFill>
                <a:latin typeface="Aptos"/>
                <a:ea typeface="Aptos"/>
                <a:cs typeface="Aptos"/>
              </a:rPr>
              <a:t>Opencode</a:t>
            </a:r>
          </a:p>
        </p:txBody>
      </p:sp>
      <p:sp>
        <p:nvSpPr>
          <p:cNvPr id="28" name="flow-5-sub">
            <a:extLst xmlns:a="http://schemas.openxmlformats.org/drawingml/2006/main">
              <a:ext uri="{FF2B5EF4-FFF2-40B4-BE49-F238E27FC236}">
                <a16:creationId xmlns:a16="http://schemas.microsoft.com/office/drawing/2014/main" id="{2EA9AFF5-17C0-44C6-8020-F27733B33332}"/>
              </a:ext>
            </a:extLst>
          </p:cNvPr>
          <p:cNvSpPr>
            <a:spLocks xmlns:a="http://schemas.openxmlformats.org/drawingml/2006/main" noGrp="1"/>
          </p:cNvSpPr>
          <p:nvPr/>
        </p:nvSpPr>
        <p:spPr>
          <a:xfrm xmlns:a="http://schemas.openxmlformats.org/drawingml/2006/main">
            <a:off x="8629650" y="2952750"/>
            <a:ext cx="12954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200" b="0">
                <a:solidFill>
                  <a:srgbClr val="5B6470"/>
                </a:solidFill>
                <a:latin typeface="Aptos"/>
                <a:ea typeface="Aptos"/>
                <a:cs typeface="Aptos"/>
              </a:defRPr>
            </a:pPr>
            <a:r>
              <a:rPr sz="1200" b="0">
                <a:solidFill>
                  <a:srgbClr val="5B6470"/>
                </a:solidFill>
                <a:latin typeface="Aptos"/>
                <a:ea typeface="Aptos"/>
                <a:cs typeface="Aptos"/>
              </a:rPr>
              <a:t>Rückfragen oder Vorschlag</a:t>
            </a:r>
          </a:p>
        </p:txBody>
      </p:sp>
      <p:sp>
        <p:nvSpPr>
          <p:cNvPr id="29" name="flow-6-box">
            <a:extLst xmlns:a="http://schemas.openxmlformats.org/drawingml/2006/main">
              <a:ext uri="{FF2B5EF4-FFF2-40B4-BE49-F238E27FC236}">
                <a16:creationId xmlns:a16="http://schemas.microsoft.com/office/drawing/2014/main" id="{FEB51DFC-A128-4AA7-8ECA-EC68CF7617DD}"/>
              </a:ext>
            </a:extLst>
          </p:cNvPr>
          <p:cNvSpPr>
            <a:spLocks xmlns:a="http://schemas.openxmlformats.org/drawingml/2006/main" noGrp="1"/>
          </p:cNvSpPr>
          <p:nvPr/>
        </p:nvSpPr>
        <p:spPr>
          <a:xfrm xmlns:a="http://schemas.openxmlformats.org/drawingml/2006/main">
            <a:off x="10401300" y="2457450"/>
            <a:ext cx="1600200" cy="1371600"/>
          </a:xfrm>
          <a:prstGeom xmlns:a="http://schemas.openxmlformats.org/drawingml/2006/main" prst="rect">
            <a:avLst/>
          </a:prstGeom>
          <a:solidFill xmlns:a="http://schemas.openxmlformats.org/drawingml/2006/main">
            <a:srgbClr val="FFFFFF"/>
          </a:solidFill>
          <a:ln xmlns:a="http://schemas.openxmlformats.org/drawingml/2006/main" w="9525">
            <a:solidFill>
              <a:srgbClr val="C26A2E"/>
            </a:solidFill>
            <a:prstDash val="solid"/>
          </a:ln>
        </p:spPr>
      </p:sp>
      <p:sp>
        <p:nvSpPr>
          <p:cNvPr id="30" name="flow-6-accent">
            <a:extLst xmlns:a="http://schemas.openxmlformats.org/drawingml/2006/main">
              <a:ext uri="{FF2B5EF4-FFF2-40B4-BE49-F238E27FC236}">
                <a16:creationId xmlns:a16="http://schemas.microsoft.com/office/drawing/2014/main" id="{20EB816A-2AEA-45D3-9DBF-772ED208D970}"/>
              </a:ext>
            </a:extLst>
          </p:cNvPr>
          <p:cNvSpPr>
            <a:spLocks xmlns:a="http://schemas.openxmlformats.org/drawingml/2006/main" noGrp="1"/>
          </p:cNvSpPr>
          <p:nvPr/>
        </p:nvSpPr>
        <p:spPr>
          <a:xfrm xmlns:a="http://schemas.openxmlformats.org/drawingml/2006/main">
            <a:off x="10401300" y="2457450"/>
            <a:ext cx="1600200" cy="47625"/>
          </a:xfrm>
          <a:prstGeom xmlns:a="http://schemas.openxmlformats.org/drawingml/2006/main" prst="rect">
            <a:avLst/>
          </a:prstGeom>
          <a:solidFill xmlns:a="http://schemas.openxmlformats.org/drawingml/2006/main">
            <a:srgbClr val="C26A2E"/>
          </a:solidFill>
          <a:ln xmlns:a="http://schemas.openxmlformats.org/drawingml/2006/main" w="0">
            <a:solidFill>
              <a:srgbClr val="C26A2E"/>
            </a:solidFill>
            <a:prstDash val="solid"/>
          </a:ln>
        </p:spPr>
      </p:sp>
      <p:sp>
        <p:nvSpPr>
          <p:cNvPr id="31" name="flow-6-label">
            <a:extLst xmlns:a="http://schemas.openxmlformats.org/drawingml/2006/main">
              <a:ext uri="{FF2B5EF4-FFF2-40B4-BE49-F238E27FC236}">
                <a16:creationId xmlns:a16="http://schemas.microsoft.com/office/drawing/2014/main" id="{0B1D1589-9525-4293-8E3A-634C03DB2953}"/>
              </a:ext>
            </a:extLst>
          </p:cNvPr>
          <p:cNvSpPr>
            <a:spLocks xmlns:a="http://schemas.openxmlformats.org/drawingml/2006/main" noGrp="1"/>
          </p:cNvSpPr>
          <p:nvPr/>
        </p:nvSpPr>
        <p:spPr>
          <a:xfrm xmlns:a="http://schemas.openxmlformats.org/drawingml/2006/main">
            <a:off x="10553700" y="2628900"/>
            <a:ext cx="1295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575" b="1">
                <a:solidFill>
                  <a:srgbClr val="17202A"/>
                </a:solidFill>
                <a:latin typeface="Aptos"/>
                <a:ea typeface="Aptos"/>
                <a:cs typeface="Aptos"/>
              </a:defRPr>
            </a:pPr>
            <a:r>
              <a:rPr sz="1575" b="1">
                <a:solidFill>
                  <a:srgbClr val="17202A"/>
                </a:solidFill>
                <a:latin typeface="Aptos"/>
                <a:ea typeface="Aptos"/>
                <a:cs typeface="Aptos"/>
              </a:rPr>
              <a:t>Publish</a:t>
            </a:r>
          </a:p>
        </p:txBody>
      </p:sp>
      <p:sp>
        <p:nvSpPr>
          <p:cNvPr id="32" name="flow-6-sub">
            <a:extLst xmlns:a="http://schemas.openxmlformats.org/drawingml/2006/main">
              <a:ext uri="{FF2B5EF4-FFF2-40B4-BE49-F238E27FC236}">
                <a16:creationId xmlns:a16="http://schemas.microsoft.com/office/drawing/2014/main" id="{87A76FBC-EEDD-48BF-B3CB-CCBD623949FB}"/>
              </a:ext>
            </a:extLst>
          </p:cNvPr>
          <p:cNvSpPr>
            <a:spLocks xmlns:a="http://schemas.openxmlformats.org/drawingml/2006/main" noGrp="1"/>
          </p:cNvSpPr>
          <p:nvPr/>
        </p:nvSpPr>
        <p:spPr>
          <a:xfrm xmlns:a="http://schemas.openxmlformats.org/drawingml/2006/main">
            <a:off x="10553700" y="2952750"/>
            <a:ext cx="12954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200" b="0">
                <a:solidFill>
                  <a:srgbClr val="5B6470"/>
                </a:solidFill>
                <a:latin typeface="Aptos"/>
                <a:ea typeface="Aptos"/>
                <a:cs typeface="Aptos"/>
              </a:defRPr>
            </a:pPr>
            <a:r>
              <a:rPr sz="1200" b="0">
                <a:solidFill>
                  <a:srgbClr val="5B6470"/>
                </a:solidFill>
                <a:latin typeface="Aptos"/>
                <a:ea typeface="Aptos"/>
                <a:cs typeface="Aptos"/>
              </a:rPr>
              <a:t>Freigabe aktualisiert Issue</a:t>
            </a:r>
          </a:p>
        </p:txBody>
      </p:sp>
      <p:sp>
        <p:nvSpPr>
          <p:cNvPr id="33" name="flow-footnote">
            <a:extLst xmlns:a="http://schemas.openxmlformats.org/drawingml/2006/main">
              <a:ext uri="{FF2B5EF4-FFF2-40B4-BE49-F238E27FC236}">
                <a16:creationId xmlns:a16="http://schemas.microsoft.com/office/drawing/2014/main" id="{EAE951B9-00F2-48FD-99C0-0998EB435937}"/>
              </a:ext>
            </a:extLst>
          </p:cNvPr>
          <p:cNvSpPr>
            <a:spLocks xmlns:a="http://schemas.openxmlformats.org/drawingml/2006/main" noGrp="1"/>
          </p:cNvSpPr>
          <p:nvPr/>
        </p:nvSpPr>
        <p:spPr>
          <a:xfrm xmlns:a="http://schemas.openxmlformats.org/drawingml/2006/main">
            <a:off x="1352550" y="4591050"/>
            <a:ext cx="9486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1575" b="0">
                <a:solidFill>
                  <a:srgbClr val="5B6470"/>
                </a:solidFill>
                <a:latin typeface="Aptos"/>
                <a:ea typeface="Aptos"/>
                <a:cs typeface="Aptos"/>
              </a:defRPr>
            </a:pPr>
            <a:r>
              <a:rPr sz="1575" b="0">
                <a:solidFill>
                  <a:srgbClr val="5B6470"/>
                </a:solidFill>
                <a:latin typeface="Aptos"/>
                <a:ea typeface="Aptos"/>
                <a:cs typeface="Aptos"/>
              </a:rPr>
              <a:t>Die HTTP-Antwort erfolgt sofort; Analyse, Vision-Anreicherung und GitLab-Aktionen laufen danach asynchron mit Logging.</a:t>
            </a:r>
          </a:p>
        </p:txBody>
      </p:sp>
      <p:sp>
        <p:nvSpPr>
          <p:cNvPr id="34" name="footer-left-5">
            <a:extLst xmlns:a="http://schemas.openxmlformats.org/drawingml/2006/main">
              <a:ext uri="{FF2B5EF4-FFF2-40B4-BE49-F238E27FC236}">
                <a16:creationId xmlns:a16="http://schemas.microsoft.com/office/drawing/2014/main" id="{791D8F8A-96BA-4144-BC48-105EB58D67AC}"/>
              </a:ext>
            </a:extLst>
          </p:cNvPr>
          <p:cNvSpPr>
            <a:spLocks xmlns:a="http://schemas.openxmlformats.org/drawingml/2006/main" noGrp="1"/>
          </p:cNvSpPr>
          <p:nvPr/>
        </p:nvSpPr>
        <p:spPr>
          <a:xfrm xmlns:a="http://schemas.openxmlformats.org/drawingml/2006/main">
            <a:off x="723900" y="63436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75" b="0">
                <a:solidFill>
                  <a:srgbClr val="5B6470"/>
                </a:solidFill>
                <a:latin typeface="Aptos"/>
                <a:ea typeface="Aptos"/>
                <a:cs typeface="Aptos"/>
              </a:defRPr>
            </a:pPr>
            <a:r>
              <a:rPr sz="975" b="0">
                <a:solidFill>
                  <a:srgbClr val="5B6470"/>
                </a:solidFill>
                <a:latin typeface="Aptos"/>
                <a:ea typeface="Aptos"/>
                <a:cs typeface="Aptos"/>
              </a:rPr>
              <a:t>Projektvorstellung für den Zweitgutachter</a:t>
            </a:r>
          </a:p>
        </p:txBody>
      </p:sp>
      <p:sp>
        <p:nvSpPr>
          <p:cNvPr id="35" name="footer-right-5">
            <a:extLst xmlns:a="http://schemas.openxmlformats.org/drawingml/2006/main">
              <a:ext uri="{FF2B5EF4-FFF2-40B4-BE49-F238E27FC236}">
                <a16:creationId xmlns:a16="http://schemas.microsoft.com/office/drawing/2014/main" id="{32B74C9F-A2C5-46D6-9F6B-59EA19099277}"/>
              </a:ext>
            </a:extLst>
          </p:cNvPr>
          <p:cNvSpPr>
            <a:spLocks xmlns:a="http://schemas.openxmlformats.org/drawingml/2006/main" noGrp="1"/>
          </p:cNvSpPr>
          <p:nvPr/>
        </p:nvSpPr>
        <p:spPr>
          <a:xfrm xmlns:a="http://schemas.openxmlformats.org/drawingml/2006/main">
            <a:off x="10934700" y="6286500"/>
            <a:ext cx="533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1200" b="1">
                <a:solidFill>
                  <a:srgbClr val="5B6470"/>
                </a:solidFill>
                <a:latin typeface="Aptos"/>
                <a:ea typeface="Aptos"/>
                <a:cs typeface="Aptos"/>
              </a:defRPr>
            </a:pPr>
            <a:r>
              <a:rPr sz="1200" b="1">
                <a:solidFill>
                  <a:srgbClr val="5B6470"/>
                </a:solidFill>
                <a:latin typeface="Aptos"/>
                <a:ea typeface="Aptos"/>
                <a:cs typeface="Aptos"/>
              </a:rPr>
              <a:t>08</a:t>
            </a:r>
          </a:p>
        </p:txBody>
      </p:sp>
    </p:spTree>
    <p:extLst>
      <p:ext uri="{BB962C8B-B14F-4D97-AF65-F5344CB8AC3E}">
        <p14:creationId xmlns:p14="http://schemas.microsoft.com/office/powerpoint/2010/main" val="39167445"/>
      </p:ext>
    </p:extLst>
  </p:cSld>
</p:sld>
</file>

<file path=ppt/slides/slide9.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 name="kicker-6">
            <a:extLst xmlns:a="http://schemas.openxmlformats.org/drawingml/2006/main">
              <a:ext uri="{FF2B5EF4-FFF2-40B4-BE49-F238E27FC236}">
                <a16:creationId xmlns:a16="http://schemas.microsoft.com/office/drawing/2014/main" id="{AEBA0B7D-7229-4E63-B244-996AE8721D80}"/>
              </a:ext>
            </a:extLst>
          </p:cNvPr>
          <p:cNvSpPr>
            <a:spLocks xmlns:a="http://schemas.openxmlformats.org/drawingml/2006/main" noGrp="1"/>
          </p:cNvSpPr>
          <p:nvPr/>
        </p:nvSpPr>
        <p:spPr>
          <a:xfrm xmlns:a="http://schemas.openxmlformats.org/drawingml/2006/main">
            <a:off x="723900" y="457200"/>
            <a:ext cx="723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125" b="1">
                <a:solidFill>
                  <a:srgbClr val="1F6F78"/>
                </a:solidFill>
                <a:latin typeface="Aptos"/>
                <a:ea typeface="Aptos"/>
                <a:cs typeface="Aptos"/>
              </a:defRPr>
            </a:pPr>
            <a:r>
              <a:rPr sz="1125" b="1">
                <a:solidFill>
                  <a:srgbClr val="1F6F78"/>
                </a:solidFill>
                <a:latin typeface="Aptos"/>
                <a:ea typeface="Aptos"/>
                <a:cs typeface="Aptos"/>
              </a:rPr>
              <a:t>GITLAB DEV-ASSIST</a:t>
            </a:r>
          </a:p>
        </p:txBody>
      </p:sp>
      <p:sp>
        <p:nvSpPr>
          <p:cNvPr id="2" name="title-6">
            <a:extLst xmlns:a="http://schemas.openxmlformats.org/drawingml/2006/main">
              <a:ext uri="{FF2B5EF4-FFF2-40B4-BE49-F238E27FC236}">
                <a16:creationId xmlns:a16="http://schemas.microsoft.com/office/drawing/2014/main" id="{CDE2FC48-941A-44D6-B6F0-5609AEAFDD05}"/>
              </a:ext>
            </a:extLst>
          </p:cNvPr>
          <p:cNvSpPr>
            <a:spLocks xmlns:a="http://schemas.openxmlformats.org/drawingml/2006/main" noGrp="1"/>
          </p:cNvSpPr>
          <p:nvPr/>
        </p:nvSpPr>
        <p:spPr>
          <a:xfrm xmlns:a="http://schemas.openxmlformats.org/drawingml/2006/main">
            <a:off x="723900" y="800100"/>
            <a:ext cx="8763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850" b="1">
                <a:solidFill>
                  <a:srgbClr val="17202A"/>
                </a:solidFill>
                <a:latin typeface="Aptos Display"/>
                <a:ea typeface="Aptos Display"/>
                <a:cs typeface="Aptos Display"/>
              </a:defRPr>
            </a:pPr>
            <a:r>
              <a:rPr sz="2850" b="1">
                <a:solidFill>
                  <a:srgbClr val="17202A"/>
                </a:solidFill>
                <a:latin typeface="Aptos Display"/>
                <a:ea typeface="Aptos Display"/>
                <a:cs typeface="Aptos Display"/>
              </a:rPr>
              <a:t>Architekturübersicht</a:t>
            </a:r>
          </a:p>
        </p:txBody>
      </p:sp>
      <p:sp>
        <p:nvSpPr>
          <p:cNvPr id="3" name="title-rule-6">
            <a:extLst xmlns:a="http://schemas.openxmlformats.org/drawingml/2006/main">
              <a:ext uri="{FF2B5EF4-FFF2-40B4-BE49-F238E27FC236}">
                <a16:creationId xmlns:a16="http://schemas.microsoft.com/office/drawing/2014/main" id="{4543F280-A2F6-42F1-940A-356B0CD87CD7}"/>
              </a:ext>
            </a:extLst>
          </p:cNvPr>
          <p:cNvSpPr>
            <a:spLocks xmlns:a="http://schemas.openxmlformats.org/drawingml/2006/main" noGrp="1"/>
          </p:cNvSpPr>
          <p:nvPr/>
        </p:nvSpPr>
        <p:spPr>
          <a:xfrm xmlns:a="http://schemas.openxmlformats.org/drawingml/2006/main">
            <a:off x="723900" y="1466850"/>
            <a:ext cx="10744200" cy="19050"/>
          </a:xfrm>
          <a:prstGeom xmlns:a="http://schemas.openxmlformats.org/drawingml/2006/main" prst="rect">
            <a:avLst/>
          </a:prstGeom>
          <a:solidFill xmlns:a="http://schemas.openxmlformats.org/drawingml/2006/main">
            <a:srgbClr val="E6EBF1"/>
          </a:solidFill>
          <a:ln xmlns:a="http://schemas.openxmlformats.org/drawingml/2006/main" w="0">
            <a:solidFill>
              <a:srgbClr val="E6EBF1"/>
            </a:solidFill>
            <a:prstDash val="solid"/>
          </a:ln>
        </p:spPr>
      </p:sp>
      <p:sp>
        <p:nvSpPr>
          <p:cNvPr id="4" name="arch-rule-1">
            <a:extLst xmlns:a="http://schemas.openxmlformats.org/drawingml/2006/main">
              <a:ext uri="{FF2B5EF4-FFF2-40B4-BE49-F238E27FC236}">
                <a16:creationId xmlns:a16="http://schemas.microsoft.com/office/drawing/2014/main" id="{3F92B8F1-1337-4DFE-9B5C-49C87DABFCCF}"/>
              </a:ext>
            </a:extLst>
          </p:cNvPr>
          <p:cNvSpPr>
            <a:spLocks xmlns:a="http://schemas.openxmlformats.org/drawingml/2006/main" noGrp="1"/>
          </p:cNvSpPr>
          <p:nvPr/>
        </p:nvSpPr>
        <p:spPr>
          <a:xfrm xmlns:a="http://schemas.openxmlformats.org/drawingml/2006/main">
            <a:off x="1123950" y="1962150"/>
            <a:ext cx="381000" cy="47625"/>
          </a:xfrm>
          <a:prstGeom xmlns:a="http://schemas.openxmlformats.org/drawingml/2006/main" prst="rect">
            <a:avLst/>
          </a:prstGeom>
          <a:solidFill xmlns:a="http://schemas.openxmlformats.org/drawingml/2006/main">
            <a:srgbClr val="305C89"/>
          </a:solidFill>
          <a:ln xmlns:a="http://schemas.openxmlformats.org/drawingml/2006/main" w="0">
            <a:solidFill>
              <a:srgbClr val="305C89"/>
            </a:solidFill>
            <a:prstDash val="solid"/>
          </a:ln>
        </p:spPr>
      </p:sp>
      <p:sp>
        <p:nvSpPr>
          <p:cNvPr id="5" name="arch-title-1">
            <a:extLst xmlns:a="http://schemas.openxmlformats.org/drawingml/2006/main">
              <a:ext uri="{FF2B5EF4-FFF2-40B4-BE49-F238E27FC236}">
                <a16:creationId xmlns:a16="http://schemas.microsoft.com/office/drawing/2014/main" id="{A3827B29-6667-4EE0-86A0-C1580274748A}"/>
              </a:ext>
            </a:extLst>
          </p:cNvPr>
          <p:cNvSpPr>
            <a:spLocks xmlns:a="http://schemas.openxmlformats.org/drawingml/2006/main" noGrp="1"/>
          </p:cNvSpPr>
          <p:nvPr/>
        </p:nvSpPr>
        <p:spPr>
          <a:xfrm xmlns:a="http://schemas.openxmlformats.org/drawingml/2006/main">
            <a:off x="1714500" y="188595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725" b="1">
                <a:solidFill>
                  <a:srgbClr val="17202A"/>
                </a:solidFill>
                <a:latin typeface="Aptos"/>
                <a:ea typeface="Aptos"/>
                <a:cs typeface="Aptos"/>
              </a:defRPr>
            </a:pPr>
            <a:r>
              <a:rPr sz="1725" b="1">
                <a:solidFill>
                  <a:srgbClr val="17202A"/>
                </a:solidFill>
                <a:latin typeface="Aptos"/>
                <a:ea typeface="Aptos"/>
                <a:cs typeface="Aptos"/>
              </a:rPr>
              <a:t>Eingang</a:t>
            </a:r>
          </a:p>
        </p:txBody>
      </p:sp>
      <p:sp>
        <p:nvSpPr>
          <p:cNvPr id="6" name="arch-text-1">
            <a:extLst xmlns:a="http://schemas.openxmlformats.org/drawingml/2006/main">
              <a:ext uri="{FF2B5EF4-FFF2-40B4-BE49-F238E27FC236}">
                <a16:creationId xmlns:a16="http://schemas.microsoft.com/office/drawing/2014/main" id="{5B16A1F8-9765-4C16-B674-F6BA64468983}"/>
              </a:ext>
            </a:extLst>
          </p:cNvPr>
          <p:cNvSpPr>
            <a:spLocks xmlns:a="http://schemas.openxmlformats.org/drawingml/2006/main" noGrp="1"/>
          </p:cNvSpPr>
          <p:nvPr/>
        </p:nvSpPr>
        <p:spPr>
          <a:xfrm xmlns:a="http://schemas.openxmlformats.org/drawingml/2006/main">
            <a:off x="4324350" y="1905000"/>
            <a:ext cx="61150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500" b="0">
                <a:solidFill>
                  <a:srgbClr val="5B6470"/>
                </a:solidFill>
                <a:latin typeface="Aptos"/>
                <a:ea typeface="Aptos"/>
                <a:cs typeface="Aptos"/>
              </a:defRPr>
            </a:pPr>
            <a:r>
              <a:rPr sz="1500" b="0">
                <a:solidFill>
                  <a:srgbClr val="5B6470"/>
                </a:solidFill>
                <a:latin typeface="Aptos"/>
                <a:ea typeface="Aptos"/>
                <a:cs typeface="Aptos"/>
              </a:rPr>
              <a:t>Express-Server mit /webhook/gitlab als zentralem Endpunkt</a:t>
            </a:r>
          </a:p>
        </p:txBody>
      </p:sp>
      <p:sp>
        <p:nvSpPr>
          <p:cNvPr id="7" name="arch-rule-2">
            <a:extLst xmlns:a="http://schemas.openxmlformats.org/drawingml/2006/main">
              <a:ext uri="{FF2B5EF4-FFF2-40B4-BE49-F238E27FC236}">
                <a16:creationId xmlns:a16="http://schemas.microsoft.com/office/drawing/2014/main" id="{56AAFFA7-F618-4ADD-91C1-88B7D2FAE202}"/>
              </a:ext>
            </a:extLst>
          </p:cNvPr>
          <p:cNvSpPr>
            <a:spLocks xmlns:a="http://schemas.openxmlformats.org/drawingml/2006/main" noGrp="1"/>
          </p:cNvSpPr>
          <p:nvPr/>
        </p:nvSpPr>
        <p:spPr>
          <a:xfrm xmlns:a="http://schemas.openxmlformats.org/drawingml/2006/main">
            <a:off x="1123950" y="2705100"/>
            <a:ext cx="381000" cy="47625"/>
          </a:xfrm>
          <a:prstGeom xmlns:a="http://schemas.openxmlformats.org/drawingml/2006/main" prst="rect">
            <a:avLst/>
          </a:prstGeom>
          <a:solidFill xmlns:a="http://schemas.openxmlformats.org/drawingml/2006/main">
            <a:srgbClr val="1F6F78"/>
          </a:solidFill>
          <a:ln xmlns:a="http://schemas.openxmlformats.org/drawingml/2006/main" w="0">
            <a:solidFill>
              <a:srgbClr val="1F6F78"/>
            </a:solidFill>
            <a:prstDash val="solid"/>
          </a:ln>
        </p:spPr>
      </p:sp>
      <p:sp>
        <p:nvSpPr>
          <p:cNvPr id="8" name="arch-title-2">
            <a:extLst xmlns:a="http://schemas.openxmlformats.org/drawingml/2006/main">
              <a:ext uri="{FF2B5EF4-FFF2-40B4-BE49-F238E27FC236}">
                <a16:creationId xmlns:a16="http://schemas.microsoft.com/office/drawing/2014/main" id="{E17FC402-B3AF-4326-ABA1-626A6A544AD9}"/>
              </a:ext>
            </a:extLst>
          </p:cNvPr>
          <p:cNvSpPr>
            <a:spLocks xmlns:a="http://schemas.openxmlformats.org/drawingml/2006/main" noGrp="1"/>
          </p:cNvSpPr>
          <p:nvPr/>
        </p:nvSpPr>
        <p:spPr>
          <a:xfrm xmlns:a="http://schemas.openxmlformats.org/drawingml/2006/main">
            <a:off x="1714500" y="262890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725" b="1">
                <a:solidFill>
                  <a:srgbClr val="17202A"/>
                </a:solidFill>
                <a:latin typeface="Aptos"/>
                <a:ea typeface="Aptos"/>
                <a:cs typeface="Aptos"/>
              </a:defRPr>
            </a:pPr>
            <a:r>
              <a:rPr sz="1725" b="1">
                <a:solidFill>
                  <a:srgbClr val="17202A"/>
                </a:solidFill>
                <a:latin typeface="Aptos"/>
                <a:ea typeface="Aptos"/>
                <a:cs typeface="Aptos"/>
              </a:rPr>
              <a:t>Orchestrierung</a:t>
            </a:r>
          </a:p>
        </p:txBody>
      </p:sp>
      <p:sp>
        <p:nvSpPr>
          <p:cNvPr id="9" name="arch-text-2">
            <a:extLst xmlns:a="http://schemas.openxmlformats.org/drawingml/2006/main">
              <a:ext uri="{FF2B5EF4-FFF2-40B4-BE49-F238E27FC236}">
                <a16:creationId xmlns:a16="http://schemas.microsoft.com/office/drawing/2014/main" id="{BCC22ECD-242B-4EC0-BE2A-D76A44D821E5}"/>
              </a:ext>
            </a:extLst>
          </p:cNvPr>
          <p:cNvSpPr>
            <a:spLocks xmlns:a="http://schemas.openxmlformats.org/drawingml/2006/main" noGrp="1"/>
          </p:cNvSpPr>
          <p:nvPr/>
        </p:nvSpPr>
        <p:spPr>
          <a:xfrm xmlns:a="http://schemas.openxmlformats.org/drawingml/2006/main">
            <a:off x="4324350" y="2647950"/>
            <a:ext cx="61150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500" b="0">
                <a:solidFill>
                  <a:srgbClr val="5B6470"/>
                </a:solidFill>
                <a:latin typeface="Aptos"/>
                <a:ea typeface="Aptos"/>
                <a:cs typeface="Aptos"/>
              </a:defRPr>
            </a:pPr>
            <a:r>
              <a:rPr sz="1500" b="0">
                <a:solidFill>
                  <a:srgbClr val="5B6470"/>
                </a:solidFill>
                <a:latin typeface="Aptos"/>
                <a:ea typeface="Aptos"/>
                <a:cs typeface="Aptos"/>
              </a:rPr>
              <a:t>webhook.ts prüft Signatur, Payload, Event-Typ und Routing</a:t>
            </a:r>
          </a:p>
        </p:txBody>
      </p:sp>
      <p:sp>
        <p:nvSpPr>
          <p:cNvPr id="10" name="arch-rule-3">
            <a:extLst xmlns:a="http://schemas.openxmlformats.org/drawingml/2006/main">
              <a:ext uri="{FF2B5EF4-FFF2-40B4-BE49-F238E27FC236}">
                <a16:creationId xmlns:a16="http://schemas.microsoft.com/office/drawing/2014/main" id="{E93C5A4A-9316-4367-BE62-E31C944AF29A}"/>
              </a:ext>
            </a:extLst>
          </p:cNvPr>
          <p:cNvSpPr>
            <a:spLocks xmlns:a="http://schemas.openxmlformats.org/drawingml/2006/main" noGrp="1"/>
          </p:cNvSpPr>
          <p:nvPr/>
        </p:nvSpPr>
        <p:spPr>
          <a:xfrm xmlns:a="http://schemas.openxmlformats.org/drawingml/2006/main">
            <a:off x="1123950" y="3448050"/>
            <a:ext cx="381000" cy="47625"/>
          </a:xfrm>
          <a:prstGeom xmlns:a="http://schemas.openxmlformats.org/drawingml/2006/main" prst="rect">
            <a:avLst/>
          </a:prstGeom>
          <a:solidFill xmlns:a="http://schemas.openxmlformats.org/drawingml/2006/main">
            <a:srgbClr val="C26A2E"/>
          </a:solidFill>
          <a:ln xmlns:a="http://schemas.openxmlformats.org/drawingml/2006/main" w="0">
            <a:solidFill>
              <a:srgbClr val="C26A2E"/>
            </a:solidFill>
            <a:prstDash val="solid"/>
          </a:ln>
        </p:spPr>
      </p:sp>
      <p:sp>
        <p:nvSpPr>
          <p:cNvPr id="11" name="arch-title-3">
            <a:extLst xmlns:a="http://schemas.openxmlformats.org/drawingml/2006/main">
              <a:ext uri="{FF2B5EF4-FFF2-40B4-BE49-F238E27FC236}">
                <a16:creationId xmlns:a16="http://schemas.microsoft.com/office/drawing/2014/main" id="{8D2739BE-9F03-4AEC-9E8B-81C652720204}"/>
              </a:ext>
            </a:extLst>
          </p:cNvPr>
          <p:cNvSpPr>
            <a:spLocks xmlns:a="http://schemas.openxmlformats.org/drawingml/2006/main" noGrp="1"/>
          </p:cNvSpPr>
          <p:nvPr/>
        </p:nvSpPr>
        <p:spPr>
          <a:xfrm xmlns:a="http://schemas.openxmlformats.org/drawingml/2006/main">
            <a:off x="1714500" y="337185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725" b="1">
                <a:solidFill>
                  <a:srgbClr val="17202A"/>
                </a:solidFill>
                <a:latin typeface="Aptos"/>
                <a:ea typeface="Aptos"/>
                <a:cs typeface="Aptos"/>
              </a:defRPr>
            </a:pPr>
            <a:r>
              <a:rPr sz="1725" b="1">
                <a:solidFill>
                  <a:srgbClr val="17202A"/>
                </a:solidFill>
                <a:latin typeface="Aptos"/>
                <a:ea typeface="Aptos"/>
                <a:cs typeface="Aptos"/>
              </a:rPr>
              <a:t>Fachlogik</a:t>
            </a:r>
          </a:p>
        </p:txBody>
      </p:sp>
      <p:sp>
        <p:nvSpPr>
          <p:cNvPr id="12" name="arch-text-3">
            <a:extLst xmlns:a="http://schemas.openxmlformats.org/drawingml/2006/main">
              <a:ext uri="{FF2B5EF4-FFF2-40B4-BE49-F238E27FC236}">
                <a16:creationId xmlns:a16="http://schemas.microsoft.com/office/drawing/2014/main" id="{D87F5867-17BE-40F5-9D0C-B47296660827}"/>
              </a:ext>
            </a:extLst>
          </p:cNvPr>
          <p:cNvSpPr>
            <a:spLocks xmlns:a="http://schemas.openxmlformats.org/drawingml/2006/main" noGrp="1"/>
          </p:cNvSpPr>
          <p:nvPr/>
        </p:nvSpPr>
        <p:spPr>
          <a:xfrm xmlns:a="http://schemas.openxmlformats.org/drawingml/2006/main">
            <a:off x="4324350" y="3390900"/>
            <a:ext cx="61150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500" b="0">
                <a:solidFill>
                  <a:srgbClr val="5B6470"/>
                </a:solidFill>
                <a:latin typeface="Aptos"/>
                <a:ea typeface="Aptos"/>
                <a:cs typeface="Aptos"/>
              </a:defRPr>
            </a:pPr>
            <a:r>
              <a:rPr sz="1500" b="0">
                <a:solidFill>
                  <a:srgbClr val="5B6470"/>
                </a:solidFill>
                <a:latin typeface="Aptos"/>
                <a:ea typeface="Aptos"/>
                <a:cs typeface="Aptos"/>
              </a:rPr>
              <a:t>Analyse, Publish, Mention-Erkennung und Antwortverarbeitung getrennt</a:t>
            </a:r>
          </a:p>
        </p:txBody>
      </p:sp>
      <p:sp>
        <p:nvSpPr>
          <p:cNvPr id="13" name="arch-rule-4">
            <a:extLst xmlns:a="http://schemas.openxmlformats.org/drawingml/2006/main">
              <a:ext uri="{FF2B5EF4-FFF2-40B4-BE49-F238E27FC236}">
                <a16:creationId xmlns:a16="http://schemas.microsoft.com/office/drawing/2014/main" id="{81A8030B-1B3A-4B61-B978-986244CA088B}"/>
              </a:ext>
            </a:extLst>
          </p:cNvPr>
          <p:cNvSpPr>
            <a:spLocks xmlns:a="http://schemas.openxmlformats.org/drawingml/2006/main" noGrp="1"/>
          </p:cNvSpPr>
          <p:nvPr/>
        </p:nvSpPr>
        <p:spPr>
          <a:xfrm xmlns:a="http://schemas.openxmlformats.org/drawingml/2006/main">
            <a:off x="1123950" y="4191000"/>
            <a:ext cx="381000" cy="47625"/>
          </a:xfrm>
          <a:prstGeom xmlns:a="http://schemas.openxmlformats.org/drawingml/2006/main" prst="rect">
            <a:avLst/>
          </a:prstGeom>
          <a:solidFill xmlns:a="http://schemas.openxmlformats.org/drawingml/2006/main">
            <a:srgbClr val="2E7D5B"/>
          </a:solidFill>
          <a:ln xmlns:a="http://schemas.openxmlformats.org/drawingml/2006/main" w="0">
            <a:solidFill>
              <a:srgbClr val="2E7D5B"/>
            </a:solidFill>
            <a:prstDash val="solid"/>
          </a:ln>
        </p:spPr>
      </p:sp>
      <p:sp>
        <p:nvSpPr>
          <p:cNvPr id="14" name="arch-title-4">
            <a:extLst xmlns:a="http://schemas.openxmlformats.org/drawingml/2006/main">
              <a:ext uri="{FF2B5EF4-FFF2-40B4-BE49-F238E27FC236}">
                <a16:creationId xmlns:a16="http://schemas.microsoft.com/office/drawing/2014/main" id="{D9AEAA39-314C-4E12-AE89-BF7A4E9C4B2F}"/>
              </a:ext>
            </a:extLst>
          </p:cNvPr>
          <p:cNvSpPr>
            <a:spLocks xmlns:a="http://schemas.openxmlformats.org/drawingml/2006/main" noGrp="1"/>
          </p:cNvSpPr>
          <p:nvPr/>
        </p:nvSpPr>
        <p:spPr>
          <a:xfrm xmlns:a="http://schemas.openxmlformats.org/drawingml/2006/main">
            <a:off x="1714500" y="411480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725" b="1">
                <a:solidFill>
                  <a:srgbClr val="17202A"/>
                </a:solidFill>
                <a:latin typeface="Aptos"/>
                <a:ea typeface="Aptos"/>
                <a:cs typeface="Aptos"/>
              </a:defRPr>
            </a:pPr>
            <a:r>
              <a:rPr sz="1725" b="1">
                <a:solidFill>
                  <a:srgbClr val="17202A"/>
                </a:solidFill>
                <a:latin typeface="Aptos"/>
                <a:ea typeface="Aptos"/>
                <a:cs typeface="Aptos"/>
              </a:rPr>
              <a:t>Integrationen</a:t>
            </a:r>
          </a:p>
        </p:txBody>
      </p:sp>
      <p:sp>
        <p:nvSpPr>
          <p:cNvPr id="15" name="arch-text-4">
            <a:extLst xmlns:a="http://schemas.openxmlformats.org/drawingml/2006/main">
              <a:ext uri="{FF2B5EF4-FFF2-40B4-BE49-F238E27FC236}">
                <a16:creationId xmlns:a16="http://schemas.microsoft.com/office/drawing/2014/main" id="{7A9E679B-28F0-41CB-9275-A27232E3337E}"/>
              </a:ext>
            </a:extLst>
          </p:cNvPr>
          <p:cNvSpPr>
            <a:spLocks xmlns:a="http://schemas.openxmlformats.org/drawingml/2006/main" noGrp="1"/>
          </p:cNvSpPr>
          <p:nvPr/>
        </p:nvSpPr>
        <p:spPr>
          <a:xfrm xmlns:a="http://schemas.openxmlformats.org/drawingml/2006/main">
            <a:off x="4324350" y="4133850"/>
            <a:ext cx="61150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500" b="0">
                <a:solidFill>
                  <a:srgbClr val="5B6470"/>
                </a:solidFill>
                <a:latin typeface="Aptos"/>
                <a:ea typeface="Aptos"/>
                <a:cs typeface="Aptos"/>
              </a:defRPr>
            </a:pPr>
            <a:r>
              <a:rPr sz="1500" b="0">
                <a:solidFill>
                  <a:srgbClr val="5B6470"/>
                </a:solidFill>
                <a:latin typeface="Aptos"/>
                <a:ea typeface="Aptos"/>
                <a:cs typeface="Aptos"/>
              </a:rPr>
              <a:t>GitLab API, Opencode-Agent, Bildreferenzen und optionale Vision</a:t>
            </a:r>
          </a:p>
        </p:txBody>
      </p:sp>
      <p:sp>
        <p:nvSpPr>
          <p:cNvPr id="16" name="arch-rule-5">
            <a:extLst xmlns:a="http://schemas.openxmlformats.org/drawingml/2006/main">
              <a:ext uri="{FF2B5EF4-FFF2-40B4-BE49-F238E27FC236}">
                <a16:creationId xmlns:a16="http://schemas.microsoft.com/office/drawing/2014/main" id="{8DEB96B6-37A2-40CB-893A-AF041A36A09A}"/>
              </a:ext>
            </a:extLst>
          </p:cNvPr>
          <p:cNvSpPr>
            <a:spLocks xmlns:a="http://schemas.openxmlformats.org/drawingml/2006/main" noGrp="1"/>
          </p:cNvSpPr>
          <p:nvPr/>
        </p:nvSpPr>
        <p:spPr>
          <a:xfrm xmlns:a="http://schemas.openxmlformats.org/drawingml/2006/main">
            <a:off x="1123950" y="4933950"/>
            <a:ext cx="381000" cy="47625"/>
          </a:xfrm>
          <a:prstGeom xmlns:a="http://schemas.openxmlformats.org/drawingml/2006/main" prst="rect">
            <a:avLst/>
          </a:prstGeom>
          <a:solidFill xmlns:a="http://schemas.openxmlformats.org/drawingml/2006/main">
            <a:srgbClr val="A33E3E"/>
          </a:solidFill>
          <a:ln xmlns:a="http://schemas.openxmlformats.org/drawingml/2006/main" w="0">
            <a:solidFill>
              <a:srgbClr val="A33E3E"/>
            </a:solidFill>
            <a:prstDash val="solid"/>
          </a:ln>
        </p:spPr>
      </p:sp>
      <p:sp>
        <p:nvSpPr>
          <p:cNvPr id="17" name="arch-title-5">
            <a:extLst xmlns:a="http://schemas.openxmlformats.org/drawingml/2006/main">
              <a:ext uri="{FF2B5EF4-FFF2-40B4-BE49-F238E27FC236}">
                <a16:creationId xmlns:a16="http://schemas.microsoft.com/office/drawing/2014/main" id="{907784AA-E834-489A-B193-2BD89AA6E908}"/>
              </a:ext>
            </a:extLst>
          </p:cNvPr>
          <p:cNvSpPr>
            <a:spLocks xmlns:a="http://schemas.openxmlformats.org/drawingml/2006/main" noGrp="1"/>
          </p:cNvSpPr>
          <p:nvPr/>
        </p:nvSpPr>
        <p:spPr>
          <a:xfrm xmlns:a="http://schemas.openxmlformats.org/drawingml/2006/main">
            <a:off x="1714500" y="485775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725" b="1">
                <a:solidFill>
                  <a:srgbClr val="17202A"/>
                </a:solidFill>
                <a:latin typeface="Aptos"/>
                <a:ea typeface="Aptos"/>
                <a:cs typeface="Aptos"/>
              </a:defRPr>
            </a:pPr>
            <a:r>
              <a:rPr sz="1725" b="1">
                <a:solidFill>
                  <a:srgbClr val="17202A"/>
                </a:solidFill>
                <a:latin typeface="Aptos"/>
                <a:ea typeface="Aptos"/>
                <a:cs typeface="Aptos"/>
              </a:rPr>
              <a:t>Qualität</a:t>
            </a:r>
          </a:p>
        </p:txBody>
      </p:sp>
      <p:sp>
        <p:nvSpPr>
          <p:cNvPr id="18" name="arch-text-5">
            <a:extLst xmlns:a="http://schemas.openxmlformats.org/drawingml/2006/main">
              <a:ext uri="{FF2B5EF4-FFF2-40B4-BE49-F238E27FC236}">
                <a16:creationId xmlns:a16="http://schemas.microsoft.com/office/drawing/2014/main" id="{29A4D746-D26B-475A-91B7-99D8A1470D36}"/>
              </a:ext>
            </a:extLst>
          </p:cNvPr>
          <p:cNvSpPr>
            <a:spLocks xmlns:a="http://schemas.openxmlformats.org/drawingml/2006/main" noGrp="1"/>
          </p:cNvSpPr>
          <p:nvPr/>
        </p:nvSpPr>
        <p:spPr>
          <a:xfrm xmlns:a="http://schemas.openxmlformats.org/drawingml/2006/main">
            <a:off x="4324350" y="4876800"/>
            <a:ext cx="61150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500" b="0">
                <a:solidFill>
                  <a:srgbClr val="5B6470"/>
                </a:solidFill>
                <a:latin typeface="Aptos"/>
                <a:ea typeface="Aptos"/>
                <a:cs typeface="Aptos"/>
              </a:defRPr>
            </a:pPr>
            <a:r>
              <a:rPr sz="1500" b="0">
                <a:solidFill>
                  <a:srgbClr val="5B6470"/>
                </a:solidFill>
                <a:latin typeface="Aptos"/>
                <a:ea typeface="Aptos"/>
                <a:cs typeface="Aptos"/>
              </a:rPr>
              <a:t>Typen, Laufzeitvalidierung, Simulation Mode und Tests</a:t>
            </a:r>
          </a:p>
        </p:txBody>
      </p:sp>
      <p:sp>
        <p:nvSpPr>
          <p:cNvPr id="19" name="footer-left-6">
            <a:extLst xmlns:a="http://schemas.openxmlformats.org/drawingml/2006/main">
              <a:ext uri="{FF2B5EF4-FFF2-40B4-BE49-F238E27FC236}">
                <a16:creationId xmlns:a16="http://schemas.microsoft.com/office/drawing/2014/main" id="{65CE1DFF-0246-44B0-8BF7-9B312AEA1BD9}"/>
              </a:ext>
            </a:extLst>
          </p:cNvPr>
          <p:cNvSpPr>
            <a:spLocks xmlns:a="http://schemas.openxmlformats.org/drawingml/2006/main" noGrp="1"/>
          </p:cNvSpPr>
          <p:nvPr/>
        </p:nvSpPr>
        <p:spPr>
          <a:xfrm xmlns:a="http://schemas.openxmlformats.org/drawingml/2006/main">
            <a:off x="723900" y="63436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75" b="0">
                <a:solidFill>
                  <a:srgbClr val="5B6470"/>
                </a:solidFill>
                <a:latin typeface="Aptos"/>
                <a:ea typeface="Aptos"/>
                <a:cs typeface="Aptos"/>
              </a:defRPr>
            </a:pPr>
            <a:r>
              <a:rPr sz="975" b="0">
                <a:solidFill>
                  <a:srgbClr val="5B6470"/>
                </a:solidFill>
                <a:latin typeface="Aptos"/>
                <a:ea typeface="Aptos"/>
                <a:cs typeface="Aptos"/>
              </a:rPr>
              <a:t>Projektvorstellung für den Zweitgutachter</a:t>
            </a:r>
          </a:p>
        </p:txBody>
      </p:sp>
      <p:sp>
        <p:nvSpPr>
          <p:cNvPr id="20" name="footer-right-6">
            <a:extLst xmlns:a="http://schemas.openxmlformats.org/drawingml/2006/main">
              <a:ext uri="{FF2B5EF4-FFF2-40B4-BE49-F238E27FC236}">
                <a16:creationId xmlns:a16="http://schemas.microsoft.com/office/drawing/2014/main" id="{CBA69F45-6130-4E1D-A993-0786CA7BCD04}"/>
              </a:ext>
            </a:extLst>
          </p:cNvPr>
          <p:cNvSpPr>
            <a:spLocks xmlns:a="http://schemas.openxmlformats.org/drawingml/2006/main" noGrp="1"/>
          </p:cNvSpPr>
          <p:nvPr/>
        </p:nvSpPr>
        <p:spPr>
          <a:xfrm xmlns:a="http://schemas.openxmlformats.org/drawingml/2006/main">
            <a:off x="10934700" y="6286500"/>
            <a:ext cx="533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1200" b="1">
                <a:solidFill>
                  <a:srgbClr val="5B6470"/>
                </a:solidFill>
                <a:latin typeface="Aptos"/>
                <a:ea typeface="Aptos"/>
                <a:cs typeface="Aptos"/>
              </a:defRPr>
            </a:pPr>
            <a:r>
              <a:rPr sz="1200" b="1">
                <a:solidFill>
                  <a:srgbClr val="5B6470"/>
                </a:solidFill>
                <a:latin typeface="Aptos"/>
                <a:ea typeface="Aptos"/>
                <a:cs typeface="Aptos"/>
              </a:rPr>
              <a:t>09</a:t>
            </a:r>
          </a:p>
        </p:txBody>
      </p:sp>
    </p:spTree>
    <p:extLst>
      <p:ext uri="{BB962C8B-B14F-4D97-AF65-F5344CB8AC3E}">
        <p14:creationId xmlns:p14="http://schemas.microsoft.com/office/powerpoint/2010/main" val="1893512388"/>
      </p:ext>
    </p:extLst>
  </p:cSld>
</p:sld>
</file>

<file path=ppt/slides/slide10.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 name="kicker-6">
            <a:extLst xmlns:a="http://schemas.openxmlformats.org/drawingml/2006/main">
              <a:ext uri="{FF2B5EF4-FFF2-40B4-BE49-F238E27FC236}">
                <a16:creationId xmlns:a16="http://schemas.microsoft.com/office/drawing/2014/main" id="{AEBA0B7D-7229-4E63-B244-996AE8721D80}"/>
              </a:ext>
            </a:extLst>
          </p:cNvPr>
          <p:cNvSpPr>
            <a:spLocks xmlns:a="http://schemas.openxmlformats.org/drawingml/2006/main" noGrp="1"/>
          </p:cNvSpPr>
          <p:nvPr/>
        </p:nvSpPr>
        <p:spPr>
          <a:xfrm xmlns:a="http://schemas.openxmlformats.org/drawingml/2006/main">
            <a:off x="723900" y="457200"/>
            <a:ext cx="723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125" b="1">
                <a:solidFill>
                  <a:srgbClr val="1F6F78"/>
                </a:solidFill>
                <a:latin typeface="Aptos"/>
                <a:ea typeface="Aptos"/>
                <a:cs typeface="Aptos"/>
              </a:defRPr>
            </a:pPr>
            <a:r>
              <a:rPr sz="1125" b="1">
                <a:solidFill>
                  <a:srgbClr val="1F6F78"/>
                </a:solidFill>
                <a:latin typeface="Aptos"/>
                <a:ea typeface="Aptos"/>
                <a:cs typeface="Aptos"/>
              </a:rPr>
              <a:t>GITLAB DEV-ASSIST</a:t>
            </a:r>
          </a:p>
        </p:txBody>
      </p:sp>
      <p:sp>
        <p:nvSpPr>
          <p:cNvPr id="2" name="title-6">
            <a:extLst xmlns:a="http://schemas.openxmlformats.org/drawingml/2006/main">
              <a:ext uri="{FF2B5EF4-FFF2-40B4-BE49-F238E27FC236}">
                <a16:creationId xmlns:a16="http://schemas.microsoft.com/office/drawing/2014/main" id="{CDE2FC48-941A-44D6-B6F0-5609AEAFDD05}"/>
              </a:ext>
            </a:extLst>
          </p:cNvPr>
          <p:cNvSpPr>
            <a:spLocks xmlns:a="http://schemas.openxmlformats.org/drawingml/2006/main" noGrp="1"/>
          </p:cNvSpPr>
          <p:nvPr/>
        </p:nvSpPr>
        <p:spPr>
          <a:xfrm xmlns:a="http://schemas.openxmlformats.org/drawingml/2006/main">
            <a:off x="723900" y="800100"/>
            <a:ext cx="8763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850" b="1">
                <a:solidFill>
                  <a:srgbClr val="17202A"/>
                </a:solidFill>
                <a:latin typeface="Aptos Display"/>
                <a:ea typeface="Aptos Display"/>
                <a:cs typeface="Aptos Display"/>
              </a:defRPr>
            </a:pPr>
            <a:r>
              <a:rPr sz="2850" b="1">
                <a:solidFill>
                  <a:srgbClr val="17202A"/>
                </a:solidFill>
                <a:latin typeface="Aptos Display"/>
                <a:ea typeface="Aptos Display"/>
                <a:cs typeface="Aptos Display"/>
              </a:rPr>
              <a:t>Zentrale Implementierungskomponenten</a:t>
            </a:r>
          </a:p>
        </p:txBody>
      </p:sp>
      <p:sp>
        <p:nvSpPr>
          <p:cNvPr id="3" name="title-rule-6">
            <a:extLst xmlns:a="http://schemas.openxmlformats.org/drawingml/2006/main">
              <a:ext uri="{FF2B5EF4-FFF2-40B4-BE49-F238E27FC236}">
                <a16:creationId xmlns:a16="http://schemas.microsoft.com/office/drawing/2014/main" id="{4543F280-A2F6-42F1-940A-356B0CD87CD7}"/>
              </a:ext>
            </a:extLst>
          </p:cNvPr>
          <p:cNvSpPr>
            <a:spLocks xmlns:a="http://schemas.openxmlformats.org/drawingml/2006/main" noGrp="1"/>
          </p:cNvSpPr>
          <p:nvPr/>
        </p:nvSpPr>
        <p:spPr>
          <a:xfrm xmlns:a="http://schemas.openxmlformats.org/drawingml/2006/main">
            <a:off x="723900" y="1466850"/>
            <a:ext cx="10744200" cy="19050"/>
          </a:xfrm>
          <a:prstGeom xmlns:a="http://schemas.openxmlformats.org/drawingml/2006/main" prst="rect">
            <a:avLst/>
          </a:prstGeom>
          <a:solidFill xmlns:a="http://schemas.openxmlformats.org/drawingml/2006/main">
            <a:srgbClr val="E6EBF1"/>
          </a:solidFill>
          <a:ln xmlns:a="http://schemas.openxmlformats.org/drawingml/2006/main" w="0">
            <a:solidFill>
              <a:srgbClr val="E6EBF1"/>
            </a:solidFill>
            <a:prstDash val="solid"/>
          </a:ln>
        </p:spPr>
      </p:sp>
      <p:sp>
        <p:nvSpPr>
          <p:cNvPr id="4" name="arch-rule-1">
            <a:extLst xmlns:a="http://schemas.openxmlformats.org/drawingml/2006/main">
              <a:ext uri="{FF2B5EF4-FFF2-40B4-BE49-F238E27FC236}">
                <a16:creationId xmlns:a16="http://schemas.microsoft.com/office/drawing/2014/main" id="{3F92B8F1-1337-4DFE-9B5C-49C87DABFCCF}"/>
              </a:ext>
            </a:extLst>
          </p:cNvPr>
          <p:cNvSpPr>
            <a:spLocks xmlns:a="http://schemas.openxmlformats.org/drawingml/2006/main" noGrp="1"/>
          </p:cNvSpPr>
          <p:nvPr/>
        </p:nvSpPr>
        <p:spPr>
          <a:xfrm xmlns:a="http://schemas.openxmlformats.org/drawingml/2006/main">
            <a:off x="1123950" y="1962150"/>
            <a:ext cx="381000" cy="47625"/>
          </a:xfrm>
          <a:prstGeom xmlns:a="http://schemas.openxmlformats.org/drawingml/2006/main" prst="rect">
            <a:avLst/>
          </a:prstGeom>
          <a:solidFill xmlns:a="http://schemas.openxmlformats.org/drawingml/2006/main">
            <a:srgbClr val="305C89"/>
          </a:solidFill>
          <a:ln xmlns:a="http://schemas.openxmlformats.org/drawingml/2006/main" w="0">
            <a:solidFill>
              <a:srgbClr val="305C89"/>
            </a:solidFill>
            <a:prstDash val="solid"/>
          </a:ln>
        </p:spPr>
      </p:sp>
      <p:sp>
        <p:nvSpPr>
          <p:cNvPr id="5" name="arch-title-1">
            <a:extLst xmlns:a="http://schemas.openxmlformats.org/drawingml/2006/main">
              <a:ext uri="{FF2B5EF4-FFF2-40B4-BE49-F238E27FC236}">
                <a16:creationId xmlns:a16="http://schemas.microsoft.com/office/drawing/2014/main" id="{A3827B29-6667-4EE0-86A0-C1580274748A}"/>
              </a:ext>
            </a:extLst>
          </p:cNvPr>
          <p:cNvSpPr>
            <a:spLocks xmlns:a="http://schemas.openxmlformats.org/drawingml/2006/main" noGrp="1"/>
          </p:cNvSpPr>
          <p:nvPr/>
        </p:nvSpPr>
        <p:spPr>
          <a:xfrm xmlns:a="http://schemas.openxmlformats.org/drawingml/2006/main">
            <a:off x="1714500" y="188595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725" b="1">
                <a:solidFill>
                  <a:srgbClr val="17202A"/>
                </a:solidFill>
                <a:latin typeface="Aptos"/>
                <a:ea typeface="Aptos"/>
                <a:cs typeface="Aptos"/>
              </a:defRPr>
            </a:pPr>
            <a:r>
              <a:rPr sz="1725" b="1">
                <a:solidFill>
                  <a:srgbClr val="17202A"/>
                </a:solidFill>
                <a:latin typeface="Aptos"/>
                <a:ea typeface="Aptos"/>
                <a:cs typeface="Aptos"/>
              </a:rPr>
              <a:t>webhook.ts</a:t>
            </a:r>
          </a:p>
        </p:txBody>
      </p:sp>
      <p:sp>
        <p:nvSpPr>
          <p:cNvPr id="6" name="arch-text-1">
            <a:extLst xmlns:a="http://schemas.openxmlformats.org/drawingml/2006/main">
              <a:ext uri="{FF2B5EF4-FFF2-40B4-BE49-F238E27FC236}">
                <a16:creationId xmlns:a16="http://schemas.microsoft.com/office/drawing/2014/main" id="{5B16A1F8-9765-4C16-B674-F6BA64468983}"/>
              </a:ext>
            </a:extLst>
          </p:cNvPr>
          <p:cNvSpPr>
            <a:spLocks xmlns:a="http://schemas.openxmlformats.org/drawingml/2006/main" noGrp="1"/>
          </p:cNvSpPr>
          <p:nvPr/>
        </p:nvSpPr>
        <p:spPr>
          <a:xfrm xmlns:a="http://schemas.openxmlformats.org/drawingml/2006/main">
            <a:off x="4324350" y="1905000"/>
            <a:ext cx="61150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500" b="0">
                <a:solidFill>
                  <a:srgbClr val="5B6470"/>
                </a:solidFill>
                <a:latin typeface="Aptos"/>
                <a:ea typeface="Aptos"/>
                <a:cs typeface="Aptos"/>
              </a:defRPr>
            </a:pPr>
            <a:r>
              <a:rPr sz="1500" b="0">
                <a:solidFill>
                  <a:srgbClr val="5B6470"/>
                </a:solidFill>
                <a:latin typeface="Aptos"/>
                <a:ea typeface="Aptos"/>
                <a:cs typeface="Aptos"/>
              </a:rPr>
              <a:t>Kontrollierter Eintrittspunkt, direkte Antwort und asynchrone Folgearbeit</a:t>
            </a:r>
          </a:p>
        </p:txBody>
      </p:sp>
      <p:sp>
        <p:nvSpPr>
          <p:cNvPr id="7" name="arch-rule-2">
            <a:extLst xmlns:a="http://schemas.openxmlformats.org/drawingml/2006/main">
              <a:ext uri="{FF2B5EF4-FFF2-40B4-BE49-F238E27FC236}">
                <a16:creationId xmlns:a16="http://schemas.microsoft.com/office/drawing/2014/main" id="{56AAFFA7-F618-4ADD-91C1-88B7D2FAE202}"/>
              </a:ext>
            </a:extLst>
          </p:cNvPr>
          <p:cNvSpPr>
            <a:spLocks xmlns:a="http://schemas.openxmlformats.org/drawingml/2006/main" noGrp="1"/>
          </p:cNvSpPr>
          <p:nvPr/>
        </p:nvSpPr>
        <p:spPr>
          <a:xfrm xmlns:a="http://schemas.openxmlformats.org/drawingml/2006/main">
            <a:off x="1123950" y="2705100"/>
            <a:ext cx="381000" cy="47625"/>
          </a:xfrm>
          <a:prstGeom xmlns:a="http://schemas.openxmlformats.org/drawingml/2006/main" prst="rect">
            <a:avLst/>
          </a:prstGeom>
          <a:solidFill xmlns:a="http://schemas.openxmlformats.org/drawingml/2006/main">
            <a:srgbClr val="1F6F78"/>
          </a:solidFill>
          <a:ln xmlns:a="http://schemas.openxmlformats.org/drawingml/2006/main" w="0">
            <a:solidFill>
              <a:srgbClr val="1F6F78"/>
            </a:solidFill>
            <a:prstDash val="solid"/>
          </a:ln>
        </p:spPr>
      </p:sp>
      <p:sp>
        <p:nvSpPr>
          <p:cNvPr id="8" name="arch-title-2">
            <a:extLst xmlns:a="http://schemas.openxmlformats.org/drawingml/2006/main">
              <a:ext uri="{FF2B5EF4-FFF2-40B4-BE49-F238E27FC236}">
                <a16:creationId xmlns:a16="http://schemas.microsoft.com/office/drawing/2014/main" id="{E17FC402-B3AF-4326-ABA1-626A6A544AD9}"/>
              </a:ext>
            </a:extLst>
          </p:cNvPr>
          <p:cNvSpPr>
            <a:spLocks xmlns:a="http://schemas.openxmlformats.org/drawingml/2006/main" noGrp="1"/>
          </p:cNvSpPr>
          <p:nvPr/>
        </p:nvSpPr>
        <p:spPr>
          <a:xfrm xmlns:a="http://schemas.openxmlformats.org/drawingml/2006/main">
            <a:off x="1714500" y="262890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725" b="1">
                <a:solidFill>
                  <a:srgbClr val="17202A"/>
                </a:solidFill>
                <a:latin typeface="Aptos"/>
                <a:ea typeface="Aptos"/>
                <a:cs typeface="Aptos"/>
              </a:defRPr>
            </a:pPr>
            <a:r>
              <a:rPr sz="1725" b="1">
                <a:solidFill>
                  <a:srgbClr val="17202A"/>
                </a:solidFill>
                <a:latin typeface="Aptos"/>
                <a:ea typeface="Aptos"/>
                <a:cs typeface="Aptos"/>
              </a:rPr>
              <a:t>agent-analysis.ts</a:t>
            </a:r>
          </a:p>
        </p:txBody>
      </p:sp>
      <p:sp>
        <p:nvSpPr>
          <p:cNvPr id="9" name="arch-text-2">
            <a:extLst xmlns:a="http://schemas.openxmlformats.org/drawingml/2006/main">
              <a:ext uri="{FF2B5EF4-FFF2-40B4-BE49-F238E27FC236}">
                <a16:creationId xmlns:a16="http://schemas.microsoft.com/office/drawing/2014/main" id="{BCC22ECD-242B-4EC0-BE2A-D76A44D821E5}"/>
              </a:ext>
            </a:extLst>
          </p:cNvPr>
          <p:cNvSpPr>
            <a:spLocks xmlns:a="http://schemas.openxmlformats.org/drawingml/2006/main" noGrp="1"/>
          </p:cNvSpPr>
          <p:nvPr/>
        </p:nvSpPr>
        <p:spPr>
          <a:xfrm xmlns:a="http://schemas.openxmlformats.org/drawingml/2006/main">
            <a:off x="4324350" y="2647950"/>
            <a:ext cx="61150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500" b="0">
                <a:solidFill>
                  <a:srgbClr val="5B6470"/>
                </a:solidFill>
                <a:latin typeface="Aptos"/>
                <a:ea typeface="Aptos"/>
                <a:cs typeface="Aptos"/>
              </a:defRPr>
            </a:pPr>
            <a:r>
              <a:rPr sz="1500" b="0">
                <a:solidFill>
                  <a:srgbClr val="5B6470"/>
                </a:solidFill>
                <a:latin typeface="Aptos"/>
                <a:ea typeface="Aptos"/>
                <a:cs typeface="Aptos"/>
              </a:rPr>
              <a:t>Sammelt Kontext, baut Prompt, parsed und validiert Agent-JSON</a:t>
            </a:r>
          </a:p>
        </p:txBody>
      </p:sp>
      <p:sp>
        <p:nvSpPr>
          <p:cNvPr id="10" name="arch-rule-3">
            <a:extLst xmlns:a="http://schemas.openxmlformats.org/drawingml/2006/main">
              <a:ext uri="{FF2B5EF4-FFF2-40B4-BE49-F238E27FC236}">
                <a16:creationId xmlns:a16="http://schemas.microsoft.com/office/drawing/2014/main" id="{E93C5A4A-9316-4367-BE62-E31C944AF29A}"/>
              </a:ext>
            </a:extLst>
          </p:cNvPr>
          <p:cNvSpPr>
            <a:spLocks xmlns:a="http://schemas.openxmlformats.org/drawingml/2006/main" noGrp="1"/>
          </p:cNvSpPr>
          <p:nvPr/>
        </p:nvSpPr>
        <p:spPr>
          <a:xfrm xmlns:a="http://schemas.openxmlformats.org/drawingml/2006/main">
            <a:off x="1123950" y="3448050"/>
            <a:ext cx="381000" cy="47625"/>
          </a:xfrm>
          <a:prstGeom xmlns:a="http://schemas.openxmlformats.org/drawingml/2006/main" prst="rect">
            <a:avLst/>
          </a:prstGeom>
          <a:solidFill xmlns:a="http://schemas.openxmlformats.org/drawingml/2006/main">
            <a:srgbClr val="C26A2E"/>
          </a:solidFill>
          <a:ln xmlns:a="http://schemas.openxmlformats.org/drawingml/2006/main" w="0">
            <a:solidFill>
              <a:srgbClr val="C26A2E"/>
            </a:solidFill>
            <a:prstDash val="solid"/>
          </a:ln>
        </p:spPr>
      </p:sp>
      <p:sp>
        <p:nvSpPr>
          <p:cNvPr id="11" name="arch-title-3">
            <a:extLst xmlns:a="http://schemas.openxmlformats.org/drawingml/2006/main">
              <a:ext uri="{FF2B5EF4-FFF2-40B4-BE49-F238E27FC236}">
                <a16:creationId xmlns:a16="http://schemas.microsoft.com/office/drawing/2014/main" id="{8D2739BE-9F03-4AEC-9E8B-81C652720204}"/>
              </a:ext>
            </a:extLst>
          </p:cNvPr>
          <p:cNvSpPr>
            <a:spLocks xmlns:a="http://schemas.openxmlformats.org/drawingml/2006/main" noGrp="1"/>
          </p:cNvSpPr>
          <p:nvPr/>
        </p:nvSpPr>
        <p:spPr>
          <a:xfrm xmlns:a="http://schemas.openxmlformats.org/drawingml/2006/main">
            <a:off x="1714500" y="337185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725" b="1">
                <a:solidFill>
                  <a:srgbClr val="17202A"/>
                </a:solidFill>
                <a:latin typeface="Aptos"/>
                <a:ea typeface="Aptos"/>
                <a:cs typeface="Aptos"/>
              </a:defRPr>
            </a:pPr>
            <a:r>
              <a:rPr sz="1725" b="1">
                <a:solidFill>
                  <a:srgbClr val="17202A"/>
                </a:solidFill>
                <a:latin typeface="Aptos"/>
                <a:ea typeface="Aptos"/>
                <a:cs typeface="Aptos"/>
              </a:rPr>
              <a:t>publish-command.ts</a:t>
            </a:r>
          </a:p>
        </p:txBody>
      </p:sp>
      <p:sp>
        <p:nvSpPr>
          <p:cNvPr id="12" name="arch-text-3">
            <a:extLst xmlns:a="http://schemas.openxmlformats.org/drawingml/2006/main">
              <a:ext uri="{FF2B5EF4-FFF2-40B4-BE49-F238E27FC236}">
                <a16:creationId xmlns:a16="http://schemas.microsoft.com/office/drawing/2014/main" id="{D87F5867-17BE-40F5-9D0C-B47296660827}"/>
              </a:ext>
            </a:extLst>
          </p:cNvPr>
          <p:cNvSpPr>
            <a:spLocks xmlns:a="http://schemas.openxmlformats.org/drawingml/2006/main" noGrp="1"/>
          </p:cNvSpPr>
          <p:nvPr/>
        </p:nvSpPr>
        <p:spPr>
          <a:xfrm xmlns:a="http://schemas.openxmlformats.org/drawingml/2006/main">
            <a:off x="4324350" y="3390900"/>
            <a:ext cx="61150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500" b="0">
                <a:solidFill>
                  <a:srgbClr val="5B6470"/>
                </a:solidFill>
                <a:latin typeface="Aptos"/>
                <a:ea typeface="Aptos"/>
                <a:cs typeface="Aptos"/>
              </a:defRPr>
            </a:pPr>
            <a:r>
              <a:rPr sz="1500" b="0">
                <a:solidFill>
                  <a:srgbClr val="5B6470"/>
                </a:solidFill>
                <a:latin typeface="Aptos"/>
                <a:ea typeface="Aptos"/>
                <a:cs typeface="Aptos"/>
              </a:rPr>
              <a:t>Findet Vorschlag, aktualisiert Issue und bereinigt Hilfskommentare</a:t>
            </a:r>
          </a:p>
        </p:txBody>
      </p:sp>
      <p:sp>
        <p:nvSpPr>
          <p:cNvPr id="13" name="arch-rule-4">
            <a:extLst xmlns:a="http://schemas.openxmlformats.org/drawingml/2006/main">
              <a:ext uri="{FF2B5EF4-FFF2-40B4-BE49-F238E27FC236}">
                <a16:creationId xmlns:a16="http://schemas.microsoft.com/office/drawing/2014/main" id="{81A8030B-1B3A-4B61-B978-986244CA088B}"/>
              </a:ext>
            </a:extLst>
          </p:cNvPr>
          <p:cNvSpPr>
            <a:spLocks xmlns:a="http://schemas.openxmlformats.org/drawingml/2006/main" noGrp="1"/>
          </p:cNvSpPr>
          <p:nvPr/>
        </p:nvSpPr>
        <p:spPr>
          <a:xfrm xmlns:a="http://schemas.openxmlformats.org/drawingml/2006/main">
            <a:off x="1123950" y="4191000"/>
            <a:ext cx="381000" cy="47625"/>
          </a:xfrm>
          <a:prstGeom xmlns:a="http://schemas.openxmlformats.org/drawingml/2006/main" prst="rect">
            <a:avLst/>
          </a:prstGeom>
          <a:solidFill xmlns:a="http://schemas.openxmlformats.org/drawingml/2006/main">
            <a:srgbClr val="2E7D5B"/>
          </a:solidFill>
          <a:ln xmlns:a="http://schemas.openxmlformats.org/drawingml/2006/main" w="0">
            <a:solidFill>
              <a:srgbClr val="2E7D5B"/>
            </a:solidFill>
            <a:prstDash val="solid"/>
          </a:ln>
        </p:spPr>
      </p:sp>
      <p:sp>
        <p:nvSpPr>
          <p:cNvPr id="14" name="arch-title-4">
            <a:extLst xmlns:a="http://schemas.openxmlformats.org/drawingml/2006/main">
              <a:ext uri="{FF2B5EF4-FFF2-40B4-BE49-F238E27FC236}">
                <a16:creationId xmlns:a16="http://schemas.microsoft.com/office/drawing/2014/main" id="{D9AEAA39-314C-4E12-AE89-BF7A4E9C4B2F}"/>
              </a:ext>
            </a:extLst>
          </p:cNvPr>
          <p:cNvSpPr>
            <a:spLocks xmlns:a="http://schemas.openxmlformats.org/drawingml/2006/main" noGrp="1"/>
          </p:cNvSpPr>
          <p:nvPr/>
        </p:nvSpPr>
        <p:spPr>
          <a:xfrm xmlns:a="http://schemas.openxmlformats.org/drawingml/2006/main">
            <a:off x="1714500" y="411480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725" b="1">
                <a:solidFill>
                  <a:srgbClr val="17202A"/>
                </a:solidFill>
                <a:latin typeface="Aptos"/>
                <a:ea typeface="Aptos"/>
                <a:cs typeface="Aptos"/>
              </a:defRPr>
            </a:pPr>
            <a:r>
              <a:rPr sz="1725" b="1">
                <a:solidFill>
                  <a:srgbClr val="17202A"/>
                </a:solidFill>
                <a:latin typeface="Aptos"/>
                <a:ea typeface="Aptos"/>
                <a:cs typeface="Aptos"/>
              </a:rPr>
              <a:t>image-references.ts</a:t>
            </a:r>
          </a:p>
        </p:txBody>
      </p:sp>
      <p:sp>
        <p:nvSpPr>
          <p:cNvPr id="15" name="arch-text-4">
            <a:extLst xmlns:a="http://schemas.openxmlformats.org/drawingml/2006/main">
              <a:ext uri="{FF2B5EF4-FFF2-40B4-BE49-F238E27FC236}">
                <a16:creationId xmlns:a16="http://schemas.microsoft.com/office/drawing/2014/main" id="{7A9E679B-28F0-41CB-9275-A27232E3337E}"/>
              </a:ext>
            </a:extLst>
          </p:cNvPr>
          <p:cNvSpPr>
            <a:spLocks xmlns:a="http://schemas.openxmlformats.org/drawingml/2006/main" noGrp="1"/>
          </p:cNvSpPr>
          <p:nvPr/>
        </p:nvSpPr>
        <p:spPr>
          <a:xfrm xmlns:a="http://schemas.openxmlformats.org/drawingml/2006/main">
            <a:off x="4324350" y="4133850"/>
            <a:ext cx="61150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500" b="0">
                <a:solidFill>
                  <a:srgbClr val="5B6470"/>
                </a:solidFill>
                <a:latin typeface="Aptos"/>
                <a:ea typeface="Aptos"/>
                <a:cs typeface="Aptos"/>
              </a:defRPr>
            </a:pPr>
            <a:r>
              <a:rPr sz="1500" b="0">
                <a:solidFill>
                  <a:srgbClr val="5B6470"/>
                </a:solidFill>
                <a:latin typeface="Aptos"/>
                <a:ea typeface="Aptos"/>
                <a:cs typeface="Aptos"/>
              </a:rPr>
              <a:t>Erhält Screenshot- und Upload-Verweise im Ticketkontext</a:t>
            </a:r>
          </a:p>
        </p:txBody>
      </p:sp>
      <p:sp>
        <p:nvSpPr>
          <p:cNvPr id="16" name="arch-rule-5">
            <a:extLst xmlns:a="http://schemas.openxmlformats.org/drawingml/2006/main">
              <a:ext uri="{FF2B5EF4-FFF2-40B4-BE49-F238E27FC236}">
                <a16:creationId xmlns:a16="http://schemas.microsoft.com/office/drawing/2014/main" id="{8DEB96B6-37A2-40CB-893A-AF041A36A09A}"/>
              </a:ext>
            </a:extLst>
          </p:cNvPr>
          <p:cNvSpPr>
            <a:spLocks xmlns:a="http://schemas.openxmlformats.org/drawingml/2006/main" noGrp="1"/>
          </p:cNvSpPr>
          <p:nvPr/>
        </p:nvSpPr>
        <p:spPr>
          <a:xfrm xmlns:a="http://schemas.openxmlformats.org/drawingml/2006/main">
            <a:off x="1123950" y="4933950"/>
            <a:ext cx="381000" cy="47625"/>
          </a:xfrm>
          <a:prstGeom xmlns:a="http://schemas.openxmlformats.org/drawingml/2006/main" prst="rect">
            <a:avLst/>
          </a:prstGeom>
          <a:solidFill xmlns:a="http://schemas.openxmlformats.org/drawingml/2006/main">
            <a:srgbClr val="A33E3E"/>
          </a:solidFill>
          <a:ln xmlns:a="http://schemas.openxmlformats.org/drawingml/2006/main" w="0">
            <a:solidFill>
              <a:srgbClr val="A33E3E"/>
            </a:solidFill>
            <a:prstDash val="solid"/>
          </a:ln>
        </p:spPr>
      </p:sp>
      <p:sp>
        <p:nvSpPr>
          <p:cNvPr id="17" name="arch-title-5">
            <a:extLst xmlns:a="http://schemas.openxmlformats.org/drawingml/2006/main">
              <a:ext uri="{FF2B5EF4-FFF2-40B4-BE49-F238E27FC236}">
                <a16:creationId xmlns:a16="http://schemas.microsoft.com/office/drawing/2014/main" id="{907784AA-E834-489A-B193-2BD89AA6E908}"/>
              </a:ext>
            </a:extLst>
          </p:cNvPr>
          <p:cNvSpPr>
            <a:spLocks xmlns:a="http://schemas.openxmlformats.org/drawingml/2006/main" noGrp="1"/>
          </p:cNvSpPr>
          <p:nvPr/>
        </p:nvSpPr>
        <p:spPr>
          <a:xfrm xmlns:a="http://schemas.openxmlformats.org/drawingml/2006/main">
            <a:off x="1714500" y="485775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725" b="1">
                <a:solidFill>
                  <a:srgbClr val="17202A"/>
                </a:solidFill>
                <a:latin typeface="Aptos"/>
                <a:ea typeface="Aptos"/>
                <a:cs typeface="Aptos"/>
              </a:defRPr>
            </a:pPr>
            <a:r>
              <a:rPr sz="1725" b="1">
                <a:solidFill>
                  <a:srgbClr val="17202A"/>
                </a:solidFill>
                <a:latin typeface="Aptos"/>
                <a:ea typeface="Aptos"/>
                <a:cs typeface="Aptos"/>
              </a:rPr>
              <a:t>tests/</a:t>
            </a:r>
          </a:p>
        </p:txBody>
      </p:sp>
      <p:sp>
        <p:nvSpPr>
          <p:cNvPr id="18" name="arch-text-5">
            <a:extLst xmlns:a="http://schemas.openxmlformats.org/drawingml/2006/main">
              <a:ext uri="{FF2B5EF4-FFF2-40B4-BE49-F238E27FC236}">
                <a16:creationId xmlns:a16="http://schemas.microsoft.com/office/drawing/2014/main" id="{29A4D746-D26B-475A-91B7-99D8A1470D36}"/>
              </a:ext>
            </a:extLst>
          </p:cNvPr>
          <p:cNvSpPr>
            <a:spLocks xmlns:a="http://schemas.openxmlformats.org/drawingml/2006/main" noGrp="1"/>
          </p:cNvSpPr>
          <p:nvPr/>
        </p:nvSpPr>
        <p:spPr>
          <a:xfrm xmlns:a="http://schemas.openxmlformats.org/drawingml/2006/main">
            <a:off x="4324350" y="4876800"/>
            <a:ext cx="61150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500" b="0">
                <a:solidFill>
                  <a:srgbClr val="5B6470"/>
                </a:solidFill>
                <a:latin typeface="Aptos"/>
                <a:ea typeface="Aptos"/>
                <a:cs typeface="Aptos"/>
              </a:defRPr>
            </a:pPr>
            <a:r>
              <a:rPr sz="1500" b="0">
                <a:solidFill>
                  <a:srgbClr val="5B6470"/>
                </a:solidFill>
                <a:latin typeface="Aptos"/>
                <a:ea typeface="Aptos"/>
                <a:cs typeface="Aptos"/>
              </a:rPr>
              <a:t>Sichert Erkennung, Webhook-Edge-Cases, Bilder und Publish-Flows ab</a:t>
            </a:r>
          </a:p>
        </p:txBody>
      </p:sp>
      <p:sp>
        <p:nvSpPr>
          <p:cNvPr id="19" name="footer-left-6">
            <a:extLst xmlns:a="http://schemas.openxmlformats.org/drawingml/2006/main">
              <a:ext uri="{FF2B5EF4-FFF2-40B4-BE49-F238E27FC236}">
                <a16:creationId xmlns:a16="http://schemas.microsoft.com/office/drawing/2014/main" id="{65CE1DFF-0246-44B0-8BF7-9B312AEA1BD9}"/>
              </a:ext>
            </a:extLst>
          </p:cNvPr>
          <p:cNvSpPr>
            <a:spLocks xmlns:a="http://schemas.openxmlformats.org/drawingml/2006/main" noGrp="1"/>
          </p:cNvSpPr>
          <p:nvPr/>
        </p:nvSpPr>
        <p:spPr>
          <a:xfrm xmlns:a="http://schemas.openxmlformats.org/drawingml/2006/main">
            <a:off x="723900" y="63436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75" b="0">
                <a:solidFill>
                  <a:srgbClr val="5B6470"/>
                </a:solidFill>
                <a:latin typeface="Aptos"/>
                <a:ea typeface="Aptos"/>
                <a:cs typeface="Aptos"/>
              </a:defRPr>
            </a:pPr>
            <a:r>
              <a:rPr sz="975" b="0">
                <a:solidFill>
                  <a:srgbClr val="5B6470"/>
                </a:solidFill>
                <a:latin typeface="Aptos"/>
                <a:ea typeface="Aptos"/>
                <a:cs typeface="Aptos"/>
              </a:rPr>
              <a:t>Projektvorstellung für den Zweitgutachter</a:t>
            </a:r>
          </a:p>
        </p:txBody>
      </p:sp>
      <p:sp>
        <p:nvSpPr>
          <p:cNvPr id="20" name="footer-right-6">
            <a:extLst xmlns:a="http://schemas.openxmlformats.org/drawingml/2006/main">
              <a:ext uri="{FF2B5EF4-FFF2-40B4-BE49-F238E27FC236}">
                <a16:creationId xmlns:a16="http://schemas.microsoft.com/office/drawing/2014/main" id="{CBA69F45-6130-4E1D-A993-0786CA7BCD04}"/>
              </a:ext>
            </a:extLst>
          </p:cNvPr>
          <p:cNvSpPr>
            <a:spLocks xmlns:a="http://schemas.openxmlformats.org/drawingml/2006/main" noGrp="1"/>
          </p:cNvSpPr>
          <p:nvPr/>
        </p:nvSpPr>
        <p:spPr>
          <a:xfrm xmlns:a="http://schemas.openxmlformats.org/drawingml/2006/main">
            <a:off x="10934700" y="6286500"/>
            <a:ext cx="533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1200" b="1">
                <a:solidFill>
                  <a:srgbClr val="5B6470"/>
                </a:solidFill>
                <a:latin typeface="Aptos"/>
                <a:ea typeface="Aptos"/>
                <a:cs typeface="Aptos"/>
              </a:defRPr>
            </a:pPr>
            <a:r>
              <a:rPr sz="1200" b="1">
                <a:solidFill>
                  <a:srgbClr val="5B6470"/>
                </a:solidFill>
                <a:latin typeface="Aptos"/>
                <a:ea typeface="Aptos"/>
                <a:cs typeface="Aptos"/>
              </a:rPr>
              <a:t>10</a:t>
            </a:r>
          </a:p>
        </p:txBody>
      </p:sp>
    </p:spTree>
    <p:extLst>
      <p:ext uri="{BB962C8B-B14F-4D97-AF65-F5344CB8AC3E}">
        <p14:creationId xmlns:p14="http://schemas.microsoft.com/office/powerpoint/2010/main" val="1893512388"/>
      </p:ext>
    </p:extLst>
  </p:cSld>
</p:sld>
</file>

<file path=ppt/slides/slide11.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 name="kicker-6">
            <a:extLst xmlns:a="http://schemas.openxmlformats.org/drawingml/2006/main">
              <a:ext uri="{FF2B5EF4-FFF2-40B4-BE49-F238E27FC236}">
                <a16:creationId xmlns:a16="http://schemas.microsoft.com/office/drawing/2014/main" id="{AEBA0B7D-7229-4E63-B244-996AE8721D80}"/>
              </a:ext>
            </a:extLst>
          </p:cNvPr>
          <p:cNvSpPr>
            <a:spLocks xmlns:a="http://schemas.openxmlformats.org/drawingml/2006/main" noGrp="1"/>
          </p:cNvSpPr>
          <p:nvPr/>
        </p:nvSpPr>
        <p:spPr>
          <a:xfrm xmlns:a="http://schemas.openxmlformats.org/drawingml/2006/main">
            <a:off x="723900" y="457200"/>
            <a:ext cx="723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125" b="1">
                <a:solidFill>
                  <a:srgbClr val="1F6F78"/>
                </a:solidFill>
                <a:latin typeface="Aptos"/>
                <a:ea typeface="Aptos"/>
                <a:cs typeface="Aptos"/>
              </a:defRPr>
            </a:pPr>
            <a:r>
              <a:rPr sz="1125" b="1">
                <a:solidFill>
                  <a:srgbClr val="1F6F78"/>
                </a:solidFill>
                <a:latin typeface="Aptos"/>
                <a:ea typeface="Aptos"/>
                <a:cs typeface="Aptos"/>
              </a:rPr>
              <a:t>GITLAB DEV-ASSIST</a:t>
            </a:r>
          </a:p>
        </p:txBody>
      </p:sp>
      <p:sp>
        <p:nvSpPr>
          <p:cNvPr id="2" name="title-6">
            <a:extLst xmlns:a="http://schemas.openxmlformats.org/drawingml/2006/main">
              <a:ext uri="{FF2B5EF4-FFF2-40B4-BE49-F238E27FC236}">
                <a16:creationId xmlns:a16="http://schemas.microsoft.com/office/drawing/2014/main" id="{CDE2FC48-941A-44D6-B6F0-5609AEAFDD05}"/>
              </a:ext>
            </a:extLst>
          </p:cNvPr>
          <p:cNvSpPr>
            <a:spLocks xmlns:a="http://schemas.openxmlformats.org/drawingml/2006/main" noGrp="1"/>
          </p:cNvSpPr>
          <p:nvPr/>
        </p:nvSpPr>
        <p:spPr>
          <a:xfrm xmlns:a="http://schemas.openxmlformats.org/drawingml/2006/main">
            <a:off x="723900" y="800100"/>
            <a:ext cx="8763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850" b="1">
                <a:solidFill>
                  <a:srgbClr val="17202A"/>
                </a:solidFill>
                <a:latin typeface="Aptos Display"/>
                <a:ea typeface="Aptos Display"/>
                <a:cs typeface="Aptos Display"/>
              </a:defRPr>
            </a:pPr>
            <a:r>
              <a:rPr sz="2850" b="1">
                <a:solidFill>
                  <a:srgbClr val="17202A"/>
                </a:solidFill>
                <a:latin typeface="Aptos Display"/>
                <a:ea typeface="Aptos Display"/>
                <a:cs typeface="Aptos Display"/>
              </a:rPr>
              <a:t>KI-Analyse und Ausgabeformat</a:t>
            </a:r>
          </a:p>
        </p:txBody>
      </p:sp>
      <p:sp>
        <p:nvSpPr>
          <p:cNvPr id="3" name="title-rule-6">
            <a:extLst xmlns:a="http://schemas.openxmlformats.org/drawingml/2006/main">
              <a:ext uri="{FF2B5EF4-FFF2-40B4-BE49-F238E27FC236}">
                <a16:creationId xmlns:a16="http://schemas.microsoft.com/office/drawing/2014/main" id="{4543F280-A2F6-42F1-940A-356B0CD87CD7}"/>
              </a:ext>
            </a:extLst>
          </p:cNvPr>
          <p:cNvSpPr>
            <a:spLocks xmlns:a="http://schemas.openxmlformats.org/drawingml/2006/main" noGrp="1"/>
          </p:cNvSpPr>
          <p:nvPr/>
        </p:nvSpPr>
        <p:spPr>
          <a:xfrm xmlns:a="http://schemas.openxmlformats.org/drawingml/2006/main">
            <a:off x="723900" y="1466850"/>
            <a:ext cx="10744200" cy="19050"/>
          </a:xfrm>
          <a:prstGeom xmlns:a="http://schemas.openxmlformats.org/drawingml/2006/main" prst="rect">
            <a:avLst/>
          </a:prstGeom>
          <a:solidFill xmlns:a="http://schemas.openxmlformats.org/drawingml/2006/main">
            <a:srgbClr val="E6EBF1"/>
          </a:solidFill>
          <a:ln xmlns:a="http://schemas.openxmlformats.org/drawingml/2006/main" w="0">
            <a:solidFill>
              <a:srgbClr val="E6EBF1"/>
            </a:solidFill>
            <a:prstDash val="solid"/>
          </a:ln>
        </p:spPr>
      </p:sp>
      <p:sp>
        <p:nvSpPr>
          <p:cNvPr id="4" name="arch-rule-1">
            <a:extLst xmlns:a="http://schemas.openxmlformats.org/drawingml/2006/main">
              <a:ext uri="{FF2B5EF4-FFF2-40B4-BE49-F238E27FC236}">
                <a16:creationId xmlns:a16="http://schemas.microsoft.com/office/drawing/2014/main" id="{3F92B8F1-1337-4DFE-9B5C-49C87DABFCCF}"/>
              </a:ext>
            </a:extLst>
          </p:cNvPr>
          <p:cNvSpPr>
            <a:spLocks xmlns:a="http://schemas.openxmlformats.org/drawingml/2006/main" noGrp="1"/>
          </p:cNvSpPr>
          <p:nvPr/>
        </p:nvSpPr>
        <p:spPr>
          <a:xfrm xmlns:a="http://schemas.openxmlformats.org/drawingml/2006/main">
            <a:off x="1123950" y="1962150"/>
            <a:ext cx="381000" cy="47625"/>
          </a:xfrm>
          <a:prstGeom xmlns:a="http://schemas.openxmlformats.org/drawingml/2006/main" prst="rect">
            <a:avLst/>
          </a:prstGeom>
          <a:solidFill xmlns:a="http://schemas.openxmlformats.org/drawingml/2006/main">
            <a:srgbClr val="305C89"/>
          </a:solidFill>
          <a:ln xmlns:a="http://schemas.openxmlformats.org/drawingml/2006/main" w="0">
            <a:solidFill>
              <a:srgbClr val="305C89"/>
            </a:solidFill>
            <a:prstDash val="solid"/>
          </a:ln>
        </p:spPr>
      </p:sp>
      <p:sp>
        <p:nvSpPr>
          <p:cNvPr id="5" name="arch-title-1">
            <a:extLst xmlns:a="http://schemas.openxmlformats.org/drawingml/2006/main">
              <a:ext uri="{FF2B5EF4-FFF2-40B4-BE49-F238E27FC236}">
                <a16:creationId xmlns:a16="http://schemas.microsoft.com/office/drawing/2014/main" id="{A3827B29-6667-4EE0-86A0-C1580274748A}"/>
              </a:ext>
            </a:extLst>
          </p:cNvPr>
          <p:cNvSpPr>
            <a:spLocks xmlns:a="http://schemas.openxmlformats.org/drawingml/2006/main" noGrp="1"/>
          </p:cNvSpPr>
          <p:nvPr/>
        </p:nvSpPr>
        <p:spPr>
          <a:xfrm xmlns:a="http://schemas.openxmlformats.org/drawingml/2006/main">
            <a:off x="1714500" y="188595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725" b="1">
                <a:solidFill>
                  <a:srgbClr val="17202A"/>
                </a:solidFill>
                <a:latin typeface="Aptos"/>
                <a:ea typeface="Aptos"/>
                <a:cs typeface="Aptos"/>
              </a:defRPr>
            </a:pPr>
            <a:r>
              <a:rPr sz="1725" b="1">
                <a:solidFill>
                  <a:srgbClr val="17202A"/>
                </a:solidFill>
                <a:latin typeface="Aptos"/>
                <a:ea typeface="Aptos"/>
                <a:cs typeface="Aptos"/>
              </a:rPr>
              <a:t>Kontextbildung</a:t>
            </a:r>
          </a:p>
        </p:txBody>
      </p:sp>
      <p:sp>
        <p:nvSpPr>
          <p:cNvPr id="6" name="arch-text-1">
            <a:extLst xmlns:a="http://schemas.openxmlformats.org/drawingml/2006/main">
              <a:ext uri="{FF2B5EF4-FFF2-40B4-BE49-F238E27FC236}">
                <a16:creationId xmlns:a16="http://schemas.microsoft.com/office/drawing/2014/main" id="{5B16A1F8-9765-4C16-B674-F6BA64468983}"/>
              </a:ext>
            </a:extLst>
          </p:cNvPr>
          <p:cNvSpPr>
            <a:spLocks xmlns:a="http://schemas.openxmlformats.org/drawingml/2006/main" noGrp="1"/>
          </p:cNvSpPr>
          <p:nvPr/>
        </p:nvSpPr>
        <p:spPr>
          <a:xfrm xmlns:a="http://schemas.openxmlformats.org/drawingml/2006/main">
            <a:off x="4324350" y="1905000"/>
            <a:ext cx="61150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500" b="0">
                <a:solidFill>
                  <a:srgbClr val="5B6470"/>
                </a:solidFill>
                <a:latin typeface="Aptos"/>
                <a:ea typeface="Aptos"/>
                <a:cs typeface="Aptos"/>
              </a:defRPr>
            </a:pPr>
            <a:r>
              <a:rPr sz="1500" b="0">
                <a:solidFill>
                  <a:srgbClr val="5B6470"/>
                </a:solidFill>
                <a:latin typeface="Aptos"/>
                <a:ea typeface="Aptos"/>
                <a:cs typeface="Aptos"/>
              </a:rPr>
              <a:t>Titel, Beschreibung, Kommentare, Autor und Bildreferenzen zusammenführen</a:t>
            </a:r>
          </a:p>
        </p:txBody>
      </p:sp>
      <p:sp>
        <p:nvSpPr>
          <p:cNvPr id="7" name="arch-rule-2">
            <a:extLst xmlns:a="http://schemas.openxmlformats.org/drawingml/2006/main">
              <a:ext uri="{FF2B5EF4-FFF2-40B4-BE49-F238E27FC236}">
                <a16:creationId xmlns:a16="http://schemas.microsoft.com/office/drawing/2014/main" id="{56AAFFA7-F618-4ADD-91C1-88B7D2FAE202}"/>
              </a:ext>
            </a:extLst>
          </p:cNvPr>
          <p:cNvSpPr>
            <a:spLocks xmlns:a="http://schemas.openxmlformats.org/drawingml/2006/main" noGrp="1"/>
          </p:cNvSpPr>
          <p:nvPr/>
        </p:nvSpPr>
        <p:spPr>
          <a:xfrm xmlns:a="http://schemas.openxmlformats.org/drawingml/2006/main">
            <a:off x="1123950" y="2705100"/>
            <a:ext cx="381000" cy="47625"/>
          </a:xfrm>
          <a:prstGeom xmlns:a="http://schemas.openxmlformats.org/drawingml/2006/main" prst="rect">
            <a:avLst/>
          </a:prstGeom>
          <a:solidFill xmlns:a="http://schemas.openxmlformats.org/drawingml/2006/main">
            <a:srgbClr val="1F6F78"/>
          </a:solidFill>
          <a:ln xmlns:a="http://schemas.openxmlformats.org/drawingml/2006/main" w="0">
            <a:solidFill>
              <a:srgbClr val="1F6F78"/>
            </a:solidFill>
            <a:prstDash val="solid"/>
          </a:ln>
        </p:spPr>
      </p:sp>
      <p:sp>
        <p:nvSpPr>
          <p:cNvPr id="8" name="arch-title-2">
            <a:extLst xmlns:a="http://schemas.openxmlformats.org/drawingml/2006/main">
              <a:ext uri="{FF2B5EF4-FFF2-40B4-BE49-F238E27FC236}">
                <a16:creationId xmlns:a16="http://schemas.microsoft.com/office/drawing/2014/main" id="{E17FC402-B3AF-4326-ABA1-626A6A544AD9}"/>
              </a:ext>
            </a:extLst>
          </p:cNvPr>
          <p:cNvSpPr>
            <a:spLocks xmlns:a="http://schemas.openxmlformats.org/drawingml/2006/main" noGrp="1"/>
          </p:cNvSpPr>
          <p:nvPr/>
        </p:nvSpPr>
        <p:spPr>
          <a:xfrm xmlns:a="http://schemas.openxmlformats.org/drawingml/2006/main">
            <a:off x="1714500" y="262890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725" b="1">
                <a:solidFill>
                  <a:srgbClr val="17202A"/>
                </a:solidFill>
                <a:latin typeface="Aptos"/>
                <a:ea typeface="Aptos"/>
                <a:cs typeface="Aptos"/>
              </a:defRPr>
            </a:pPr>
            <a:r>
              <a:rPr sz="1725" b="1">
                <a:solidFill>
                  <a:srgbClr val="17202A"/>
                </a:solidFill>
                <a:latin typeface="Aptos"/>
                <a:ea typeface="Aptos"/>
                <a:cs typeface="Aptos"/>
              </a:rPr>
              <a:t>Prompt-Grenze</a:t>
            </a:r>
          </a:p>
        </p:txBody>
      </p:sp>
      <p:sp>
        <p:nvSpPr>
          <p:cNvPr id="9" name="arch-text-2">
            <a:extLst xmlns:a="http://schemas.openxmlformats.org/drawingml/2006/main">
              <a:ext uri="{FF2B5EF4-FFF2-40B4-BE49-F238E27FC236}">
                <a16:creationId xmlns:a16="http://schemas.microsoft.com/office/drawing/2014/main" id="{BCC22ECD-242B-4EC0-BE2A-D76A44D821E5}"/>
              </a:ext>
            </a:extLst>
          </p:cNvPr>
          <p:cNvSpPr>
            <a:spLocks xmlns:a="http://schemas.openxmlformats.org/drawingml/2006/main" noGrp="1"/>
          </p:cNvSpPr>
          <p:nvPr/>
        </p:nvSpPr>
        <p:spPr>
          <a:xfrm xmlns:a="http://schemas.openxmlformats.org/drawingml/2006/main">
            <a:off x="4324350" y="2647950"/>
            <a:ext cx="61150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500" b="0">
                <a:solidFill>
                  <a:srgbClr val="5B6470"/>
                </a:solidFill>
                <a:latin typeface="Aptos"/>
                <a:ea typeface="Aptos"/>
                <a:cs typeface="Aptos"/>
              </a:defRPr>
            </a:pPr>
            <a:r>
              <a:rPr sz="1500" b="0">
                <a:solidFill>
                  <a:srgbClr val="5B6470"/>
                </a:solidFill>
                <a:latin typeface="Aptos"/>
                <a:ea typeface="Aptos"/>
                <a:cs typeface="Aptos"/>
              </a:rPr>
              <a:t>Ticketinhalte sind Daten, keine Steuerbefehle für Systemverhalten</a:t>
            </a:r>
          </a:p>
        </p:txBody>
      </p:sp>
      <p:sp>
        <p:nvSpPr>
          <p:cNvPr id="10" name="arch-rule-3">
            <a:extLst xmlns:a="http://schemas.openxmlformats.org/drawingml/2006/main">
              <a:ext uri="{FF2B5EF4-FFF2-40B4-BE49-F238E27FC236}">
                <a16:creationId xmlns:a16="http://schemas.microsoft.com/office/drawing/2014/main" id="{E93C5A4A-9316-4367-BE62-E31C944AF29A}"/>
              </a:ext>
            </a:extLst>
          </p:cNvPr>
          <p:cNvSpPr>
            <a:spLocks xmlns:a="http://schemas.openxmlformats.org/drawingml/2006/main" noGrp="1"/>
          </p:cNvSpPr>
          <p:nvPr/>
        </p:nvSpPr>
        <p:spPr>
          <a:xfrm xmlns:a="http://schemas.openxmlformats.org/drawingml/2006/main">
            <a:off x="1123950" y="3448050"/>
            <a:ext cx="381000" cy="47625"/>
          </a:xfrm>
          <a:prstGeom xmlns:a="http://schemas.openxmlformats.org/drawingml/2006/main" prst="rect">
            <a:avLst/>
          </a:prstGeom>
          <a:solidFill xmlns:a="http://schemas.openxmlformats.org/drawingml/2006/main">
            <a:srgbClr val="C26A2E"/>
          </a:solidFill>
          <a:ln xmlns:a="http://schemas.openxmlformats.org/drawingml/2006/main" w="0">
            <a:solidFill>
              <a:srgbClr val="C26A2E"/>
            </a:solidFill>
            <a:prstDash val="solid"/>
          </a:ln>
        </p:spPr>
      </p:sp>
      <p:sp>
        <p:nvSpPr>
          <p:cNvPr id="11" name="arch-title-3">
            <a:extLst xmlns:a="http://schemas.openxmlformats.org/drawingml/2006/main">
              <a:ext uri="{FF2B5EF4-FFF2-40B4-BE49-F238E27FC236}">
                <a16:creationId xmlns:a16="http://schemas.microsoft.com/office/drawing/2014/main" id="{8D2739BE-9F03-4AEC-9E8B-81C652720204}"/>
              </a:ext>
            </a:extLst>
          </p:cNvPr>
          <p:cNvSpPr>
            <a:spLocks xmlns:a="http://schemas.openxmlformats.org/drawingml/2006/main" noGrp="1"/>
          </p:cNvSpPr>
          <p:nvPr/>
        </p:nvSpPr>
        <p:spPr>
          <a:xfrm xmlns:a="http://schemas.openxmlformats.org/drawingml/2006/main">
            <a:off x="1714500" y="337185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725" b="1">
                <a:solidFill>
                  <a:srgbClr val="17202A"/>
                </a:solidFill>
                <a:latin typeface="Aptos"/>
                <a:ea typeface="Aptos"/>
                <a:cs typeface="Aptos"/>
              </a:defRPr>
            </a:pPr>
            <a:r>
              <a:rPr sz="1725" b="1">
                <a:solidFill>
                  <a:srgbClr val="17202A"/>
                </a:solidFill>
                <a:latin typeface="Aptos"/>
                <a:ea typeface="Aptos"/>
                <a:cs typeface="Aptos"/>
              </a:rPr>
              <a:t>Antwortschema</a:t>
            </a:r>
          </a:p>
        </p:txBody>
      </p:sp>
      <p:sp>
        <p:nvSpPr>
          <p:cNvPr id="12" name="arch-text-3">
            <a:extLst xmlns:a="http://schemas.openxmlformats.org/drawingml/2006/main">
              <a:ext uri="{FF2B5EF4-FFF2-40B4-BE49-F238E27FC236}">
                <a16:creationId xmlns:a16="http://schemas.microsoft.com/office/drawing/2014/main" id="{D87F5867-17BE-40F5-9D0C-B47296660827}"/>
              </a:ext>
            </a:extLst>
          </p:cNvPr>
          <p:cNvSpPr>
            <a:spLocks xmlns:a="http://schemas.openxmlformats.org/drawingml/2006/main" noGrp="1"/>
          </p:cNvSpPr>
          <p:nvPr/>
        </p:nvSpPr>
        <p:spPr>
          <a:xfrm xmlns:a="http://schemas.openxmlformats.org/drawingml/2006/main">
            <a:off x="4324350" y="3390900"/>
            <a:ext cx="61150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500" b="0">
                <a:solidFill>
                  <a:srgbClr val="5B6470"/>
                </a:solidFill>
                <a:latin typeface="Aptos"/>
                <a:ea typeface="Aptos"/>
                <a:cs typeface="Aptos"/>
              </a:defRPr>
            </a:pPr>
            <a:r>
              <a:rPr sz="1500" b="0">
                <a:solidFill>
                  <a:srgbClr val="5B6470"/>
                </a:solidFill>
                <a:latin typeface="Aptos"/>
                <a:ea typeface="Aptos"/>
                <a:cs typeface="Aptos"/>
              </a:rPr>
              <a:t>hasQuestions entscheidet zwischen Rückfrage und Vorschlag</a:t>
            </a:r>
          </a:p>
        </p:txBody>
      </p:sp>
      <p:sp>
        <p:nvSpPr>
          <p:cNvPr id="13" name="arch-rule-4">
            <a:extLst xmlns:a="http://schemas.openxmlformats.org/drawingml/2006/main">
              <a:ext uri="{FF2B5EF4-FFF2-40B4-BE49-F238E27FC236}">
                <a16:creationId xmlns:a16="http://schemas.microsoft.com/office/drawing/2014/main" id="{81A8030B-1B3A-4B61-B978-986244CA088B}"/>
              </a:ext>
            </a:extLst>
          </p:cNvPr>
          <p:cNvSpPr>
            <a:spLocks xmlns:a="http://schemas.openxmlformats.org/drawingml/2006/main" noGrp="1"/>
          </p:cNvSpPr>
          <p:nvPr/>
        </p:nvSpPr>
        <p:spPr>
          <a:xfrm xmlns:a="http://schemas.openxmlformats.org/drawingml/2006/main">
            <a:off x="1123950" y="4191000"/>
            <a:ext cx="381000" cy="47625"/>
          </a:xfrm>
          <a:prstGeom xmlns:a="http://schemas.openxmlformats.org/drawingml/2006/main" prst="rect">
            <a:avLst/>
          </a:prstGeom>
          <a:solidFill xmlns:a="http://schemas.openxmlformats.org/drawingml/2006/main">
            <a:srgbClr val="2E7D5B"/>
          </a:solidFill>
          <a:ln xmlns:a="http://schemas.openxmlformats.org/drawingml/2006/main" w="0">
            <a:solidFill>
              <a:srgbClr val="2E7D5B"/>
            </a:solidFill>
            <a:prstDash val="solid"/>
          </a:ln>
        </p:spPr>
      </p:sp>
      <p:sp>
        <p:nvSpPr>
          <p:cNvPr id="14" name="arch-title-4">
            <a:extLst xmlns:a="http://schemas.openxmlformats.org/drawingml/2006/main">
              <a:ext uri="{FF2B5EF4-FFF2-40B4-BE49-F238E27FC236}">
                <a16:creationId xmlns:a16="http://schemas.microsoft.com/office/drawing/2014/main" id="{D9AEAA39-314C-4E12-AE89-BF7A4E9C4B2F}"/>
              </a:ext>
            </a:extLst>
          </p:cNvPr>
          <p:cNvSpPr>
            <a:spLocks xmlns:a="http://schemas.openxmlformats.org/drawingml/2006/main" noGrp="1"/>
          </p:cNvSpPr>
          <p:nvPr/>
        </p:nvSpPr>
        <p:spPr>
          <a:xfrm xmlns:a="http://schemas.openxmlformats.org/drawingml/2006/main">
            <a:off x="1714500" y="411480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725" b="1">
                <a:solidFill>
                  <a:srgbClr val="17202A"/>
                </a:solidFill>
                <a:latin typeface="Aptos"/>
                <a:ea typeface="Aptos"/>
                <a:cs typeface="Aptos"/>
              </a:defRPr>
            </a:pPr>
            <a:r>
              <a:rPr sz="1725" b="1">
                <a:solidFill>
                  <a:srgbClr val="17202A"/>
                </a:solidFill>
                <a:latin typeface="Aptos"/>
                <a:ea typeface="Aptos"/>
                <a:cs typeface="Aptos"/>
              </a:rPr>
              <a:t>Validierung</a:t>
            </a:r>
          </a:p>
        </p:txBody>
      </p:sp>
      <p:sp>
        <p:nvSpPr>
          <p:cNvPr id="15" name="arch-text-4">
            <a:extLst xmlns:a="http://schemas.openxmlformats.org/drawingml/2006/main">
              <a:ext uri="{FF2B5EF4-FFF2-40B4-BE49-F238E27FC236}">
                <a16:creationId xmlns:a16="http://schemas.microsoft.com/office/drawing/2014/main" id="{7A9E679B-28F0-41CB-9275-A27232E3337E}"/>
              </a:ext>
            </a:extLst>
          </p:cNvPr>
          <p:cNvSpPr>
            <a:spLocks xmlns:a="http://schemas.openxmlformats.org/drawingml/2006/main" noGrp="1"/>
          </p:cNvSpPr>
          <p:nvPr/>
        </p:nvSpPr>
        <p:spPr>
          <a:xfrm xmlns:a="http://schemas.openxmlformats.org/drawingml/2006/main">
            <a:off x="4324350" y="4133850"/>
            <a:ext cx="61150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500" b="0">
                <a:solidFill>
                  <a:srgbClr val="5B6470"/>
                </a:solidFill>
                <a:latin typeface="Aptos"/>
                <a:ea typeface="Aptos"/>
                <a:cs typeface="Aptos"/>
              </a:defRPr>
            </a:pPr>
            <a:r>
              <a:rPr sz="1500" b="0">
                <a:solidFill>
                  <a:srgbClr val="5B6470"/>
                </a:solidFill>
                <a:latin typeface="Aptos"/>
                <a:ea typeface="Aptos"/>
                <a:cs typeface="Aptos"/>
              </a:rPr>
              <a:t>JSON wird extrahiert, geparst und gegen erwartete Felder geprüft</a:t>
            </a:r>
          </a:p>
        </p:txBody>
      </p:sp>
      <p:sp>
        <p:nvSpPr>
          <p:cNvPr id="16" name="arch-rule-5">
            <a:extLst xmlns:a="http://schemas.openxmlformats.org/drawingml/2006/main">
              <a:ext uri="{FF2B5EF4-FFF2-40B4-BE49-F238E27FC236}">
                <a16:creationId xmlns:a16="http://schemas.microsoft.com/office/drawing/2014/main" id="{8DEB96B6-37A2-40CB-893A-AF041A36A09A}"/>
              </a:ext>
            </a:extLst>
          </p:cNvPr>
          <p:cNvSpPr>
            <a:spLocks xmlns:a="http://schemas.openxmlformats.org/drawingml/2006/main" noGrp="1"/>
          </p:cNvSpPr>
          <p:nvPr/>
        </p:nvSpPr>
        <p:spPr>
          <a:xfrm xmlns:a="http://schemas.openxmlformats.org/drawingml/2006/main">
            <a:off x="1123950" y="4933950"/>
            <a:ext cx="381000" cy="47625"/>
          </a:xfrm>
          <a:prstGeom xmlns:a="http://schemas.openxmlformats.org/drawingml/2006/main" prst="rect">
            <a:avLst/>
          </a:prstGeom>
          <a:solidFill xmlns:a="http://schemas.openxmlformats.org/drawingml/2006/main">
            <a:srgbClr val="A33E3E"/>
          </a:solidFill>
          <a:ln xmlns:a="http://schemas.openxmlformats.org/drawingml/2006/main" w="0">
            <a:solidFill>
              <a:srgbClr val="A33E3E"/>
            </a:solidFill>
            <a:prstDash val="solid"/>
          </a:ln>
        </p:spPr>
      </p:sp>
      <p:sp>
        <p:nvSpPr>
          <p:cNvPr id="17" name="arch-title-5">
            <a:extLst xmlns:a="http://schemas.openxmlformats.org/drawingml/2006/main">
              <a:ext uri="{FF2B5EF4-FFF2-40B4-BE49-F238E27FC236}">
                <a16:creationId xmlns:a16="http://schemas.microsoft.com/office/drawing/2014/main" id="{907784AA-E834-489A-B193-2BD89AA6E908}"/>
              </a:ext>
            </a:extLst>
          </p:cNvPr>
          <p:cNvSpPr>
            <a:spLocks xmlns:a="http://schemas.openxmlformats.org/drawingml/2006/main" noGrp="1"/>
          </p:cNvSpPr>
          <p:nvPr/>
        </p:nvSpPr>
        <p:spPr>
          <a:xfrm xmlns:a="http://schemas.openxmlformats.org/drawingml/2006/main">
            <a:off x="1714500" y="485775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725" b="1">
                <a:solidFill>
                  <a:srgbClr val="17202A"/>
                </a:solidFill>
                <a:latin typeface="Aptos"/>
                <a:ea typeface="Aptos"/>
                <a:cs typeface="Aptos"/>
              </a:defRPr>
            </a:pPr>
            <a:r>
              <a:rPr sz="1725" b="1">
                <a:solidFill>
                  <a:srgbClr val="17202A"/>
                </a:solidFill>
                <a:latin typeface="Aptos"/>
                <a:ea typeface="Aptos"/>
                <a:cs typeface="Aptos"/>
              </a:rPr>
              <a:t>Fehlerfall</a:t>
            </a:r>
          </a:p>
        </p:txBody>
      </p:sp>
      <p:sp>
        <p:nvSpPr>
          <p:cNvPr id="18" name="arch-text-5">
            <a:extLst xmlns:a="http://schemas.openxmlformats.org/drawingml/2006/main">
              <a:ext uri="{FF2B5EF4-FFF2-40B4-BE49-F238E27FC236}">
                <a16:creationId xmlns:a16="http://schemas.microsoft.com/office/drawing/2014/main" id="{29A4D746-D26B-475A-91B7-99D8A1470D36}"/>
              </a:ext>
            </a:extLst>
          </p:cNvPr>
          <p:cNvSpPr>
            <a:spLocks xmlns:a="http://schemas.openxmlformats.org/drawingml/2006/main" noGrp="1"/>
          </p:cNvSpPr>
          <p:nvPr/>
        </p:nvSpPr>
        <p:spPr>
          <a:xfrm xmlns:a="http://schemas.openxmlformats.org/drawingml/2006/main">
            <a:off x="4324350" y="4876800"/>
            <a:ext cx="61150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500" b="0">
                <a:solidFill>
                  <a:srgbClr val="5B6470"/>
                </a:solidFill>
                <a:latin typeface="Aptos"/>
                <a:ea typeface="Aptos"/>
                <a:cs typeface="Aptos"/>
              </a:defRPr>
            </a:pPr>
            <a:r>
              <a:rPr sz="1500" b="0">
                <a:solidFill>
                  <a:srgbClr val="5B6470"/>
                </a:solidFill>
                <a:latin typeface="Aptos"/>
                <a:ea typeface="Aptos"/>
                <a:cs typeface="Aptos"/>
              </a:rPr>
              <a:t>Ungültige Antworten blockieren die Weiterverarbeitung und werden geloggt</a:t>
            </a:r>
          </a:p>
        </p:txBody>
      </p:sp>
      <p:sp>
        <p:nvSpPr>
          <p:cNvPr id="19" name="footer-left-6">
            <a:extLst xmlns:a="http://schemas.openxmlformats.org/drawingml/2006/main">
              <a:ext uri="{FF2B5EF4-FFF2-40B4-BE49-F238E27FC236}">
                <a16:creationId xmlns:a16="http://schemas.microsoft.com/office/drawing/2014/main" id="{65CE1DFF-0246-44B0-8BF7-9B312AEA1BD9}"/>
              </a:ext>
            </a:extLst>
          </p:cNvPr>
          <p:cNvSpPr>
            <a:spLocks xmlns:a="http://schemas.openxmlformats.org/drawingml/2006/main" noGrp="1"/>
          </p:cNvSpPr>
          <p:nvPr/>
        </p:nvSpPr>
        <p:spPr>
          <a:xfrm xmlns:a="http://schemas.openxmlformats.org/drawingml/2006/main">
            <a:off x="723900" y="63436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75" b="0">
                <a:solidFill>
                  <a:srgbClr val="5B6470"/>
                </a:solidFill>
                <a:latin typeface="Aptos"/>
                <a:ea typeface="Aptos"/>
                <a:cs typeface="Aptos"/>
              </a:defRPr>
            </a:pPr>
            <a:r>
              <a:rPr sz="975" b="0">
                <a:solidFill>
                  <a:srgbClr val="5B6470"/>
                </a:solidFill>
                <a:latin typeface="Aptos"/>
                <a:ea typeface="Aptos"/>
                <a:cs typeface="Aptos"/>
              </a:rPr>
              <a:t>Projektvorstellung für den Zweitgutachter</a:t>
            </a:r>
          </a:p>
        </p:txBody>
      </p:sp>
      <p:sp>
        <p:nvSpPr>
          <p:cNvPr id="20" name="footer-right-6">
            <a:extLst xmlns:a="http://schemas.openxmlformats.org/drawingml/2006/main">
              <a:ext uri="{FF2B5EF4-FFF2-40B4-BE49-F238E27FC236}">
                <a16:creationId xmlns:a16="http://schemas.microsoft.com/office/drawing/2014/main" id="{CBA69F45-6130-4E1D-A993-0786CA7BCD04}"/>
              </a:ext>
            </a:extLst>
          </p:cNvPr>
          <p:cNvSpPr>
            <a:spLocks xmlns:a="http://schemas.openxmlformats.org/drawingml/2006/main" noGrp="1"/>
          </p:cNvSpPr>
          <p:nvPr/>
        </p:nvSpPr>
        <p:spPr>
          <a:xfrm xmlns:a="http://schemas.openxmlformats.org/drawingml/2006/main">
            <a:off x="10934700" y="6286500"/>
            <a:ext cx="533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1200" b="1">
                <a:solidFill>
                  <a:srgbClr val="5B6470"/>
                </a:solidFill>
                <a:latin typeface="Aptos"/>
                <a:ea typeface="Aptos"/>
                <a:cs typeface="Aptos"/>
              </a:defRPr>
            </a:pPr>
            <a:r>
              <a:rPr sz="1200" b="1">
                <a:solidFill>
                  <a:srgbClr val="5B6470"/>
                </a:solidFill>
                <a:latin typeface="Aptos"/>
                <a:ea typeface="Aptos"/>
                <a:cs typeface="Aptos"/>
              </a:rPr>
              <a:t>11</a:t>
            </a:r>
          </a:p>
        </p:txBody>
      </p:sp>
    </p:spTree>
    <p:extLst>
      <p:ext uri="{BB962C8B-B14F-4D97-AF65-F5344CB8AC3E}">
        <p14:creationId xmlns:p14="http://schemas.microsoft.com/office/powerpoint/2010/main" val="1893512388"/>
      </p:ext>
    </p:extLst>
  </p:cSld>
</p:sld>
</file>

<file path=ppt/slides/slide12.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 name="kicker-5">
            <a:extLst xmlns:a="http://schemas.openxmlformats.org/drawingml/2006/main">
              <a:ext uri="{FF2B5EF4-FFF2-40B4-BE49-F238E27FC236}">
                <a16:creationId xmlns:a16="http://schemas.microsoft.com/office/drawing/2014/main" id="{67B17952-5F6E-4C1B-BB5C-E00F266AC43B}"/>
              </a:ext>
            </a:extLst>
          </p:cNvPr>
          <p:cNvSpPr>
            <a:spLocks xmlns:a="http://schemas.openxmlformats.org/drawingml/2006/main" noGrp="1"/>
          </p:cNvSpPr>
          <p:nvPr/>
        </p:nvSpPr>
        <p:spPr>
          <a:xfrm xmlns:a="http://schemas.openxmlformats.org/drawingml/2006/main">
            <a:off x="723900" y="457200"/>
            <a:ext cx="723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125" b="1">
                <a:solidFill>
                  <a:srgbClr val="1F6F78"/>
                </a:solidFill>
                <a:latin typeface="Aptos"/>
                <a:ea typeface="Aptos"/>
                <a:cs typeface="Aptos"/>
              </a:defRPr>
            </a:pPr>
            <a:r>
              <a:rPr sz="1125" b="1">
                <a:solidFill>
                  <a:srgbClr val="1F6F78"/>
                </a:solidFill>
                <a:latin typeface="Aptos"/>
                <a:ea typeface="Aptos"/>
                <a:cs typeface="Aptos"/>
              </a:rPr>
              <a:t>GITLAB DEV-ASSIST</a:t>
            </a:r>
          </a:p>
        </p:txBody>
      </p:sp>
      <p:sp>
        <p:nvSpPr>
          <p:cNvPr id="2" name="title-5">
            <a:extLst xmlns:a="http://schemas.openxmlformats.org/drawingml/2006/main">
              <a:ext uri="{FF2B5EF4-FFF2-40B4-BE49-F238E27FC236}">
                <a16:creationId xmlns:a16="http://schemas.microsoft.com/office/drawing/2014/main" id="{0C15E580-1E4C-421A-AEA4-44D8638C7D45}"/>
              </a:ext>
            </a:extLst>
          </p:cNvPr>
          <p:cNvSpPr>
            <a:spLocks xmlns:a="http://schemas.openxmlformats.org/drawingml/2006/main" noGrp="1"/>
          </p:cNvSpPr>
          <p:nvPr/>
        </p:nvSpPr>
        <p:spPr>
          <a:xfrm xmlns:a="http://schemas.openxmlformats.org/drawingml/2006/main">
            <a:off x="723900" y="800100"/>
            <a:ext cx="8763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850" b="1">
                <a:solidFill>
                  <a:srgbClr val="17202A"/>
                </a:solidFill>
                <a:latin typeface="Aptos Display"/>
                <a:ea typeface="Aptos Display"/>
                <a:cs typeface="Aptos Display"/>
              </a:defRPr>
            </a:pPr>
            <a:r>
              <a:rPr sz="2850" b="1">
                <a:solidFill>
                  <a:srgbClr val="17202A"/>
                </a:solidFill>
                <a:latin typeface="Aptos Display"/>
                <a:ea typeface="Aptos Display"/>
                <a:cs typeface="Aptos Display"/>
              </a:rPr>
              <a:t>Publish-Prozess mit Freigabe</a:t>
            </a:r>
          </a:p>
        </p:txBody>
      </p:sp>
      <p:sp>
        <p:nvSpPr>
          <p:cNvPr id="3" name="title-rule-5">
            <a:extLst xmlns:a="http://schemas.openxmlformats.org/drawingml/2006/main">
              <a:ext uri="{FF2B5EF4-FFF2-40B4-BE49-F238E27FC236}">
                <a16:creationId xmlns:a16="http://schemas.microsoft.com/office/drawing/2014/main" id="{2EDA6161-0A2E-495A-826E-663A47F497A7}"/>
              </a:ext>
            </a:extLst>
          </p:cNvPr>
          <p:cNvSpPr>
            <a:spLocks xmlns:a="http://schemas.openxmlformats.org/drawingml/2006/main" noGrp="1"/>
          </p:cNvSpPr>
          <p:nvPr/>
        </p:nvSpPr>
        <p:spPr>
          <a:xfrm xmlns:a="http://schemas.openxmlformats.org/drawingml/2006/main">
            <a:off x="723900" y="1466850"/>
            <a:ext cx="10744200" cy="19050"/>
          </a:xfrm>
          <a:prstGeom xmlns:a="http://schemas.openxmlformats.org/drawingml/2006/main" prst="rect">
            <a:avLst/>
          </a:prstGeom>
          <a:solidFill xmlns:a="http://schemas.openxmlformats.org/drawingml/2006/main">
            <a:srgbClr val="E6EBF1"/>
          </a:solidFill>
          <a:ln xmlns:a="http://schemas.openxmlformats.org/drawingml/2006/main" w="0">
            <a:solidFill>
              <a:srgbClr val="E6EBF1"/>
            </a:solidFill>
            <a:prstDash val="solid"/>
          </a:ln>
        </p:spPr>
      </p:sp>
      <p:sp>
        <p:nvSpPr>
          <p:cNvPr id="4" name="flow-arrow-1">
            <a:extLst xmlns:a="http://schemas.openxmlformats.org/drawingml/2006/main">
              <a:ext uri="{FF2B5EF4-FFF2-40B4-BE49-F238E27FC236}">
                <a16:creationId xmlns:a16="http://schemas.microsoft.com/office/drawing/2014/main" id="{DA7603DA-5E7B-44E5-8220-05A6D0C288D4}"/>
              </a:ext>
            </a:extLst>
          </p:cNvPr>
          <p:cNvSpPr>
            <a:spLocks xmlns:a="http://schemas.openxmlformats.org/drawingml/2006/main" noGrp="1"/>
          </p:cNvSpPr>
          <p:nvPr/>
        </p:nvSpPr>
        <p:spPr>
          <a:xfrm xmlns:a="http://schemas.openxmlformats.org/drawingml/2006/main">
            <a:off x="2419350" y="3143250"/>
            <a:ext cx="209550" cy="0"/>
          </a:xfrm>
          <a:prstGeom xmlns:a="http://schemas.openxmlformats.org/drawingml/2006/main" prst="line">
            <a:avLst/>
          </a:prstGeom>
          <a:noFill xmlns:a="http://schemas.openxmlformats.org/drawingml/2006/main"/>
          <a:ln xmlns:a="http://schemas.openxmlformats.org/drawingml/2006/main" w="19050">
            <a:solidFill>
              <a:srgbClr val="CCD4DD"/>
            </a:solidFill>
            <a:prstDash val="solid"/>
          </a:ln>
        </p:spPr>
      </p:sp>
      <p:sp>
        <p:nvSpPr>
          <p:cNvPr id="5" name="flow-arrow-2">
            <a:extLst xmlns:a="http://schemas.openxmlformats.org/drawingml/2006/main">
              <a:ext uri="{FF2B5EF4-FFF2-40B4-BE49-F238E27FC236}">
                <a16:creationId xmlns:a16="http://schemas.microsoft.com/office/drawing/2014/main" id="{7938A326-9BCD-40A2-A9D1-EBADD7A4A336}"/>
              </a:ext>
            </a:extLst>
          </p:cNvPr>
          <p:cNvSpPr>
            <a:spLocks xmlns:a="http://schemas.openxmlformats.org/drawingml/2006/main" noGrp="1"/>
          </p:cNvSpPr>
          <p:nvPr/>
        </p:nvSpPr>
        <p:spPr>
          <a:xfrm xmlns:a="http://schemas.openxmlformats.org/drawingml/2006/main">
            <a:off x="4343400" y="3143250"/>
            <a:ext cx="209550" cy="0"/>
          </a:xfrm>
          <a:prstGeom xmlns:a="http://schemas.openxmlformats.org/drawingml/2006/main" prst="line">
            <a:avLst/>
          </a:prstGeom>
          <a:noFill xmlns:a="http://schemas.openxmlformats.org/drawingml/2006/main"/>
          <a:ln xmlns:a="http://schemas.openxmlformats.org/drawingml/2006/main" w="19050">
            <a:solidFill>
              <a:srgbClr val="CCD4DD"/>
            </a:solidFill>
            <a:prstDash val="solid"/>
          </a:ln>
        </p:spPr>
      </p:sp>
      <p:sp>
        <p:nvSpPr>
          <p:cNvPr id="6" name="flow-arrow-3">
            <a:extLst xmlns:a="http://schemas.openxmlformats.org/drawingml/2006/main">
              <a:ext uri="{FF2B5EF4-FFF2-40B4-BE49-F238E27FC236}">
                <a16:creationId xmlns:a16="http://schemas.microsoft.com/office/drawing/2014/main" id="{3361FC6D-4BE0-4C11-97D8-272CAAF8AD44}"/>
              </a:ext>
            </a:extLst>
          </p:cNvPr>
          <p:cNvSpPr>
            <a:spLocks xmlns:a="http://schemas.openxmlformats.org/drawingml/2006/main" noGrp="1"/>
          </p:cNvSpPr>
          <p:nvPr/>
        </p:nvSpPr>
        <p:spPr>
          <a:xfrm xmlns:a="http://schemas.openxmlformats.org/drawingml/2006/main">
            <a:off x="6267450" y="3143250"/>
            <a:ext cx="209550" cy="0"/>
          </a:xfrm>
          <a:prstGeom xmlns:a="http://schemas.openxmlformats.org/drawingml/2006/main" prst="line">
            <a:avLst/>
          </a:prstGeom>
          <a:noFill xmlns:a="http://schemas.openxmlformats.org/drawingml/2006/main"/>
          <a:ln xmlns:a="http://schemas.openxmlformats.org/drawingml/2006/main" w="19050">
            <a:solidFill>
              <a:srgbClr val="CCD4DD"/>
            </a:solidFill>
            <a:prstDash val="solid"/>
          </a:ln>
        </p:spPr>
      </p:sp>
      <p:sp>
        <p:nvSpPr>
          <p:cNvPr id="7" name="flow-arrow-4">
            <a:extLst xmlns:a="http://schemas.openxmlformats.org/drawingml/2006/main">
              <a:ext uri="{FF2B5EF4-FFF2-40B4-BE49-F238E27FC236}">
                <a16:creationId xmlns:a16="http://schemas.microsoft.com/office/drawing/2014/main" id="{CB267244-7F57-41BF-94BE-FE3134C9CF28}"/>
              </a:ext>
            </a:extLst>
          </p:cNvPr>
          <p:cNvSpPr>
            <a:spLocks xmlns:a="http://schemas.openxmlformats.org/drawingml/2006/main" noGrp="1"/>
          </p:cNvSpPr>
          <p:nvPr/>
        </p:nvSpPr>
        <p:spPr>
          <a:xfrm xmlns:a="http://schemas.openxmlformats.org/drawingml/2006/main">
            <a:off x="8191500" y="3143250"/>
            <a:ext cx="209550" cy="0"/>
          </a:xfrm>
          <a:prstGeom xmlns:a="http://schemas.openxmlformats.org/drawingml/2006/main" prst="line">
            <a:avLst/>
          </a:prstGeom>
          <a:noFill xmlns:a="http://schemas.openxmlformats.org/drawingml/2006/main"/>
          <a:ln xmlns:a="http://schemas.openxmlformats.org/drawingml/2006/main" w="19050">
            <a:solidFill>
              <a:srgbClr val="CCD4DD"/>
            </a:solidFill>
            <a:prstDash val="solid"/>
          </a:ln>
        </p:spPr>
      </p:sp>
      <p:sp>
        <p:nvSpPr>
          <p:cNvPr id="8" name="flow-arrow-5">
            <a:extLst xmlns:a="http://schemas.openxmlformats.org/drawingml/2006/main">
              <a:ext uri="{FF2B5EF4-FFF2-40B4-BE49-F238E27FC236}">
                <a16:creationId xmlns:a16="http://schemas.microsoft.com/office/drawing/2014/main" id="{8BDF897E-A608-4FE6-BB10-B1CEE23E2BEE}"/>
              </a:ext>
            </a:extLst>
          </p:cNvPr>
          <p:cNvSpPr>
            <a:spLocks xmlns:a="http://schemas.openxmlformats.org/drawingml/2006/main" noGrp="1"/>
          </p:cNvSpPr>
          <p:nvPr/>
        </p:nvSpPr>
        <p:spPr>
          <a:xfrm xmlns:a="http://schemas.openxmlformats.org/drawingml/2006/main">
            <a:off x="10115550" y="3143250"/>
            <a:ext cx="209550" cy="0"/>
          </a:xfrm>
          <a:prstGeom xmlns:a="http://schemas.openxmlformats.org/drawingml/2006/main" prst="line">
            <a:avLst/>
          </a:prstGeom>
          <a:noFill xmlns:a="http://schemas.openxmlformats.org/drawingml/2006/main"/>
          <a:ln xmlns:a="http://schemas.openxmlformats.org/drawingml/2006/main" w="19050">
            <a:solidFill>
              <a:srgbClr val="CCD4DD"/>
            </a:solidFill>
            <a:prstDash val="solid"/>
          </a:ln>
        </p:spPr>
      </p:sp>
      <p:sp>
        <p:nvSpPr>
          <p:cNvPr id="9" name="flow-1-box">
            <a:extLst xmlns:a="http://schemas.openxmlformats.org/drawingml/2006/main">
              <a:ext uri="{FF2B5EF4-FFF2-40B4-BE49-F238E27FC236}">
                <a16:creationId xmlns:a16="http://schemas.microsoft.com/office/drawing/2014/main" id="{D510B8D4-A83E-4C83-9980-83351B5B8925}"/>
              </a:ext>
            </a:extLst>
          </p:cNvPr>
          <p:cNvSpPr>
            <a:spLocks xmlns:a="http://schemas.openxmlformats.org/drawingml/2006/main" noGrp="1"/>
          </p:cNvSpPr>
          <p:nvPr/>
        </p:nvSpPr>
        <p:spPr>
          <a:xfrm xmlns:a="http://schemas.openxmlformats.org/drawingml/2006/main">
            <a:off x="781050" y="2457450"/>
            <a:ext cx="1600200" cy="1371600"/>
          </a:xfrm>
          <a:prstGeom xmlns:a="http://schemas.openxmlformats.org/drawingml/2006/main" prst="rect">
            <a:avLst/>
          </a:prstGeom>
          <a:solidFill xmlns:a="http://schemas.openxmlformats.org/drawingml/2006/main">
            <a:srgbClr val="FFFFFF"/>
          </a:solidFill>
          <a:ln xmlns:a="http://schemas.openxmlformats.org/drawingml/2006/main" w="9525">
            <a:solidFill>
              <a:srgbClr val="305C89"/>
            </a:solidFill>
            <a:prstDash val="solid"/>
          </a:ln>
        </p:spPr>
      </p:sp>
      <p:sp>
        <p:nvSpPr>
          <p:cNvPr id="10" name="flow-1-accent">
            <a:extLst xmlns:a="http://schemas.openxmlformats.org/drawingml/2006/main">
              <a:ext uri="{FF2B5EF4-FFF2-40B4-BE49-F238E27FC236}">
                <a16:creationId xmlns:a16="http://schemas.microsoft.com/office/drawing/2014/main" id="{85572EA1-0500-4CB7-B0AA-A17FA5D1C533}"/>
              </a:ext>
            </a:extLst>
          </p:cNvPr>
          <p:cNvSpPr>
            <a:spLocks xmlns:a="http://schemas.openxmlformats.org/drawingml/2006/main" noGrp="1"/>
          </p:cNvSpPr>
          <p:nvPr/>
        </p:nvSpPr>
        <p:spPr>
          <a:xfrm xmlns:a="http://schemas.openxmlformats.org/drawingml/2006/main">
            <a:off x="781050" y="2457450"/>
            <a:ext cx="1600200" cy="47625"/>
          </a:xfrm>
          <a:prstGeom xmlns:a="http://schemas.openxmlformats.org/drawingml/2006/main" prst="rect">
            <a:avLst/>
          </a:prstGeom>
          <a:solidFill xmlns:a="http://schemas.openxmlformats.org/drawingml/2006/main">
            <a:srgbClr val="305C89"/>
          </a:solidFill>
          <a:ln xmlns:a="http://schemas.openxmlformats.org/drawingml/2006/main" w="0">
            <a:solidFill>
              <a:srgbClr val="305C89"/>
            </a:solidFill>
            <a:prstDash val="solid"/>
          </a:ln>
        </p:spPr>
      </p:sp>
      <p:sp>
        <p:nvSpPr>
          <p:cNvPr id="11" name="flow-1-label">
            <a:extLst xmlns:a="http://schemas.openxmlformats.org/drawingml/2006/main">
              <a:ext uri="{FF2B5EF4-FFF2-40B4-BE49-F238E27FC236}">
                <a16:creationId xmlns:a16="http://schemas.microsoft.com/office/drawing/2014/main" id="{349FF616-277C-4AEA-8A0F-930468704D57}"/>
              </a:ext>
            </a:extLst>
          </p:cNvPr>
          <p:cNvSpPr>
            <a:spLocks xmlns:a="http://schemas.openxmlformats.org/drawingml/2006/main" noGrp="1"/>
          </p:cNvSpPr>
          <p:nvPr/>
        </p:nvSpPr>
        <p:spPr>
          <a:xfrm xmlns:a="http://schemas.openxmlformats.org/drawingml/2006/main">
            <a:off x="933450" y="2628900"/>
            <a:ext cx="1295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575" b="1">
                <a:solidFill>
                  <a:srgbClr val="17202A"/>
                </a:solidFill>
                <a:latin typeface="Aptos"/>
                <a:ea typeface="Aptos"/>
                <a:cs typeface="Aptos"/>
              </a:defRPr>
            </a:pPr>
            <a:r>
              <a:rPr sz="1575" b="1">
                <a:solidFill>
                  <a:srgbClr val="17202A"/>
                </a:solidFill>
                <a:latin typeface="Aptos"/>
                <a:ea typeface="Aptos"/>
                <a:cs typeface="Aptos"/>
              </a:rPr>
              <a:t>Vorschlag</a:t>
            </a:r>
          </a:p>
        </p:txBody>
      </p:sp>
      <p:sp>
        <p:nvSpPr>
          <p:cNvPr id="12" name="flow-1-sub">
            <a:extLst xmlns:a="http://schemas.openxmlformats.org/drawingml/2006/main">
              <a:ext uri="{FF2B5EF4-FFF2-40B4-BE49-F238E27FC236}">
                <a16:creationId xmlns:a16="http://schemas.microsoft.com/office/drawing/2014/main" id="{17034C36-ABF3-4712-9471-2DDC1A6758DC}"/>
              </a:ext>
            </a:extLst>
          </p:cNvPr>
          <p:cNvSpPr>
            <a:spLocks xmlns:a="http://schemas.openxmlformats.org/drawingml/2006/main" noGrp="1"/>
          </p:cNvSpPr>
          <p:nvPr/>
        </p:nvSpPr>
        <p:spPr>
          <a:xfrm xmlns:a="http://schemas.openxmlformats.org/drawingml/2006/main">
            <a:off x="933450" y="2952750"/>
            <a:ext cx="12954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200" b="0">
                <a:solidFill>
                  <a:srgbClr val="5B6470"/>
                </a:solidFill>
                <a:latin typeface="Aptos"/>
                <a:ea typeface="Aptos"/>
                <a:cs typeface="Aptos"/>
              </a:defRPr>
            </a:pPr>
            <a:r>
              <a:rPr sz="1200" b="0">
                <a:solidFill>
                  <a:srgbClr val="5B6470"/>
                </a:solidFill>
                <a:latin typeface="Aptos"/>
                <a:ea typeface="Aptos"/>
                <a:cs typeface="Aptos"/>
              </a:rPr>
              <a:t>Bot-Kommentar mit Markern</a:t>
            </a:r>
          </a:p>
        </p:txBody>
      </p:sp>
      <p:sp>
        <p:nvSpPr>
          <p:cNvPr id="13" name="flow-2-box">
            <a:extLst xmlns:a="http://schemas.openxmlformats.org/drawingml/2006/main">
              <a:ext uri="{FF2B5EF4-FFF2-40B4-BE49-F238E27FC236}">
                <a16:creationId xmlns:a16="http://schemas.microsoft.com/office/drawing/2014/main" id="{7F22131F-12C5-4FD0-A7A9-3D3BBB12AA64}"/>
              </a:ext>
            </a:extLst>
          </p:cNvPr>
          <p:cNvSpPr>
            <a:spLocks xmlns:a="http://schemas.openxmlformats.org/drawingml/2006/main" noGrp="1"/>
          </p:cNvSpPr>
          <p:nvPr/>
        </p:nvSpPr>
        <p:spPr>
          <a:xfrm xmlns:a="http://schemas.openxmlformats.org/drawingml/2006/main">
            <a:off x="2705100" y="2457450"/>
            <a:ext cx="1600200" cy="1371600"/>
          </a:xfrm>
          <a:prstGeom xmlns:a="http://schemas.openxmlformats.org/drawingml/2006/main" prst="rect">
            <a:avLst/>
          </a:prstGeom>
          <a:solidFill xmlns:a="http://schemas.openxmlformats.org/drawingml/2006/main">
            <a:srgbClr val="FFFFFF"/>
          </a:solidFill>
          <a:ln xmlns:a="http://schemas.openxmlformats.org/drawingml/2006/main" w="9525">
            <a:solidFill>
              <a:srgbClr val="1F6F78"/>
            </a:solidFill>
            <a:prstDash val="solid"/>
          </a:ln>
        </p:spPr>
      </p:sp>
      <p:sp>
        <p:nvSpPr>
          <p:cNvPr id="14" name="flow-2-accent">
            <a:extLst xmlns:a="http://schemas.openxmlformats.org/drawingml/2006/main">
              <a:ext uri="{FF2B5EF4-FFF2-40B4-BE49-F238E27FC236}">
                <a16:creationId xmlns:a16="http://schemas.microsoft.com/office/drawing/2014/main" id="{4A017DFD-78B1-4E5D-ABBE-233E44E6AB6E}"/>
              </a:ext>
            </a:extLst>
          </p:cNvPr>
          <p:cNvSpPr>
            <a:spLocks xmlns:a="http://schemas.openxmlformats.org/drawingml/2006/main" noGrp="1"/>
          </p:cNvSpPr>
          <p:nvPr/>
        </p:nvSpPr>
        <p:spPr>
          <a:xfrm xmlns:a="http://schemas.openxmlformats.org/drawingml/2006/main">
            <a:off x="2705100" y="2457450"/>
            <a:ext cx="1600200" cy="47625"/>
          </a:xfrm>
          <a:prstGeom xmlns:a="http://schemas.openxmlformats.org/drawingml/2006/main" prst="rect">
            <a:avLst/>
          </a:prstGeom>
          <a:solidFill xmlns:a="http://schemas.openxmlformats.org/drawingml/2006/main">
            <a:srgbClr val="1F6F78"/>
          </a:solidFill>
          <a:ln xmlns:a="http://schemas.openxmlformats.org/drawingml/2006/main" w="0">
            <a:solidFill>
              <a:srgbClr val="1F6F78"/>
            </a:solidFill>
            <a:prstDash val="solid"/>
          </a:ln>
        </p:spPr>
      </p:sp>
      <p:sp>
        <p:nvSpPr>
          <p:cNvPr id="15" name="flow-2-label">
            <a:extLst xmlns:a="http://schemas.openxmlformats.org/drawingml/2006/main">
              <a:ext uri="{FF2B5EF4-FFF2-40B4-BE49-F238E27FC236}">
                <a16:creationId xmlns:a16="http://schemas.microsoft.com/office/drawing/2014/main" id="{0AF2A5C8-40EC-4BB4-BE43-308F85C6BD3F}"/>
              </a:ext>
            </a:extLst>
          </p:cNvPr>
          <p:cNvSpPr>
            <a:spLocks xmlns:a="http://schemas.openxmlformats.org/drawingml/2006/main" noGrp="1"/>
          </p:cNvSpPr>
          <p:nvPr/>
        </p:nvSpPr>
        <p:spPr>
          <a:xfrm xmlns:a="http://schemas.openxmlformats.org/drawingml/2006/main">
            <a:off x="2857500" y="2628900"/>
            <a:ext cx="1295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575" b="1">
                <a:solidFill>
                  <a:srgbClr val="17202A"/>
                </a:solidFill>
                <a:latin typeface="Aptos"/>
                <a:ea typeface="Aptos"/>
                <a:cs typeface="Aptos"/>
              </a:defRPr>
            </a:pPr>
            <a:r>
              <a:rPr sz="1575" b="1">
                <a:solidFill>
                  <a:srgbClr val="17202A"/>
                </a:solidFill>
                <a:latin typeface="Aptos"/>
                <a:ea typeface="Aptos"/>
                <a:cs typeface="Aptos"/>
              </a:rPr>
              <a:t>Review</a:t>
            </a:r>
          </a:p>
        </p:txBody>
      </p:sp>
      <p:sp>
        <p:nvSpPr>
          <p:cNvPr id="16" name="flow-2-sub">
            <a:extLst xmlns:a="http://schemas.openxmlformats.org/drawingml/2006/main">
              <a:ext uri="{FF2B5EF4-FFF2-40B4-BE49-F238E27FC236}">
                <a16:creationId xmlns:a16="http://schemas.microsoft.com/office/drawing/2014/main" id="{F81E692C-0EB2-4E65-9788-4AC42F89006A}"/>
              </a:ext>
            </a:extLst>
          </p:cNvPr>
          <p:cNvSpPr>
            <a:spLocks xmlns:a="http://schemas.openxmlformats.org/drawingml/2006/main" noGrp="1"/>
          </p:cNvSpPr>
          <p:nvPr/>
        </p:nvSpPr>
        <p:spPr>
          <a:xfrm xmlns:a="http://schemas.openxmlformats.org/drawingml/2006/main">
            <a:off x="2857500" y="2952750"/>
            <a:ext cx="12954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200" b="0">
                <a:solidFill>
                  <a:srgbClr val="5B6470"/>
                </a:solidFill>
                <a:latin typeface="Aptos"/>
                <a:ea typeface="Aptos"/>
                <a:cs typeface="Aptos"/>
              </a:defRPr>
            </a:pPr>
            <a:r>
              <a:rPr sz="1200" b="0">
                <a:solidFill>
                  <a:srgbClr val="5B6470"/>
                </a:solidFill>
                <a:latin typeface="Aptos"/>
                <a:ea typeface="Aptos"/>
                <a:cs typeface="Aptos"/>
              </a:rPr>
              <a:t>Mensch prüft Inhalt</a:t>
            </a:r>
          </a:p>
        </p:txBody>
      </p:sp>
      <p:sp>
        <p:nvSpPr>
          <p:cNvPr id="17" name="flow-3-box">
            <a:extLst xmlns:a="http://schemas.openxmlformats.org/drawingml/2006/main">
              <a:ext uri="{FF2B5EF4-FFF2-40B4-BE49-F238E27FC236}">
                <a16:creationId xmlns:a16="http://schemas.microsoft.com/office/drawing/2014/main" id="{8730F2FA-292D-4905-B11A-12FACC88AE64}"/>
              </a:ext>
            </a:extLst>
          </p:cNvPr>
          <p:cNvSpPr>
            <a:spLocks xmlns:a="http://schemas.openxmlformats.org/drawingml/2006/main" noGrp="1"/>
          </p:cNvSpPr>
          <p:nvPr/>
        </p:nvSpPr>
        <p:spPr>
          <a:xfrm xmlns:a="http://schemas.openxmlformats.org/drawingml/2006/main">
            <a:off x="4629150" y="2457450"/>
            <a:ext cx="1600200" cy="1371600"/>
          </a:xfrm>
          <a:prstGeom xmlns:a="http://schemas.openxmlformats.org/drawingml/2006/main" prst="rect">
            <a:avLst/>
          </a:prstGeom>
          <a:solidFill xmlns:a="http://schemas.openxmlformats.org/drawingml/2006/main">
            <a:srgbClr val="FFFFFF"/>
          </a:solidFill>
          <a:ln xmlns:a="http://schemas.openxmlformats.org/drawingml/2006/main" w="9525">
            <a:solidFill>
              <a:srgbClr val="C26A2E"/>
            </a:solidFill>
            <a:prstDash val="solid"/>
          </a:ln>
        </p:spPr>
      </p:sp>
      <p:sp>
        <p:nvSpPr>
          <p:cNvPr id="18" name="flow-3-accent">
            <a:extLst xmlns:a="http://schemas.openxmlformats.org/drawingml/2006/main">
              <a:ext uri="{FF2B5EF4-FFF2-40B4-BE49-F238E27FC236}">
                <a16:creationId xmlns:a16="http://schemas.microsoft.com/office/drawing/2014/main" id="{C38E186F-70E1-45E3-A3F9-DE6D89E58519}"/>
              </a:ext>
            </a:extLst>
          </p:cNvPr>
          <p:cNvSpPr>
            <a:spLocks xmlns:a="http://schemas.openxmlformats.org/drawingml/2006/main" noGrp="1"/>
          </p:cNvSpPr>
          <p:nvPr/>
        </p:nvSpPr>
        <p:spPr>
          <a:xfrm xmlns:a="http://schemas.openxmlformats.org/drawingml/2006/main">
            <a:off x="4629150" y="2457450"/>
            <a:ext cx="1600200" cy="47625"/>
          </a:xfrm>
          <a:prstGeom xmlns:a="http://schemas.openxmlformats.org/drawingml/2006/main" prst="rect">
            <a:avLst/>
          </a:prstGeom>
          <a:solidFill xmlns:a="http://schemas.openxmlformats.org/drawingml/2006/main">
            <a:srgbClr val="C26A2E"/>
          </a:solidFill>
          <a:ln xmlns:a="http://schemas.openxmlformats.org/drawingml/2006/main" w="0">
            <a:solidFill>
              <a:srgbClr val="C26A2E"/>
            </a:solidFill>
            <a:prstDash val="solid"/>
          </a:ln>
        </p:spPr>
      </p:sp>
      <p:sp>
        <p:nvSpPr>
          <p:cNvPr id="19" name="flow-3-label">
            <a:extLst xmlns:a="http://schemas.openxmlformats.org/drawingml/2006/main">
              <a:ext uri="{FF2B5EF4-FFF2-40B4-BE49-F238E27FC236}">
                <a16:creationId xmlns:a16="http://schemas.microsoft.com/office/drawing/2014/main" id="{4AEB5FA4-E2F2-43B2-B610-1DC164B0BFA2}"/>
              </a:ext>
            </a:extLst>
          </p:cNvPr>
          <p:cNvSpPr>
            <a:spLocks xmlns:a="http://schemas.openxmlformats.org/drawingml/2006/main" noGrp="1"/>
          </p:cNvSpPr>
          <p:nvPr/>
        </p:nvSpPr>
        <p:spPr>
          <a:xfrm xmlns:a="http://schemas.openxmlformats.org/drawingml/2006/main">
            <a:off x="4781550" y="2628900"/>
            <a:ext cx="1295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575" b="1">
                <a:solidFill>
                  <a:srgbClr val="17202A"/>
                </a:solidFill>
                <a:latin typeface="Aptos"/>
                <a:ea typeface="Aptos"/>
                <a:cs typeface="Aptos"/>
              </a:defRPr>
            </a:pPr>
            <a:r>
              <a:rPr sz="1575" b="1">
                <a:solidFill>
                  <a:srgbClr val="17202A"/>
                </a:solidFill>
                <a:latin typeface="Aptos"/>
                <a:ea typeface="Aptos"/>
                <a:cs typeface="Aptos"/>
              </a:rPr>
              <a:t>Kommando</a:t>
            </a:r>
          </a:p>
        </p:txBody>
      </p:sp>
      <p:sp>
        <p:nvSpPr>
          <p:cNvPr id="20" name="flow-3-sub">
            <a:extLst xmlns:a="http://schemas.openxmlformats.org/drawingml/2006/main">
              <a:ext uri="{FF2B5EF4-FFF2-40B4-BE49-F238E27FC236}">
                <a16:creationId xmlns:a16="http://schemas.microsoft.com/office/drawing/2014/main" id="{84288384-DC70-46C3-9BF9-B3B96382EF00}"/>
              </a:ext>
            </a:extLst>
          </p:cNvPr>
          <p:cNvSpPr>
            <a:spLocks xmlns:a="http://schemas.openxmlformats.org/drawingml/2006/main" noGrp="1"/>
          </p:cNvSpPr>
          <p:nvPr/>
        </p:nvSpPr>
        <p:spPr>
          <a:xfrm xmlns:a="http://schemas.openxmlformats.org/drawingml/2006/main">
            <a:off x="4781550" y="2952750"/>
            <a:ext cx="12954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200" b="0">
                <a:solidFill>
                  <a:srgbClr val="5B6470"/>
                </a:solidFill>
                <a:latin typeface="Aptos"/>
                <a:ea typeface="Aptos"/>
                <a:cs typeface="Aptos"/>
              </a:defRPr>
            </a:pPr>
            <a:r>
              <a:rPr sz="1200" b="0">
                <a:solidFill>
                  <a:srgbClr val="5B6470"/>
                </a:solidFill>
                <a:latin typeface="Aptos"/>
                <a:ea typeface="Aptos"/>
                <a:cs typeface="Aptos"/>
              </a:rPr>
              <a:t>@dev-assist publish</a:t>
            </a:r>
          </a:p>
        </p:txBody>
      </p:sp>
      <p:sp>
        <p:nvSpPr>
          <p:cNvPr id="21" name="flow-4-box">
            <a:extLst xmlns:a="http://schemas.openxmlformats.org/drawingml/2006/main">
              <a:ext uri="{FF2B5EF4-FFF2-40B4-BE49-F238E27FC236}">
                <a16:creationId xmlns:a16="http://schemas.microsoft.com/office/drawing/2014/main" id="{22B8046A-2E0E-49E2-B3AB-280F2A686100}"/>
              </a:ext>
            </a:extLst>
          </p:cNvPr>
          <p:cNvSpPr>
            <a:spLocks xmlns:a="http://schemas.openxmlformats.org/drawingml/2006/main" noGrp="1"/>
          </p:cNvSpPr>
          <p:nvPr/>
        </p:nvSpPr>
        <p:spPr>
          <a:xfrm xmlns:a="http://schemas.openxmlformats.org/drawingml/2006/main">
            <a:off x="6553200" y="2457450"/>
            <a:ext cx="1600200" cy="1371600"/>
          </a:xfrm>
          <a:prstGeom xmlns:a="http://schemas.openxmlformats.org/drawingml/2006/main" prst="rect">
            <a:avLst/>
          </a:prstGeom>
          <a:solidFill xmlns:a="http://schemas.openxmlformats.org/drawingml/2006/main">
            <a:srgbClr val="FFFFFF"/>
          </a:solidFill>
          <a:ln xmlns:a="http://schemas.openxmlformats.org/drawingml/2006/main" w="9525">
            <a:solidFill>
              <a:srgbClr val="2E7D5B"/>
            </a:solidFill>
            <a:prstDash val="solid"/>
          </a:ln>
        </p:spPr>
      </p:sp>
      <p:sp>
        <p:nvSpPr>
          <p:cNvPr id="22" name="flow-4-accent">
            <a:extLst xmlns:a="http://schemas.openxmlformats.org/drawingml/2006/main">
              <a:ext uri="{FF2B5EF4-FFF2-40B4-BE49-F238E27FC236}">
                <a16:creationId xmlns:a16="http://schemas.microsoft.com/office/drawing/2014/main" id="{8628F9B4-2815-44F1-8286-5481E689641B}"/>
              </a:ext>
            </a:extLst>
          </p:cNvPr>
          <p:cNvSpPr>
            <a:spLocks xmlns:a="http://schemas.openxmlformats.org/drawingml/2006/main" noGrp="1"/>
          </p:cNvSpPr>
          <p:nvPr/>
        </p:nvSpPr>
        <p:spPr>
          <a:xfrm xmlns:a="http://schemas.openxmlformats.org/drawingml/2006/main">
            <a:off x="6553200" y="2457450"/>
            <a:ext cx="1600200" cy="47625"/>
          </a:xfrm>
          <a:prstGeom xmlns:a="http://schemas.openxmlformats.org/drawingml/2006/main" prst="rect">
            <a:avLst/>
          </a:prstGeom>
          <a:solidFill xmlns:a="http://schemas.openxmlformats.org/drawingml/2006/main">
            <a:srgbClr val="2E7D5B"/>
          </a:solidFill>
          <a:ln xmlns:a="http://schemas.openxmlformats.org/drawingml/2006/main" w="0">
            <a:solidFill>
              <a:srgbClr val="2E7D5B"/>
            </a:solidFill>
            <a:prstDash val="solid"/>
          </a:ln>
        </p:spPr>
      </p:sp>
      <p:sp>
        <p:nvSpPr>
          <p:cNvPr id="23" name="flow-4-label">
            <a:extLst xmlns:a="http://schemas.openxmlformats.org/drawingml/2006/main">
              <a:ext uri="{FF2B5EF4-FFF2-40B4-BE49-F238E27FC236}">
                <a16:creationId xmlns:a16="http://schemas.microsoft.com/office/drawing/2014/main" id="{9E243CA1-AC09-42D1-BB06-DD6D3ED9A299}"/>
              </a:ext>
            </a:extLst>
          </p:cNvPr>
          <p:cNvSpPr>
            <a:spLocks xmlns:a="http://schemas.openxmlformats.org/drawingml/2006/main" noGrp="1"/>
          </p:cNvSpPr>
          <p:nvPr/>
        </p:nvSpPr>
        <p:spPr>
          <a:xfrm xmlns:a="http://schemas.openxmlformats.org/drawingml/2006/main">
            <a:off x="6705600" y="2628900"/>
            <a:ext cx="1295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575" b="1">
                <a:solidFill>
                  <a:srgbClr val="17202A"/>
                </a:solidFill>
                <a:latin typeface="Aptos"/>
                <a:ea typeface="Aptos"/>
                <a:cs typeface="Aptos"/>
              </a:defRPr>
            </a:pPr>
            <a:r>
              <a:rPr sz="1575" b="1">
                <a:solidFill>
                  <a:srgbClr val="17202A"/>
                </a:solidFill>
                <a:latin typeface="Aptos"/>
                <a:ea typeface="Aptos"/>
                <a:cs typeface="Aptos"/>
              </a:rPr>
              <a:t>Extraktion</a:t>
            </a:r>
          </a:p>
        </p:txBody>
      </p:sp>
      <p:sp>
        <p:nvSpPr>
          <p:cNvPr id="24" name="flow-4-sub">
            <a:extLst xmlns:a="http://schemas.openxmlformats.org/drawingml/2006/main">
              <a:ext uri="{FF2B5EF4-FFF2-40B4-BE49-F238E27FC236}">
                <a16:creationId xmlns:a16="http://schemas.microsoft.com/office/drawing/2014/main" id="{CDC6093E-F979-4A5D-B9D8-C43852892314}"/>
              </a:ext>
            </a:extLst>
          </p:cNvPr>
          <p:cNvSpPr>
            <a:spLocks xmlns:a="http://schemas.openxmlformats.org/drawingml/2006/main" noGrp="1"/>
          </p:cNvSpPr>
          <p:nvPr/>
        </p:nvSpPr>
        <p:spPr>
          <a:xfrm xmlns:a="http://schemas.openxmlformats.org/drawingml/2006/main">
            <a:off x="6705600" y="2952750"/>
            <a:ext cx="12954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200" b="0">
                <a:solidFill>
                  <a:srgbClr val="5B6470"/>
                </a:solidFill>
                <a:latin typeface="Aptos"/>
                <a:ea typeface="Aptos"/>
                <a:cs typeface="Aptos"/>
              </a:defRPr>
            </a:pPr>
            <a:r>
              <a:rPr sz="1200" b="0">
                <a:solidFill>
                  <a:srgbClr val="5B6470"/>
                </a:solidFill>
                <a:latin typeface="Aptos"/>
                <a:ea typeface="Aptos"/>
                <a:cs typeface="Aptos"/>
              </a:rPr>
              <a:t>Titel und Beschreibung lesen</a:t>
            </a:r>
          </a:p>
        </p:txBody>
      </p:sp>
      <p:sp>
        <p:nvSpPr>
          <p:cNvPr id="25" name="flow-5-box">
            <a:extLst xmlns:a="http://schemas.openxmlformats.org/drawingml/2006/main">
              <a:ext uri="{FF2B5EF4-FFF2-40B4-BE49-F238E27FC236}">
                <a16:creationId xmlns:a16="http://schemas.microsoft.com/office/drawing/2014/main" id="{E1372123-8596-4072-AC7F-6D8C69875280}"/>
              </a:ext>
            </a:extLst>
          </p:cNvPr>
          <p:cNvSpPr>
            <a:spLocks xmlns:a="http://schemas.openxmlformats.org/drawingml/2006/main" noGrp="1"/>
          </p:cNvSpPr>
          <p:nvPr/>
        </p:nvSpPr>
        <p:spPr>
          <a:xfrm xmlns:a="http://schemas.openxmlformats.org/drawingml/2006/main">
            <a:off x="8477250" y="2457450"/>
            <a:ext cx="1600200" cy="1371600"/>
          </a:xfrm>
          <a:prstGeom xmlns:a="http://schemas.openxmlformats.org/drawingml/2006/main" prst="rect">
            <a:avLst/>
          </a:prstGeom>
          <a:solidFill xmlns:a="http://schemas.openxmlformats.org/drawingml/2006/main">
            <a:srgbClr val="FFFFFF"/>
          </a:solidFill>
          <a:ln xmlns:a="http://schemas.openxmlformats.org/drawingml/2006/main" w="9525">
            <a:solidFill>
              <a:srgbClr val="1F6F78"/>
            </a:solidFill>
            <a:prstDash val="solid"/>
          </a:ln>
        </p:spPr>
      </p:sp>
      <p:sp>
        <p:nvSpPr>
          <p:cNvPr id="26" name="flow-5-accent">
            <a:extLst xmlns:a="http://schemas.openxmlformats.org/drawingml/2006/main">
              <a:ext uri="{FF2B5EF4-FFF2-40B4-BE49-F238E27FC236}">
                <a16:creationId xmlns:a16="http://schemas.microsoft.com/office/drawing/2014/main" id="{BED1E8FD-C665-43B3-96C4-2669AD39193D}"/>
              </a:ext>
            </a:extLst>
          </p:cNvPr>
          <p:cNvSpPr>
            <a:spLocks xmlns:a="http://schemas.openxmlformats.org/drawingml/2006/main" noGrp="1"/>
          </p:cNvSpPr>
          <p:nvPr/>
        </p:nvSpPr>
        <p:spPr>
          <a:xfrm xmlns:a="http://schemas.openxmlformats.org/drawingml/2006/main">
            <a:off x="8477250" y="2457450"/>
            <a:ext cx="1600200" cy="47625"/>
          </a:xfrm>
          <a:prstGeom xmlns:a="http://schemas.openxmlformats.org/drawingml/2006/main" prst="rect">
            <a:avLst/>
          </a:prstGeom>
          <a:solidFill xmlns:a="http://schemas.openxmlformats.org/drawingml/2006/main">
            <a:srgbClr val="1F6F78"/>
          </a:solidFill>
          <a:ln xmlns:a="http://schemas.openxmlformats.org/drawingml/2006/main" w="0">
            <a:solidFill>
              <a:srgbClr val="1F6F78"/>
            </a:solidFill>
            <a:prstDash val="solid"/>
          </a:ln>
        </p:spPr>
      </p:sp>
      <p:sp>
        <p:nvSpPr>
          <p:cNvPr id="27" name="flow-5-label">
            <a:extLst xmlns:a="http://schemas.openxmlformats.org/drawingml/2006/main">
              <a:ext uri="{FF2B5EF4-FFF2-40B4-BE49-F238E27FC236}">
                <a16:creationId xmlns:a16="http://schemas.microsoft.com/office/drawing/2014/main" id="{FC4008A3-DC27-4030-BB49-84A047B501B8}"/>
              </a:ext>
            </a:extLst>
          </p:cNvPr>
          <p:cNvSpPr>
            <a:spLocks xmlns:a="http://schemas.openxmlformats.org/drawingml/2006/main" noGrp="1"/>
          </p:cNvSpPr>
          <p:nvPr/>
        </p:nvSpPr>
        <p:spPr>
          <a:xfrm xmlns:a="http://schemas.openxmlformats.org/drawingml/2006/main">
            <a:off x="8629650" y="2628900"/>
            <a:ext cx="1295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575" b="1">
                <a:solidFill>
                  <a:srgbClr val="17202A"/>
                </a:solidFill>
                <a:latin typeface="Aptos"/>
                <a:ea typeface="Aptos"/>
                <a:cs typeface="Aptos"/>
              </a:defRPr>
            </a:pPr>
            <a:r>
              <a:rPr sz="1575" b="1">
                <a:solidFill>
                  <a:srgbClr val="17202A"/>
                </a:solidFill>
                <a:latin typeface="Aptos"/>
                <a:ea typeface="Aptos"/>
                <a:cs typeface="Aptos"/>
              </a:rPr>
              <a:t>Update</a:t>
            </a:r>
          </a:p>
        </p:txBody>
      </p:sp>
      <p:sp>
        <p:nvSpPr>
          <p:cNvPr id="28" name="flow-5-sub">
            <a:extLst xmlns:a="http://schemas.openxmlformats.org/drawingml/2006/main">
              <a:ext uri="{FF2B5EF4-FFF2-40B4-BE49-F238E27FC236}">
                <a16:creationId xmlns:a16="http://schemas.microsoft.com/office/drawing/2014/main" id="{2EA9AFF5-17C0-44C6-8020-F27733B33332}"/>
              </a:ext>
            </a:extLst>
          </p:cNvPr>
          <p:cNvSpPr>
            <a:spLocks xmlns:a="http://schemas.openxmlformats.org/drawingml/2006/main" noGrp="1"/>
          </p:cNvSpPr>
          <p:nvPr/>
        </p:nvSpPr>
        <p:spPr>
          <a:xfrm xmlns:a="http://schemas.openxmlformats.org/drawingml/2006/main">
            <a:off x="8629650" y="2952750"/>
            <a:ext cx="12954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200" b="0">
                <a:solidFill>
                  <a:srgbClr val="5B6470"/>
                </a:solidFill>
                <a:latin typeface="Aptos"/>
                <a:ea typeface="Aptos"/>
                <a:cs typeface="Aptos"/>
              </a:defRPr>
            </a:pPr>
            <a:r>
              <a:rPr sz="1200" b="0">
                <a:solidFill>
                  <a:srgbClr val="5B6470"/>
                </a:solidFill>
                <a:latin typeface="Aptos"/>
                <a:ea typeface="Aptos"/>
                <a:cs typeface="Aptos"/>
              </a:rPr>
              <a:t>GitLab-Issue aktualisieren</a:t>
            </a:r>
          </a:p>
        </p:txBody>
      </p:sp>
      <p:sp>
        <p:nvSpPr>
          <p:cNvPr id="29" name="flow-6-box">
            <a:extLst xmlns:a="http://schemas.openxmlformats.org/drawingml/2006/main">
              <a:ext uri="{FF2B5EF4-FFF2-40B4-BE49-F238E27FC236}">
                <a16:creationId xmlns:a16="http://schemas.microsoft.com/office/drawing/2014/main" id="{FEB51DFC-A128-4AA7-8ECA-EC68CF7617DD}"/>
              </a:ext>
            </a:extLst>
          </p:cNvPr>
          <p:cNvSpPr>
            <a:spLocks xmlns:a="http://schemas.openxmlformats.org/drawingml/2006/main" noGrp="1"/>
          </p:cNvSpPr>
          <p:nvPr/>
        </p:nvSpPr>
        <p:spPr>
          <a:xfrm xmlns:a="http://schemas.openxmlformats.org/drawingml/2006/main">
            <a:off x="10401300" y="2457450"/>
            <a:ext cx="1600200" cy="1371600"/>
          </a:xfrm>
          <a:prstGeom xmlns:a="http://schemas.openxmlformats.org/drawingml/2006/main" prst="rect">
            <a:avLst/>
          </a:prstGeom>
          <a:solidFill xmlns:a="http://schemas.openxmlformats.org/drawingml/2006/main">
            <a:srgbClr val="FFFFFF"/>
          </a:solidFill>
          <a:ln xmlns:a="http://schemas.openxmlformats.org/drawingml/2006/main" w="9525">
            <a:solidFill>
              <a:srgbClr val="C26A2E"/>
            </a:solidFill>
            <a:prstDash val="solid"/>
          </a:ln>
        </p:spPr>
      </p:sp>
      <p:sp>
        <p:nvSpPr>
          <p:cNvPr id="30" name="flow-6-accent">
            <a:extLst xmlns:a="http://schemas.openxmlformats.org/drawingml/2006/main">
              <a:ext uri="{FF2B5EF4-FFF2-40B4-BE49-F238E27FC236}">
                <a16:creationId xmlns:a16="http://schemas.microsoft.com/office/drawing/2014/main" id="{20EB816A-2AEA-45D3-9DBF-772ED208D970}"/>
              </a:ext>
            </a:extLst>
          </p:cNvPr>
          <p:cNvSpPr>
            <a:spLocks xmlns:a="http://schemas.openxmlformats.org/drawingml/2006/main" noGrp="1"/>
          </p:cNvSpPr>
          <p:nvPr/>
        </p:nvSpPr>
        <p:spPr>
          <a:xfrm xmlns:a="http://schemas.openxmlformats.org/drawingml/2006/main">
            <a:off x="10401300" y="2457450"/>
            <a:ext cx="1600200" cy="47625"/>
          </a:xfrm>
          <a:prstGeom xmlns:a="http://schemas.openxmlformats.org/drawingml/2006/main" prst="rect">
            <a:avLst/>
          </a:prstGeom>
          <a:solidFill xmlns:a="http://schemas.openxmlformats.org/drawingml/2006/main">
            <a:srgbClr val="C26A2E"/>
          </a:solidFill>
          <a:ln xmlns:a="http://schemas.openxmlformats.org/drawingml/2006/main" w="0">
            <a:solidFill>
              <a:srgbClr val="C26A2E"/>
            </a:solidFill>
            <a:prstDash val="solid"/>
          </a:ln>
        </p:spPr>
      </p:sp>
      <p:sp>
        <p:nvSpPr>
          <p:cNvPr id="31" name="flow-6-label">
            <a:extLst xmlns:a="http://schemas.openxmlformats.org/drawingml/2006/main">
              <a:ext uri="{FF2B5EF4-FFF2-40B4-BE49-F238E27FC236}">
                <a16:creationId xmlns:a16="http://schemas.microsoft.com/office/drawing/2014/main" id="{0B1D1589-9525-4293-8E3A-634C03DB2953}"/>
              </a:ext>
            </a:extLst>
          </p:cNvPr>
          <p:cNvSpPr>
            <a:spLocks xmlns:a="http://schemas.openxmlformats.org/drawingml/2006/main" noGrp="1"/>
          </p:cNvSpPr>
          <p:nvPr/>
        </p:nvSpPr>
        <p:spPr>
          <a:xfrm xmlns:a="http://schemas.openxmlformats.org/drawingml/2006/main">
            <a:off x="10553700" y="2628900"/>
            <a:ext cx="1295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575" b="1">
                <a:solidFill>
                  <a:srgbClr val="17202A"/>
                </a:solidFill>
                <a:latin typeface="Aptos"/>
                <a:ea typeface="Aptos"/>
                <a:cs typeface="Aptos"/>
              </a:defRPr>
            </a:pPr>
            <a:r>
              <a:rPr sz="1575" b="1">
                <a:solidFill>
                  <a:srgbClr val="17202A"/>
                </a:solidFill>
                <a:latin typeface="Aptos"/>
                <a:ea typeface="Aptos"/>
                <a:cs typeface="Aptos"/>
              </a:rPr>
              <a:t>Cleanup</a:t>
            </a:r>
          </a:p>
        </p:txBody>
      </p:sp>
      <p:sp>
        <p:nvSpPr>
          <p:cNvPr id="32" name="flow-6-sub">
            <a:extLst xmlns:a="http://schemas.openxmlformats.org/drawingml/2006/main">
              <a:ext uri="{FF2B5EF4-FFF2-40B4-BE49-F238E27FC236}">
                <a16:creationId xmlns:a16="http://schemas.microsoft.com/office/drawing/2014/main" id="{87A76FBC-EEDD-48BF-B3CB-CCBD623949FB}"/>
              </a:ext>
            </a:extLst>
          </p:cNvPr>
          <p:cNvSpPr>
            <a:spLocks xmlns:a="http://schemas.openxmlformats.org/drawingml/2006/main" noGrp="1"/>
          </p:cNvSpPr>
          <p:nvPr/>
        </p:nvSpPr>
        <p:spPr>
          <a:xfrm xmlns:a="http://schemas.openxmlformats.org/drawingml/2006/main">
            <a:off x="10553700" y="2952750"/>
            <a:ext cx="12954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200" b="0">
                <a:solidFill>
                  <a:srgbClr val="5B6470"/>
                </a:solidFill>
                <a:latin typeface="Aptos"/>
                <a:ea typeface="Aptos"/>
                <a:cs typeface="Aptos"/>
              </a:defRPr>
            </a:pPr>
            <a:r>
              <a:rPr sz="1200" b="0">
                <a:solidFill>
                  <a:srgbClr val="5B6470"/>
                </a:solidFill>
                <a:latin typeface="Aptos"/>
                <a:ea typeface="Aptos"/>
                <a:cs typeface="Aptos"/>
              </a:rPr>
              <a:t>Hilfskommentare löschen</a:t>
            </a:r>
          </a:p>
        </p:txBody>
      </p:sp>
      <p:sp>
        <p:nvSpPr>
          <p:cNvPr id="33" name="flow-footnote">
            <a:extLst xmlns:a="http://schemas.openxmlformats.org/drawingml/2006/main">
              <a:ext uri="{FF2B5EF4-FFF2-40B4-BE49-F238E27FC236}">
                <a16:creationId xmlns:a16="http://schemas.microsoft.com/office/drawing/2014/main" id="{EAE951B9-00F2-48FD-99C0-0998EB435937}"/>
              </a:ext>
            </a:extLst>
          </p:cNvPr>
          <p:cNvSpPr>
            <a:spLocks xmlns:a="http://schemas.openxmlformats.org/drawingml/2006/main" noGrp="1"/>
          </p:cNvSpPr>
          <p:nvPr/>
        </p:nvSpPr>
        <p:spPr>
          <a:xfrm xmlns:a="http://schemas.openxmlformats.org/drawingml/2006/main">
            <a:off x="1352550" y="4591050"/>
            <a:ext cx="9486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1575" b="0">
                <a:solidFill>
                  <a:srgbClr val="5B6470"/>
                </a:solidFill>
                <a:latin typeface="Aptos"/>
                <a:ea typeface="Aptos"/>
                <a:cs typeface="Aptos"/>
              </a:defRPr>
            </a:pPr>
            <a:r>
              <a:rPr sz="1575" b="0">
                <a:solidFill>
                  <a:srgbClr val="5B6470"/>
                </a:solidFill>
                <a:latin typeface="Aptos"/>
                <a:ea typeface="Aptos"/>
                <a:cs typeface="Aptos"/>
              </a:rPr>
              <a:t>Die Übernahme nutzt explizite Marker im Vorschlagskommentar; ohne aktiven Vorschlag wird kein Ticket verändert.</a:t>
            </a:r>
          </a:p>
        </p:txBody>
      </p:sp>
      <p:sp>
        <p:nvSpPr>
          <p:cNvPr id="34" name="footer-left-5">
            <a:extLst xmlns:a="http://schemas.openxmlformats.org/drawingml/2006/main">
              <a:ext uri="{FF2B5EF4-FFF2-40B4-BE49-F238E27FC236}">
                <a16:creationId xmlns:a16="http://schemas.microsoft.com/office/drawing/2014/main" id="{791D8F8A-96BA-4144-BC48-105EB58D67AC}"/>
              </a:ext>
            </a:extLst>
          </p:cNvPr>
          <p:cNvSpPr>
            <a:spLocks xmlns:a="http://schemas.openxmlformats.org/drawingml/2006/main" noGrp="1"/>
          </p:cNvSpPr>
          <p:nvPr/>
        </p:nvSpPr>
        <p:spPr>
          <a:xfrm xmlns:a="http://schemas.openxmlformats.org/drawingml/2006/main">
            <a:off x="723900" y="63436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75" b="0">
                <a:solidFill>
                  <a:srgbClr val="5B6470"/>
                </a:solidFill>
                <a:latin typeface="Aptos"/>
                <a:ea typeface="Aptos"/>
                <a:cs typeface="Aptos"/>
              </a:defRPr>
            </a:pPr>
            <a:r>
              <a:rPr sz="975" b="0">
                <a:solidFill>
                  <a:srgbClr val="5B6470"/>
                </a:solidFill>
                <a:latin typeface="Aptos"/>
                <a:ea typeface="Aptos"/>
                <a:cs typeface="Aptos"/>
              </a:rPr>
              <a:t>Projektvorstellung für den Zweitgutachter</a:t>
            </a:r>
          </a:p>
        </p:txBody>
      </p:sp>
      <p:sp>
        <p:nvSpPr>
          <p:cNvPr id="35" name="footer-right-5">
            <a:extLst xmlns:a="http://schemas.openxmlformats.org/drawingml/2006/main">
              <a:ext uri="{FF2B5EF4-FFF2-40B4-BE49-F238E27FC236}">
                <a16:creationId xmlns:a16="http://schemas.microsoft.com/office/drawing/2014/main" id="{32B74C9F-A2C5-46D6-9F6B-59EA19099277}"/>
              </a:ext>
            </a:extLst>
          </p:cNvPr>
          <p:cNvSpPr>
            <a:spLocks xmlns:a="http://schemas.openxmlformats.org/drawingml/2006/main" noGrp="1"/>
          </p:cNvSpPr>
          <p:nvPr/>
        </p:nvSpPr>
        <p:spPr>
          <a:xfrm xmlns:a="http://schemas.openxmlformats.org/drawingml/2006/main">
            <a:off x="10934700" y="6286500"/>
            <a:ext cx="533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1200" b="1">
                <a:solidFill>
                  <a:srgbClr val="5B6470"/>
                </a:solidFill>
                <a:latin typeface="Aptos"/>
                <a:ea typeface="Aptos"/>
                <a:cs typeface="Aptos"/>
              </a:defRPr>
            </a:pPr>
            <a:r>
              <a:rPr sz="1200" b="1">
                <a:solidFill>
                  <a:srgbClr val="5B6470"/>
                </a:solidFill>
                <a:latin typeface="Aptos"/>
                <a:ea typeface="Aptos"/>
                <a:cs typeface="Aptos"/>
              </a:rPr>
              <a:t>12</a:t>
            </a:r>
          </a:p>
        </p:txBody>
      </p:sp>
    </p:spTree>
    <p:extLst>
      <p:ext uri="{BB962C8B-B14F-4D97-AF65-F5344CB8AC3E}">
        <p14:creationId xmlns:p14="http://schemas.microsoft.com/office/powerpoint/2010/main" val="39167445"/>
      </p:ext>
    </p:extLst>
  </p:cSld>
</p:sld>
</file>

<file path=ppt/slides/slide13.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 name="kicker-8">
            <a:extLst xmlns:a="http://schemas.openxmlformats.org/drawingml/2006/main">
              <a:ext uri="{FF2B5EF4-FFF2-40B4-BE49-F238E27FC236}">
                <a16:creationId xmlns:a16="http://schemas.microsoft.com/office/drawing/2014/main" id="{526128D0-C7A9-424A-AE64-4E5565618BC0}"/>
              </a:ext>
            </a:extLst>
          </p:cNvPr>
          <p:cNvSpPr>
            <a:spLocks xmlns:a="http://schemas.openxmlformats.org/drawingml/2006/main" noGrp="1"/>
          </p:cNvSpPr>
          <p:nvPr/>
        </p:nvSpPr>
        <p:spPr>
          <a:xfrm xmlns:a="http://schemas.openxmlformats.org/drawingml/2006/main">
            <a:off x="723900" y="457200"/>
            <a:ext cx="723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125" b="1">
                <a:solidFill>
                  <a:srgbClr val="1F6F78"/>
                </a:solidFill>
                <a:latin typeface="Aptos"/>
                <a:ea typeface="Aptos"/>
                <a:cs typeface="Aptos"/>
              </a:defRPr>
            </a:pPr>
            <a:r>
              <a:rPr sz="1125" b="1">
                <a:solidFill>
                  <a:srgbClr val="1F6F78"/>
                </a:solidFill>
                <a:latin typeface="Aptos"/>
                <a:ea typeface="Aptos"/>
                <a:cs typeface="Aptos"/>
              </a:rPr>
              <a:t>GITLAB DEV-ASSIST</a:t>
            </a:r>
          </a:p>
        </p:txBody>
      </p:sp>
      <p:sp>
        <p:nvSpPr>
          <p:cNvPr id="2" name="title-8">
            <a:extLst xmlns:a="http://schemas.openxmlformats.org/drawingml/2006/main">
              <a:ext uri="{FF2B5EF4-FFF2-40B4-BE49-F238E27FC236}">
                <a16:creationId xmlns:a16="http://schemas.microsoft.com/office/drawing/2014/main" id="{36A34CC7-05FF-4C07-86BB-8B1C70671DA4}"/>
              </a:ext>
            </a:extLst>
          </p:cNvPr>
          <p:cNvSpPr>
            <a:spLocks xmlns:a="http://schemas.openxmlformats.org/drawingml/2006/main" noGrp="1"/>
          </p:cNvSpPr>
          <p:nvPr/>
        </p:nvSpPr>
        <p:spPr>
          <a:xfrm xmlns:a="http://schemas.openxmlformats.org/drawingml/2006/main">
            <a:off x="723900" y="800100"/>
            <a:ext cx="8763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850" b="1">
                <a:solidFill>
                  <a:srgbClr val="17202A"/>
                </a:solidFill>
                <a:latin typeface="Aptos Display"/>
                <a:ea typeface="Aptos Display"/>
                <a:cs typeface="Aptos Display"/>
              </a:defRPr>
            </a:pPr>
            <a:r>
              <a:rPr sz="2850" b="1">
                <a:solidFill>
                  <a:srgbClr val="17202A"/>
                </a:solidFill>
                <a:latin typeface="Aptos Display"/>
                <a:ea typeface="Aptos Display"/>
                <a:cs typeface="Aptos Display"/>
              </a:rPr>
              <a:t>Automatisierte Teststrategie</a:t>
            </a:r>
          </a:p>
        </p:txBody>
      </p:sp>
      <p:sp>
        <p:nvSpPr>
          <p:cNvPr id="3" name="title-rule-8">
            <a:extLst xmlns:a="http://schemas.openxmlformats.org/drawingml/2006/main">
              <a:ext uri="{FF2B5EF4-FFF2-40B4-BE49-F238E27FC236}">
                <a16:creationId xmlns:a16="http://schemas.microsoft.com/office/drawing/2014/main" id="{218AF88E-2565-444B-8336-4E53E1238A57}"/>
              </a:ext>
            </a:extLst>
          </p:cNvPr>
          <p:cNvSpPr>
            <a:spLocks xmlns:a="http://schemas.openxmlformats.org/drawingml/2006/main" noGrp="1"/>
          </p:cNvSpPr>
          <p:nvPr/>
        </p:nvSpPr>
        <p:spPr>
          <a:xfrm xmlns:a="http://schemas.openxmlformats.org/drawingml/2006/main">
            <a:off x="723900" y="1466850"/>
            <a:ext cx="10744200" cy="19050"/>
          </a:xfrm>
          <a:prstGeom xmlns:a="http://schemas.openxmlformats.org/drawingml/2006/main" prst="rect">
            <a:avLst/>
          </a:prstGeom>
          <a:solidFill xmlns:a="http://schemas.openxmlformats.org/drawingml/2006/main">
            <a:srgbClr val="E6EBF1"/>
          </a:solidFill>
          <a:ln xmlns:a="http://schemas.openxmlformats.org/drawingml/2006/main" w="0">
            <a:solidFill>
              <a:srgbClr val="E6EBF1"/>
            </a:solidFill>
            <a:prstDash val="solid"/>
          </a:ln>
        </p:spPr>
      </p:sp>
      <p:sp>
        <p:nvSpPr>
          <p:cNvPr id="4" name="test-auto-label-rule">
            <a:extLst xmlns:a="http://schemas.openxmlformats.org/drawingml/2006/main">
              <a:ext uri="{FF2B5EF4-FFF2-40B4-BE49-F238E27FC236}">
                <a16:creationId xmlns:a16="http://schemas.microsoft.com/office/drawing/2014/main" id="{F709105F-5D9F-4403-A508-B67A59245C1C}"/>
              </a:ext>
            </a:extLst>
          </p:cNvPr>
          <p:cNvSpPr>
            <a:spLocks xmlns:a="http://schemas.openxmlformats.org/drawingml/2006/main" noGrp="1"/>
          </p:cNvSpPr>
          <p:nvPr/>
        </p:nvSpPr>
        <p:spPr>
          <a:xfrm xmlns:a="http://schemas.openxmlformats.org/drawingml/2006/main">
            <a:off x="876300" y="2019300"/>
            <a:ext cx="266700" cy="38100"/>
          </a:xfrm>
          <a:prstGeom xmlns:a="http://schemas.openxmlformats.org/drawingml/2006/main" prst="rect">
            <a:avLst/>
          </a:prstGeom>
          <a:solidFill xmlns:a="http://schemas.openxmlformats.org/drawingml/2006/main">
            <a:srgbClr val="1F6F78"/>
          </a:solidFill>
          <a:ln xmlns:a="http://schemas.openxmlformats.org/drawingml/2006/main" w="0">
            <a:solidFill>
              <a:srgbClr val="1F6F78"/>
            </a:solidFill>
            <a:prstDash val="solid"/>
          </a:ln>
        </p:spPr>
      </p:sp>
      <p:sp>
        <p:nvSpPr>
          <p:cNvPr id="5" name="test-auto-label">
            <a:extLst xmlns:a="http://schemas.openxmlformats.org/drawingml/2006/main">
              <a:ext uri="{FF2B5EF4-FFF2-40B4-BE49-F238E27FC236}">
                <a16:creationId xmlns:a16="http://schemas.microsoft.com/office/drawing/2014/main" id="{1044CEE6-4BAF-44E8-89D2-8A772F559BED}"/>
              </a:ext>
            </a:extLst>
          </p:cNvPr>
          <p:cNvSpPr>
            <a:spLocks xmlns:a="http://schemas.openxmlformats.org/drawingml/2006/main" noGrp="1"/>
          </p:cNvSpPr>
          <p:nvPr/>
        </p:nvSpPr>
        <p:spPr>
          <a:xfrm xmlns:a="http://schemas.openxmlformats.org/drawingml/2006/main">
            <a:off x="1295400" y="1943100"/>
            <a:ext cx="400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500" b="1">
                <a:solidFill>
                  <a:srgbClr val="17202A"/>
                </a:solidFill>
                <a:latin typeface="Aptos"/>
                <a:ea typeface="Aptos"/>
                <a:cs typeface="Aptos"/>
              </a:defRPr>
            </a:pPr>
            <a:r>
              <a:rPr sz="1500" b="1">
                <a:solidFill>
                  <a:srgbClr val="17202A"/>
                </a:solidFill>
                <a:latin typeface="Aptos"/>
                <a:ea typeface="Aptos"/>
                <a:cs typeface="Aptos"/>
              </a:rPr>
              <a:t>Unit-Tests</a:t>
            </a:r>
          </a:p>
        </p:txBody>
      </p:sp>
      <p:sp>
        <p:nvSpPr>
          <p:cNvPr id="6" name="test-auto-dot-1">
            <a:extLst xmlns:a="http://schemas.openxmlformats.org/drawingml/2006/main">
              <a:ext uri="{FF2B5EF4-FFF2-40B4-BE49-F238E27FC236}">
                <a16:creationId xmlns:a16="http://schemas.microsoft.com/office/drawing/2014/main" id="{25CA0A7D-938E-4053-8734-F327F95B03F9}"/>
              </a:ext>
            </a:extLst>
          </p:cNvPr>
          <p:cNvSpPr>
            <a:spLocks xmlns:a="http://schemas.openxmlformats.org/drawingml/2006/main" noGrp="1"/>
          </p:cNvSpPr>
          <p:nvPr/>
        </p:nvSpPr>
        <p:spPr>
          <a:xfrm xmlns:a="http://schemas.openxmlformats.org/drawingml/2006/main">
            <a:off x="933450" y="2581275"/>
            <a:ext cx="95250" cy="95250"/>
          </a:xfrm>
          <a:prstGeom xmlns:a="http://schemas.openxmlformats.org/drawingml/2006/main" prst="ellipse">
            <a:avLst/>
          </a:prstGeom>
          <a:solidFill xmlns:a="http://schemas.openxmlformats.org/drawingml/2006/main">
            <a:srgbClr val="1F6F78"/>
          </a:solidFill>
          <a:ln xmlns:a="http://schemas.openxmlformats.org/drawingml/2006/main" w="0">
            <a:solidFill>
              <a:srgbClr val="1F6F78"/>
            </a:solidFill>
            <a:prstDash val="solid"/>
          </a:ln>
        </p:spPr>
      </p:sp>
      <p:sp>
        <p:nvSpPr>
          <p:cNvPr id="7" name="test-auto-text-1">
            <a:extLst xmlns:a="http://schemas.openxmlformats.org/drawingml/2006/main">
              <a:ext uri="{FF2B5EF4-FFF2-40B4-BE49-F238E27FC236}">
                <a16:creationId xmlns:a16="http://schemas.microsoft.com/office/drawing/2014/main" id="{F5A4E41A-302E-4F7B-ABE9-C21544ECC5C6}"/>
              </a:ext>
            </a:extLst>
          </p:cNvPr>
          <p:cNvSpPr>
            <a:spLocks xmlns:a="http://schemas.openxmlformats.org/drawingml/2006/main" noGrp="1"/>
          </p:cNvSpPr>
          <p:nvPr/>
        </p:nvSpPr>
        <p:spPr>
          <a:xfrm xmlns:a="http://schemas.openxmlformats.org/drawingml/2006/main">
            <a:off x="1162050" y="2495550"/>
            <a:ext cx="46291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425" b="0">
                <a:solidFill>
                  <a:srgbClr val="17202A"/>
                </a:solidFill>
                <a:latin typeface="Aptos"/>
                <a:ea typeface="Aptos"/>
                <a:cs typeface="Aptos"/>
              </a:defRPr>
            </a:pPr>
            <a:r>
              <a:rPr sz="1425" b="0">
                <a:solidFill>
                  <a:srgbClr val="17202A"/>
                </a:solidFill>
                <a:latin typeface="Aptos"/>
                <a:ea typeface="Aptos"/>
                <a:cs typeface="Aptos"/>
              </a:rPr>
              <a:t>Mention- und Publish-Erkennung inklusive Varianten absichern.</a:t>
            </a:r>
          </a:p>
        </p:txBody>
      </p:sp>
      <p:sp>
        <p:nvSpPr>
          <p:cNvPr id="8" name="test-auto-dot-2">
            <a:extLst xmlns:a="http://schemas.openxmlformats.org/drawingml/2006/main">
              <a:ext uri="{FF2B5EF4-FFF2-40B4-BE49-F238E27FC236}">
                <a16:creationId xmlns:a16="http://schemas.microsoft.com/office/drawing/2014/main" id="{70FCCFA2-9530-4575-B8BE-F799B4742425}"/>
              </a:ext>
            </a:extLst>
          </p:cNvPr>
          <p:cNvSpPr>
            <a:spLocks xmlns:a="http://schemas.openxmlformats.org/drawingml/2006/main" noGrp="1"/>
          </p:cNvSpPr>
          <p:nvPr/>
        </p:nvSpPr>
        <p:spPr>
          <a:xfrm xmlns:a="http://schemas.openxmlformats.org/drawingml/2006/main">
            <a:off x="933450" y="3228975"/>
            <a:ext cx="95250" cy="95250"/>
          </a:xfrm>
          <a:prstGeom xmlns:a="http://schemas.openxmlformats.org/drawingml/2006/main" prst="ellipse">
            <a:avLst/>
          </a:prstGeom>
          <a:solidFill xmlns:a="http://schemas.openxmlformats.org/drawingml/2006/main">
            <a:srgbClr val="1F6F78"/>
          </a:solidFill>
          <a:ln xmlns:a="http://schemas.openxmlformats.org/drawingml/2006/main" w="0">
            <a:solidFill>
              <a:srgbClr val="1F6F78"/>
            </a:solidFill>
            <a:prstDash val="solid"/>
          </a:ln>
        </p:spPr>
      </p:sp>
      <p:sp>
        <p:nvSpPr>
          <p:cNvPr id="9" name="test-auto-text-2">
            <a:extLst xmlns:a="http://schemas.openxmlformats.org/drawingml/2006/main">
              <a:ext uri="{FF2B5EF4-FFF2-40B4-BE49-F238E27FC236}">
                <a16:creationId xmlns:a16="http://schemas.microsoft.com/office/drawing/2014/main" id="{97D42042-EDC3-4C6C-B2E9-B5708AFAA057}"/>
              </a:ext>
            </a:extLst>
          </p:cNvPr>
          <p:cNvSpPr>
            <a:spLocks xmlns:a="http://schemas.openxmlformats.org/drawingml/2006/main" noGrp="1"/>
          </p:cNvSpPr>
          <p:nvPr/>
        </p:nvSpPr>
        <p:spPr>
          <a:xfrm xmlns:a="http://schemas.openxmlformats.org/drawingml/2006/main">
            <a:off x="1162050" y="3143250"/>
            <a:ext cx="46291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425" b="0">
                <a:solidFill>
                  <a:srgbClr val="17202A"/>
                </a:solidFill>
                <a:latin typeface="Aptos"/>
                <a:ea typeface="Aptos"/>
                <a:cs typeface="Aptos"/>
              </a:defRPr>
            </a:pPr>
            <a:r>
              <a:rPr sz="1425" b="0">
                <a:solidFill>
                  <a:srgbClr val="17202A"/>
                </a:solidFill>
                <a:latin typeface="Aptos"/>
                <a:ea typeface="Aptos"/>
                <a:cs typeface="Aptos"/>
              </a:rPr>
              <a:t>Agent-Parsing: valides JSON, Codeblöcke und ungültige Antworten testen.</a:t>
            </a:r>
          </a:p>
        </p:txBody>
      </p:sp>
      <p:sp>
        <p:nvSpPr>
          <p:cNvPr id="10" name="test-auto-dot-3">
            <a:extLst xmlns:a="http://schemas.openxmlformats.org/drawingml/2006/main">
              <a:ext uri="{FF2B5EF4-FFF2-40B4-BE49-F238E27FC236}">
                <a16:creationId xmlns:a16="http://schemas.microsoft.com/office/drawing/2014/main" id="{074FF47D-8B80-4917-8481-D1BE6404235E}"/>
              </a:ext>
            </a:extLst>
          </p:cNvPr>
          <p:cNvSpPr>
            <a:spLocks xmlns:a="http://schemas.openxmlformats.org/drawingml/2006/main" noGrp="1"/>
          </p:cNvSpPr>
          <p:nvPr/>
        </p:nvSpPr>
        <p:spPr>
          <a:xfrm xmlns:a="http://schemas.openxmlformats.org/drawingml/2006/main">
            <a:off x="933450" y="3876675"/>
            <a:ext cx="95250" cy="95250"/>
          </a:xfrm>
          <a:prstGeom xmlns:a="http://schemas.openxmlformats.org/drawingml/2006/main" prst="ellipse">
            <a:avLst/>
          </a:prstGeom>
          <a:solidFill xmlns:a="http://schemas.openxmlformats.org/drawingml/2006/main">
            <a:srgbClr val="1F6F78"/>
          </a:solidFill>
          <a:ln xmlns:a="http://schemas.openxmlformats.org/drawingml/2006/main" w="0">
            <a:solidFill>
              <a:srgbClr val="1F6F78"/>
            </a:solidFill>
            <a:prstDash val="solid"/>
          </a:ln>
        </p:spPr>
      </p:sp>
      <p:sp>
        <p:nvSpPr>
          <p:cNvPr id="11" name="test-auto-text-3">
            <a:extLst xmlns:a="http://schemas.openxmlformats.org/drawingml/2006/main">
              <a:ext uri="{FF2B5EF4-FFF2-40B4-BE49-F238E27FC236}">
                <a16:creationId xmlns:a16="http://schemas.microsoft.com/office/drawing/2014/main" id="{BBD81222-59DD-44DA-9C3E-D63DC525BE1B}"/>
              </a:ext>
            </a:extLst>
          </p:cNvPr>
          <p:cNvSpPr>
            <a:spLocks xmlns:a="http://schemas.openxmlformats.org/drawingml/2006/main" noGrp="1"/>
          </p:cNvSpPr>
          <p:nvPr/>
        </p:nvSpPr>
        <p:spPr>
          <a:xfrm xmlns:a="http://schemas.openxmlformats.org/drawingml/2006/main">
            <a:off x="1162050" y="3790950"/>
            <a:ext cx="46291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425" b="0">
                <a:solidFill>
                  <a:srgbClr val="17202A"/>
                </a:solidFill>
                <a:latin typeface="Aptos"/>
                <a:ea typeface="Aptos"/>
                <a:cs typeface="Aptos"/>
              </a:defRPr>
            </a:pPr>
            <a:r>
              <a:rPr sz="1425" b="0">
                <a:solidFill>
                  <a:srgbClr val="17202A"/>
                </a:solidFill>
                <a:latin typeface="Aptos"/>
                <a:ea typeface="Aptos"/>
                <a:cs typeface="Aptos"/>
              </a:rPr>
              <a:t>Bildreferenzen sammeln, formatieren und beim Publish erhalten.</a:t>
            </a:r>
          </a:p>
        </p:txBody>
      </p:sp>
      <p:sp>
        <p:nvSpPr>
          <p:cNvPr id="12" name="test-auto-dot-4">
            <a:extLst xmlns:a="http://schemas.openxmlformats.org/drawingml/2006/main">
              <a:ext uri="{FF2B5EF4-FFF2-40B4-BE49-F238E27FC236}">
                <a16:creationId xmlns:a16="http://schemas.microsoft.com/office/drawing/2014/main" id="{F139EBD0-7FC5-42D0-B7B5-B747C467D7CE}"/>
              </a:ext>
            </a:extLst>
          </p:cNvPr>
          <p:cNvSpPr>
            <a:spLocks xmlns:a="http://schemas.openxmlformats.org/drawingml/2006/main" noGrp="1"/>
          </p:cNvSpPr>
          <p:nvPr/>
        </p:nvSpPr>
        <p:spPr>
          <a:xfrm xmlns:a="http://schemas.openxmlformats.org/drawingml/2006/main">
            <a:off x="933450" y="4524375"/>
            <a:ext cx="95250" cy="95250"/>
          </a:xfrm>
          <a:prstGeom xmlns:a="http://schemas.openxmlformats.org/drawingml/2006/main" prst="ellipse">
            <a:avLst/>
          </a:prstGeom>
          <a:solidFill xmlns:a="http://schemas.openxmlformats.org/drawingml/2006/main">
            <a:srgbClr val="1F6F78"/>
          </a:solidFill>
          <a:ln xmlns:a="http://schemas.openxmlformats.org/drawingml/2006/main" w="0">
            <a:solidFill>
              <a:srgbClr val="1F6F78"/>
            </a:solidFill>
            <a:prstDash val="solid"/>
          </a:ln>
        </p:spPr>
      </p:sp>
      <p:sp>
        <p:nvSpPr>
          <p:cNvPr id="13" name="test-auto-text-4">
            <a:extLst xmlns:a="http://schemas.openxmlformats.org/drawingml/2006/main">
              <a:ext uri="{FF2B5EF4-FFF2-40B4-BE49-F238E27FC236}">
                <a16:creationId xmlns:a16="http://schemas.microsoft.com/office/drawing/2014/main" id="{48249223-3841-4DFB-8280-5B4EE450C83E}"/>
              </a:ext>
            </a:extLst>
          </p:cNvPr>
          <p:cNvSpPr>
            <a:spLocks xmlns:a="http://schemas.openxmlformats.org/drawingml/2006/main" noGrp="1"/>
          </p:cNvSpPr>
          <p:nvPr/>
        </p:nvSpPr>
        <p:spPr>
          <a:xfrm xmlns:a="http://schemas.openxmlformats.org/drawingml/2006/main">
            <a:off x="1162050" y="4438650"/>
            <a:ext cx="46291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425" b="0">
                <a:solidFill>
                  <a:srgbClr val="17202A"/>
                </a:solidFill>
                <a:latin typeface="Aptos"/>
                <a:ea typeface="Aptos"/>
                <a:cs typeface="Aptos"/>
              </a:defRPr>
            </a:pPr>
            <a:r>
              <a:rPr sz="1425" b="0">
                <a:solidFill>
                  <a:srgbClr val="17202A"/>
                </a:solidFill>
                <a:latin typeface="Aptos"/>
                <a:ea typeface="Aptos"/>
                <a:cs typeface="Aptos"/>
              </a:rPr>
              <a:t>Build-Check: npm test und npm run build als Pflichtnachweis.</a:t>
            </a:r>
          </a:p>
        </p:txBody>
      </p:sp>
      <p:sp>
        <p:nvSpPr>
          <p:cNvPr id="14" name="test-manual-label-rule">
            <a:extLst xmlns:a="http://schemas.openxmlformats.org/drawingml/2006/main">
              <a:ext uri="{FF2B5EF4-FFF2-40B4-BE49-F238E27FC236}">
                <a16:creationId xmlns:a16="http://schemas.microsoft.com/office/drawing/2014/main" id="{746AB468-1363-43DD-8C6D-ACB13967E024}"/>
              </a:ext>
            </a:extLst>
          </p:cNvPr>
          <p:cNvSpPr>
            <a:spLocks xmlns:a="http://schemas.openxmlformats.org/drawingml/2006/main" noGrp="1"/>
          </p:cNvSpPr>
          <p:nvPr/>
        </p:nvSpPr>
        <p:spPr>
          <a:xfrm xmlns:a="http://schemas.openxmlformats.org/drawingml/2006/main">
            <a:off x="6610350" y="2019300"/>
            <a:ext cx="266700" cy="38100"/>
          </a:xfrm>
          <a:prstGeom xmlns:a="http://schemas.openxmlformats.org/drawingml/2006/main" prst="rect">
            <a:avLst/>
          </a:prstGeom>
          <a:solidFill xmlns:a="http://schemas.openxmlformats.org/drawingml/2006/main">
            <a:srgbClr val="C26A2E"/>
          </a:solidFill>
          <a:ln xmlns:a="http://schemas.openxmlformats.org/drawingml/2006/main" w="0">
            <a:solidFill>
              <a:srgbClr val="C26A2E"/>
            </a:solidFill>
            <a:prstDash val="solid"/>
          </a:ln>
        </p:spPr>
      </p:sp>
      <p:sp>
        <p:nvSpPr>
          <p:cNvPr id="15" name="test-manual-label">
            <a:extLst xmlns:a="http://schemas.openxmlformats.org/drawingml/2006/main">
              <a:ext uri="{FF2B5EF4-FFF2-40B4-BE49-F238E27FC236}">
                <a16:creationId xmlns:a16="http://schemas.microsoft.com/office/drawing/2014/main" id="{20F72300-A4DF-4492-AEC9-D0B4301EAA5D}"/>
              </a:ext>
            </a:extLst>
          </p:cNvPr>
          <p:cNvSpPr>
            <a:spLocks xmlns:a="http://schemas.openxmlformats.org/drawingml/2006/main" noGrp="1"/>
          </p:cNvSpPr>
          <p:nvPr/>
        </p:nvSpPr>
        <p:spPr>
          <a:xfrm xmlns:a="http://schemas.openxmlformats.org/drawingml/2006/main">
            <a:off x="7029450" y="1943100"/>
            <a:ext cx="400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500" b="1">
                <a:solidFill>
                  <a:srgbClr val="17202A"/>
                </a:solidFill>
                <a:latin typeface="Aptos"/>
                <a:ea typeface="Aptos"/>
                <a:cs typeface="Aptos"/>
              </a:defRPr>
            </a:pPr>
            <a:r>
              <a:rPr sz="1500" b="1">
                <a:solidFill>
                  <a:srgbClr val="17202A"/>
                </a:solidFill>
                <a:latin typeface="Aptos"/>
                <a:ea typeface="Aptos"/>
                <a:cs typeface="Aptos"/>
              </a:rPr>
              <a:t>Webhook-Tests</a:t>
            </a:r>
          </a:p>
        </p:txBody>
      </p:sp>
      <p:sp>
        <p:nvSpPr>
          <p:cNvPr id="16" name="test-manual-dot-1">
            <a:extLst xmlns:a="http://schemas.openxmlformats.org/drawingml/2006/main">
              <a:ext uri="{FF2B5EF4-FFF2-40B4-BE49-F238E27FC236}">
                <a16:creationId xmlns:a16="http://schemas.microsoft.com/office/drawing/2014/main" id="{F4E6ECD4-AE34-48CC-8FBB-29E1136C3C41}"/>
              </a:ext>
            </a:extLst>
          </p:cNvPr>
          <p:cNvSpPr>
            <a:spLocks xmlns:a="http://schemas.openxmlformats.org/drawingml/2006/main" noGrp="1"/>
          </p:cNvSpPr>
          <p:nvPr/>
        </p:nvSpPr>
        <p:spPr>
          <a:xfrm xmlns:a="http://schemas.openxmlformats.org/drawingml/2006/main">
            <a:off x="6667500" y="2581275"/>
            <a:ext cx="95250" cy="95250"/>
          </a:xfrm>
          <a:prstGeom xmlns:a="http://schemas.openxmlformats.org/drawingml/2006/main" prst="ellipse">
            <a:avLst/>
          </a:prstGeom>
          <a:solidFill xmlns:a="http://schemas.openxmlformats.org/drawingml/2006/main">
            <a:srgbClr val="C26A2E"/>
          </a:solidFill>
          <a:ln xmlns:a="http://schemas.openxmlformats.org/drawingml/2006/main" w="0">
            <a:solidFill>
              <a:srgbClr val="C26A2E"/>
            </a:solidFill>
            <a:prstDash val="solid"/>
          </a:ln>
        </p:spPr>
      </p:sp>
      <p:sp>
        <p:nvSpPr>
          <p:cNvPr id="17" name="test-manual-text-1">
            <a:extLst xmlns:a="http://schemas.openxmlformats.org/drawingml/2006/main">
              <a:ext uri="{FF2B5EF4-FFF2-40B4-BE49-F238E27FC236}">
                <a16:creationId xmlns:a16="http://schemas.microsoft.com/office/drawing/2014/main" id="{B60CD360-7B4C-4165-B255-AA7956C3CCA5}"/>
              </a:ext>
            </a:extLst>
          </p:cNvPr>
          <p:cNvSpPr>
            <a:spLocks xmlns:a="http://schemas.openxmlformats.org/drawingml/2006/main" noGrp="1"/>
          </p:cNvSpPr>
          <p:nvPr/>
        </p:nvSpPr>
        <p:spPr>
          <a:xfrm xmlns:a="http://schemas.openxmlformats.org/drawingml/2006/main">
            <a:off x="6896100" y="2495550"/>
            <a:ext cx="44005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425" b="0">
                <a:solidFill>
                  <a:srgbClr val="17202A"/>
                </a:solidFill>
                <a:latin typeface="Aptos"/>
                <a:ea typeface="Aptos"/>
                <a:cs typeface="Aptos"/>
              </a:defRPr>
            </a:pPr>
            <a:r>
              <a:rPr sz="1425" b="0">
                <a:solidFill>
                  <a:srgbClr val="17202A"/>
                </a:solidFill>
                <a:latin typeface="Aptos"/>
                <a:ea typeface="Aptos"/>
                <a:cs typeface="Aptos"/>
              </a:rPr>
              <a:t>Bad Request und fehlende Payload-Daten prüfen.</a:t>
            </a:r>
          </a:p>
        </p:txBody>
      </p:sp>
      <p:sp>
        <p:nvSpPr>
          <p:cNvPr id="18" name="test-manual-dot-2">
            <a:extLst xmlns:a="http://schemas.openxmlformats.org/drawingml/2006/main">
              <a:ext uri="{FF2B5EF4-FFF2-40B4-BE49-F238E27FC236}">
                <a16:creationId xmlns:a16="http://schemas.microsoft.com/office/drawing/2014/main" id="{7071A831-151D-45F9-8894-48A8EF447F67}"/>
              </a:ext>
            </a:extLst>
          </p:cNvPr>
          <p:cNvSpPr>
            <a:spLocks xmlns:a="http://schemas.openxmlformats.org/drawingml/2006/main" noGrp="1"/>
          </p:cNvSpPr>
          <p:nvPr/>
        </p:nvSpPr>
        <p:spPr>
          <a:xfrm xmlns:a="http://schemas.openxmlformats.org/drawingml/2006/main">
            <a:off x="6667500" y="3152775"/>
            <a:ext cx="95250" cy="95250"/>
          </a:xfrm>
          <a:prstGeom xmlns:a="http://schemas.openxmlformats.org/drawingml/2006/main" prst="ellipse">
            <a:avLst/>
          </a:prstGeom>
          <a:solidFill xmlns:a="http://schemas.openxmlformats.org/drawingml/2006/main">
            <a:srgbClr val="C26A2E"/>
          </a:solidFill>
          <a:ln xmlns:a="http://schemas.openxmlformats.org/drawingml/2006/main" w="0">
            <a:solidFill>
              <a:srgbClr val="C26A2E"/>
            </a:solidFill>
            <a:prstDash val="solid"/>
          </a:ln>
        </p:spPr>
      </p:sp>
      <p:sp>
        <p:nvSpPr>
          <p:cNvPr id="19" name="test-manual-text-2">
            <a:extLst xmlns:a="http://schemas.openxmlformats.org/drawingml/2006/main">
              <a:ext uri="{FF2B5EF4-FFF2-40B4-BE49-F238E27FC236}">
                <a16:creationId xmlns:a16="http://schemas.microsoft.com/office/drawing/2014/main" id="{9B7608D6-8B31-4465-A55E-D3E698495604}"/>
              </a:ext>
            </a:extLst>
          </p:cNvPr>
          <p:cNvSpPr>
            <a:spLocks xmlns:a="http://schemas.openxmlformats.org/drawingml/2006/main" noGrp="1"/>
          </p:cNvSpPr>
          <p:nvPr/>
        </p:nvSpPr>
        <p:spPr>
          <a:xfrm xmlns:a="http://schemas.openxmlformats.org/drawingml/2006/main">
            <a:off x="6896100" y="3067050"/>
            <a:ext cx="44005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425" b="0">
                <a:solidFill>
                  <a:srgbClr val="17202A"/>
                </a:solidFill>
                <a:latin typeface="Aptos"/>
                <a:ea typeface="Aptos"/>
                <a:cs typeface="Aptos"/>
              </a:defRPr>
            </a:pPr>
            <a:r>
              <a:rPr sz="1425" b="0">
                <a:solidFill>
                  <a:srgbClr val="17202A"/>
                </a:solidFill>
                <a:latin typeface="Aptos"/>
                <a:ea typeface="Aptos"/>
                <a:cs typeface="Aptos"/>
              </a:rPr>
              <a:t>Bot-Self-Ignore verhindert Webhook-Endlosschleifen.</a:t>
            </a:r>
          </a:p>
        </p:txBody>
      </p:sp>
      <p:sp>
        <p:nvSpPr>
          <p:cNvPr id="20" name="test-manual-dot-3">
            <a:extLst xmlns:a="http://schemas.openxmlformats.org/drawingml/2006/main">
              <a:ext uri="{FF2B5EF4-FFF2-40B4-BE49-F238E27FC236}">
                <a16:creationId xmlns:a16="http://schemas.microsoft.com/office/drawing/2014/main" id="{E402CAD2-47E8-40D3-B156-8293A5FE7999}"/>
              </a:ext>
            </a:extLst>
          </p:cNvPr>
          <p:cNvSpPr>
            <a:spLocks xmlns:a="http://schemas.openxmlformats.org/drawingml/2006/main" noGrp="1"/>
          </p:cNvSpPr>
          <p:nvPr/>
        </p:nvSpPr>
        <p:spPr>
          <a:xfrm xmlns:a="http://schemas.openxmlformats.org/drawingml/2006/main">
            <a:off x="6667500" y="3686175"/>
            <a:ext cx="95250" cy="95250"/>
          </a:xfrm>
          <a:prstGeom xmlns:a="http://schemas.openxmlformats.org/drawingml/2006/main" prst="ellipse">
            <a:avLst/>
          </a:prstGeom>
          <a:solidFill xmlns:a="http://schemas.openxmlformats.org/drawingml/2006/main">
            <a:srgbClr val="C26A2E"/>
          </a:solidFill>
          <a:ln xmlns:a="http://schemas.openxmlformats.org/drawingml/2006/main" w="0">
            <a:solidFill>
              <a:srgbClr val="C26A2E"/>
            </a:solidFill>
            <a:prstDash val="solid"/>
          </a:ln>
        </p:spPr>
      </p:sp>
      <p:sp>
        <p:nvSpPr>
          <p:cNvPr id="21" name="test-manual-text-3">
            <a:extLst xmlns:a="http://schemas.openxmlformats.org/drawingml/2006/main">
              <a:ext uri="{FF2B5EF4-FFF2-40B4-BE49-F238E27FC236}">
                <a16:creationId xmlns:a16="http://schemas.microsoft.com/office/drawing/2014/main" id="{AD58A565-0915-473D-BAAC-4395E6B4D949}"/>
              </a:ext>
            </a:extLst>
          </p:cNvPr>
          <p:cNvSpPr>
            <a:spLocks xmlns:a="http://schemas.openxmlformats.org/drawingml/2006/main" noGrp="1"/>
          </p:cNvSpPr>
          <p:nvPr/>
        </p:nvSpPr>
        <p:spPr>
          <a:xfrm xmlns:a="http://schemas.openxmlformats.org/drawingml/2006/main">
            <a:off x="6896100" y="3600450"/>
            <a:ext cx="44005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425" b="0">
                <a:solidFill>
                  <a:srgbClr val="17202A"/>
                </a:solidFill>
                <a:latin typeface="Aptos"/>
                <a:ea typeface="Aptos"/>
                <a:cs typeface="Aptos"/>
              </a:defRPr>
            </a:pPr>
            <a:r>
              <a:rPr sz="1425" b="0">
                <a:solidFill>
                  <a:srgbClr val="17202A"/>
                </a:solidFill>
                <a:latin typeface="Aptos"/>
                <a:ea typeface="Aptos"/>
                <a:cs typeface="Aptos"/>
              </a:rPr>
              <a:t>Unbekannte Events werden kontrolliert ignoriert.</a:t>
            </a:r>
          </a:p>
        </p:txBody>
      </p:sp>
      <p:sp>
        <p:nvSpPr>
          <p:cNvPr id="22" name="test-manual-dot-4">
            <a:extLst xmlns:a="http://schemas.openxmlformats.org/drawingml/2006/main">
              <a:ext uri="{FF2B5EF4-FFF2-40B4-BE49-F238E27FC236}">
                <a16:creationId xmlns:a16="http://schemas.microsoft.com/office/drawing/2014/main" id="{F94ADBF1-62A5-4FD2-ABAC-FEDBEF8B1A42}"/>
              </a:ext>
            </a:extLst>
          </p:cNvPr>
          <p:cNvSpPr>
            <a:spLocks xmlns:a="http://schemas.openxmlformats.org/drawingml/2006/main" noGrp="1"/>
          </p:cNvSpPr>
          <p:nvPr/>
        </p:nvSpPr>
        <p:spPr>
          <a:xfrm xmlns:a="http://schemas.openxmlformats.org/drawingml/2006/main">
            <a:off x="6667500" y="4333875"/>
            <a:ext cx="95250" cy="95250"/>
          </a:xfrm>
          <a:prstGeom xmlns:a="http://schemas.openxmlformats.org/drawingml/2006/main" prst="ellipse">
            <a:avLst/>
          </a:prstGeom>
          <a:solidFill xmlns:a="http://schemas.openxmlformats.org/drawingml/2006/main">
            <a:srgbClr val="C26A2E"/>
          </a:solidFill>
          <a:ln xmlns:a="http://schemas.openxmlformats.org/drawingml/2006/main" w="0">
            <a:solidFill>
              <a:srgbClr val="C26A2E"/>
            </a:solidFill>
            <a:prstDash val="solid"/>
          </a:ln>
        </p:spPr>
      </p:sp>
      <p:sp>
        <p:nvSpPr>
          <p:cNvPr id="23" name="test-manual-text-4">
            <a:extLst xmlns:a="http://schemas.openxmlformats.org/drawingml/2006/main">
              <a:ext uri="{FF2B5EF4-FFF2-40B4-BE49-F238E27FC236}">
                <a16:creationId xmlns:a16="http://schemas.microsoft.com/office/drawing/2014/main" id="{2A389BD4-B68C-4002-A470-857C78A1EF64}"/>
              </a:ext>
            </a:extLst>
          </p:cNvPr>
          <p:cNvSpPr>
            <a:spLocks xmlns:a="http://schemas.openxmlformats.org/drawingml/2006/main" noGrp="1"/>
          </p:cNvSpPr>
          <p:nvPr/>
        </p:nvSpPr>
        <p:spPr>
          <a:xfrm xmlns:a="http://schemas.openxmlformats.org/drawingml/2006/main">
            <a:off x="6896100" y="4248150"/>
            <a:ext cx="44005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425" b="0">
                <a:solidFill>
                  <a:srgbClr val="17202A"/>
                </a:solidFill>
                <a:latin typeface="Aptos"/>
                <a:ea typeface="Aptos"/>
                <a:cs typeface="Aptos"/>
              </a:defRPr>
            </a:pPr>
            <a:r>
              <a:rPr sz="1425" b="0">
                <a:solidFill>
                  <a:srgbClr val="17202A"/>
                </a:solidFill>
                <a:latin typeface="Aptos"/>
                <a:ea typeface="Aptos"/>
                <a:cs typeface="Aptos"/>
              </a:rPr>
              <a:t>Direkte Webhook-Antwort vor asynchroner Analyse nachweisen.</a:t>
            </a:r>
          </a:p>
        </p:txBody>
      </p:sp>
      <p:sp>
        <p:nvSpPr>
          <p:cNvPr id="24" name="footer-left-8">
            <a:extLst xmlns:a="http://schemas.openxmlformats.org/drawingml/2006/main">
              <a:ext uri="{FF2B5EF4-FFF2-40B4-BE49-F238E27FC236}">
                <a16:creationId xmlns:a16="http://schemas.microsoft.com/office/drawing/2014/main" id="{579F2F70-C4A9-483B-8D06-E1E888CB4319}"/>
              </a:ext>
            </a:extLst>
          </p:cNvPr>
          <p:cNvSpPr>
            <a:spLocks xmlns:a="http://schemas.openxmlformats.org/drawingml/2006/main" noGrp="1"/>
          </p:cNvSpPr>
          <p:nvPr/>
        </p:nvSpPr>
        <p:spPr>
          <a:xfrm xmlns:a="http://schemas.openxmlformats.org/drawingml/2006/main">
            <a:off x="723900" y="63436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75" b="0">
                <a:solidFill>
                  <a:srgbClr val="5B6470"/>
                </a:solidFill>
                <a:latin typeface="Aptos"/>
                <a:ea typeface="Aptos"/>
                <a:cs typeface="Aptos"/>
              </a:defRPr>
            </a:pPr>
            <a:r>
              <a:rPr sz="975" b="0">
                <a:solidFill>
                  <a:srgbClr val="5B6470"/>
                </a:solidFill>
                <a:latin typeface="Aptos"/>
                <a:ea typeface="Aptos"/>
                <a:cs typeface="Aptos"/>
              </a:rPr>
              <a:t>Projektvorstellung für den Zweitgutachter</a:t>
            </a:r>
          </a:p>
        </p:txBody>
      </p:sp>
      <p:sp>
        <p:nvSpPr>
          <p:cNvPr id="25" name="footer-right-8">
            <a:extLst xmlns:a="http://schemas.openxmlformats.org/drawingml/2006/main">
              <a:ext uri="{FF2B5EF4-FFF2-40B4-BE49-F238E27FC236}">
                <a16:creationId xmlns:a16="http://schemas.microsoft.com/office/drawing/2014/main" id="{4FC2BFA5-38B3-466F-9EF9-182CC24B40C1}"/>
              </a:ext>
            </a:extLst>
          </p:cNvPr>
          <p:cNvSpPr>
            <a:spLocks xmlns:a="http://schemas.openxmlformats.org/drawingml/2006/main" noGrp="1"/>
          </p:cNvSpPr>
          <p:nvPr/>
        </p:nvSpPr>
        <p:spPr>
          <a:xfrm xmlns:a="http://schemas.openxmlformats.org/drawingml/2006/main">
            <a:off x="10934700" y="6286500"/>
            <a:ext cx="533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1200" b="1">
                <a:solidFill>
                  <a:srgbClr val="5B6470"/>
                </a:solidFill>
                <a:latin typeface="Aptos"/>
                <a:ea typeface="Aptos"/>
                <a:cs typeface="Aptos"/>
              </a:defRPr>
            </a:pPr>
            <a:r>
              <a:rPr sz="1200" b="1">
                <a:solidFill>
                  <a:srgbClr val="5B6470"/>
                </a:solidFill>
                <a:latin typeface="Aptos"/>
                <a:ea typeface="Aptos"/>
                <a:cs typeface="Aptos"/>
              </a:rPr>
              <a:t>13</a:t>
            </a:r>
          </a:p>
        </p:txBody>
      </p:sp>
    </p:spTree>
    <p:extLst>
      <p:ext uri="{BB962C8B-B14F-4D97-AF65-F5344CB8AC3E}">
        <p14:creationId xmlns:p14="http://schemas.microsoft.com/office/powerpoint/2010/main" val="1175172839"/>
      </p:ext>
    </p:extLst>
  </p:cSld>
</p:sld>
</file>

<file path=ppt/slides/slide14.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 name="kicker-8">
            <a:extLst xmlns:a="http://schemas.openxmlformats.org/drawingml/2006/main">
              <a:ext uri="{FF2B5EF4-FFF2-40B4-BE49-F238E27FC236}">
                <a16:creationId xmlns:a16="http://schemas.microsoft.com/office/drawing/2014/main" id="{526128D0-C7A9-424A-AE64-4E5565618BC0}"/>
              </a:ext>
            </a:extLst>
          </p:cNvPr>
          <p:cNvSpPr>
            <a:spLocks xmlns:a="http://schemas.openxmlformats.org/drawingml/2006/main" noGrp="1"/>
          </p:cNvSpPr>
          <p:nvPr/>
        </p:nvSpPr>
        <p:spPr>
          <a:xfrm xmlns:a="http://schemas.openxmlformats.org/drawingml/2006/main">
            <a:off x="723900" y="457200"/>
            <a:ext cx="723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125" b="1">
                <a:solidFill>
                  <a:srgbClr val="1F6F78"/>
                </a:solidFill>
                <a:latin typeface="Aptos"/>
                <a:ea typeface="Aptos"/>
                <a:cs typeface="Aptos"/>
              </a:defRPr>
            </a:pPr>
            <a:r>
              <a:rPr sz="1125" b="1">
                <a:solidFill>
                  <a:srgbClr val="1F6F78"/>
                </a:solidFill>
                <a:latin typeface="Aptos"/>
                <a:ea typeface="Aptos"/>
                <a:cs typeface="Aptos"/>
              </a:rPr>
              <a:t>GITLAB DEV-ASSIST</a:t>
            </a:r>
          </a:p>
        </p:txBody>
      </p:sp>
      <p:sp>
        <p:nvSpPr>
          <p:cNvPr id="2" name="title-8">
            <a:extLst xmlns:a="http://schemas.openxmlformats.org/drawingml/2006/main">
              <a:ext uri="{FF2B5EF4-FFF2-40B4-BE49-F238E27FC236}">
                <a16:creationId xmlns:a16="http://schemas.microsoft.com/office/drawing/2014/main" id="{36A34CC7-05FF-4C07-86BB-8B1C70671DA4}"/>
              </a:ext>
            </a:extLst>
          </p:cNvPr>
          <p:cNvSpPr>
            <a:spLocks xmlns:a="http://schemas.openxmlformats.org/drawingml/2006/main" noGrp="1"/>
          </p:cNvSpPr>
          <p:nvPr/>
        </p:nvSpPr>
        <p:spPr>
          <a:xfrm xmlns:a="http://schemas.openxmlformats.org/drawingml/2006/main">
            <a:off x="723900" y="800100"/>
            <a:ext cx="8763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850" b="1">
                <a:solidFill>
                  <a:srgbClr val="17202A"/>
                </a:solidFill>
                <a:latin typeface="Aptos Display"/>
                <a:ea typeface="Aptos Display"/>
                <a:cs typeface="Aptos Display"/>
              </a:defRPr>
            </a:pPr>
            <a:r>
              <a:rPr sz="2850" b="1">
                <a:solidFill>
                  <a:srgbClr val="17202A"/>
                </a:solidFill>
                <a:latin typeface="Aptos Display"/>
                <a:ea typeface="Aptos Display"/>
                <a:cs typeface="Aptos Display"/>
              </a:rPr>
              <a:t>Manuelle Evaluation und Demo</a:t>
            </a:r>
          </a:p>
        </p:txBody>
      </p:sp>
      <p:sp>
        <p:nvSpPr>
          <p:cNvPr id="3" name="title-rule-8">
            <a:extLst xmlns:a="http://schemas.openxmlformats.org/drawingml/2006/main">
              <a:ext uri="{FF2B5EF4-FFF2-40B4-BE49-F238E27FC236}">
                <a16:creationId xmlns:a16="http://schemas.microsoft.com/office/drawing/2014/main" id="{218AF88E-2565-444B-8336-4E53E1238A57}"/>
              </a:ext>
            </a:extLst>
          </p:cNvPr>
          <p:cNvSpPr>
            <a:spLocks xmlns:a="http://schemas.openxmlformats.org/drawingml/2006/main" noGrp="1"/>
          </p:cNvSpPr>
          <p:nvPr/>
        </p:nvSpPr>
        <p:spPr>
          <a:xfrm xmlns:a="http://schemas.openxmlformats.org/drawingml/2006/main">
            <a:off x="723900" y="1466850"/>
            <a:ext cx="10744200" cy="19050"/>
          </a:xfrm>
          <a:prstGeom xmlns:a="http://schemas.openxmlformats.org/drawingml/2006/main" prst="rect">
            <a:avLst/>
          </a:prstGeom>
          <a:solidFill xmlns:a="http://schemas.openxmlformats.org/drawingml/2006/main">
            <a:srgbClr val="E6EBF1"/>
          </a:solidFill>
          <a:ln xmlns:a="http://schemas.openxmlformats.org/drawingml/2006/main" w="0">
            <a:solidFill>
              <a:srgbClr val="E6EBF1"/>
            </a:solidFill>
            <a:prstDash val="solid"/>
          </a:ln>
        </p:spPr>
      </p:sp>
      <p:sp>
        <p:nvSpPr>
          <p:cNvPr id="4" name="test-auto-label-rule">
            <a:extLst xmlns:a="http://schemas.openxmlformats.org/drawingml/2006/main">
              <a:ext uri="{FF2B5EF4-FFF2-40B4-BE49-F238E27FC236}">
                <a16:creationId xmlns:a16="http://schemas.microsoft.com/office/drawing/2014/main" id="{F709105F-5D9F-4403-A508-B67A59245C1C}"/>
              </a:ext>
            </a:extLst>
          </p:cNvPr>
          <p:cNvSpPr>
            <a:spLocks xmlns:a="http://schemas.openxmlformats.org/drawingml/2006/main" noGrp="1"/>
          </p:cNvSpPr>
          <p:nvPr/>
        </p:nvSpPr>
        <p:spPr>
          <a:xfrm xmlns:a="http://schemas.openxmlformats.org/drawingml/2006/main">
            <a:off x="876300" y="2019300"/>
            <a:ext cx="266700" cy="38100"/>
          </a:xfrm>
          <a:prstGeom xmlns:a="http://schemas.openxmlformats.org/drawingml/2006/main" prst="rect">
            <a:avLst/>
          </a:prstGeom>
          <a:solidFill xmlns:a="http://schemas.openxmlformats.org/drawingml/2006/main">
            <a:srgbClr val="1F6F78"/>
          </a:solidFill>
          <a:ln xmlns:a="http://schemas.openxmlformats.org/drawingml/2006/main" w="0">
            <a:solidFill>
              <a:srgbClr val="1F6F78"/>
            </a:solidFill>
            <a:prstDash val="solid"/>
          </a:ln>
        </p:spPr>
      </p:sp>
      <p:sp>
        <p:nvSpPr>
          <p:cNvPr id="5" name="test-auto-label">
            <a:extLst xmlns:a="http://schemas.openxmlformats.org/drawingml/2006/main">
              <a:ext uri="{FF2B5EF4-FFF2-40B4-BE49-F238E27FC236}">
                <a16:creationId xmlns:a16="http://schemas.microsoft.com/office/drawing/2014/main" id="{1044CEE6-4BAF-44E8-89D2-8A772F559BED}"/>
              </a:ext>
            </a:extLst>
          </p:cNvPr>
          <p:cNvSpPr>
            <a:spLocks xmlns:a="http://schemas.openxmlformats.org/drawingml/2006/main" noGrp="1"/>
          </p:cNvSpPr>
          <p:nvPr/>
        </p:nvSpPr>
        <p:spPr>
          <a:xfrm xmlns:a="http://schemas.openxmlformats.org/drawingml/2006/main">
            <a:off x="1295400" y="1943100"/>
            <a:ext cx="400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500" b="1">
                <a:solidFill>
                  <a:srgbClr val="17202A"/>
                </a:solidFill>
                <a:latin typeface="Aptos"/>
                <a:ea typeface="Aptos"/>
                <a:cs typeface="Aptos"/>
              </a:defRPr>
            </a:pPr>
            <a:r>
              <a:rPr sz="1500" b="1">
                <a:solidFill>
                  <a:srgbClr val="17202A"/>
                </a:solidFill>
                <a:latin typeface="Aptos"/>
                <a:ea typeface="Aptos"/>
                <a:cs typeface="Aptos"/>
              </a:rPr>
              <a:t>Demo-Szenarien</a:t>
            </a:r>
          </a:p>
        </p:txBody>
      </p:sp>
      <p:sp>
        <p:nvSpPr>
          <p:cNvPr id="6" name="test-auto-dot-1">
            <a:extLst xmlns:a="http://schemas.openxmlformats.org/drawingml/2006/main">
              <a:ext uri="{FF2B5EF4-FFF2-40B4-BE49-F238E27FC236}">
                <a16:creationId xmlns:a16="http://schemas.microsoft.com/office/drawing/2014/main" id="{25CA0A7D-938E-4053-8734-F327F95B03F9}"/>
              </a:ext>
            </a:extLst>
          </p:cNvPr>
          <p:cNvSpPr>
            <a:spLocks xmlns:a="http://schemas.openxmlformats.org/drawingml/2006/main" noGrp="1"/>
          </p:cNvSpPr>
          <p:nvPr/>
        </p:nvSpPr>
        <p:spPr>
          <a:xfrm xmlns:a="http://schemas.openxmlformats.org/drawingml/2006/main">
            <a:off x="933450" y="2581275"/>
            <a:ext cx="95250" cy="95250"/>
          </a:xfrm>
          <a:prstGeom xmlns:a="http://schemas.openxmlformats.org/drawingml/2006/main" prst="ellipse">
            <a:avLst/>
          </a:prstGeom>
          <a:solidFill xmlns:a="http://schemas.openxmlformats.org/drawingml/2006/main">
            <a:srgbClr val="1F6F78"/>
          </a:solidFill>
          <a:ln xmlns:a="http://schemas.openxmlformats.org/drawingml/2006/main" w="0">
            <a:solidFill>
              <a:srgbClr val="1F6F78"/>
            </a:solidFill>
            <a:prstDash val="solid"/>
          </a:ln>
        </p:spPr>
      </p:sp>
      <p:sp>
        <p:nvSpPr>
          <p:cNvPr id="7" name="test-auto-text-1">
            <a:extLst xmlns:a="http://schemas.openxmlformats.org/drawingml/2006/main">
              <a:ext uri="{FF2B5EF4-FFF2-40B4-BE49-F238E27FC236}">
                <a16:creationId xmlns:a16="http://schemas.microsoft.com/office/drawing/2014/main" id="{F5A4E41A-302E-4F7B-ABE9-C21544ECC5C6}"/>
              </a:ext>
            </a:extLst>
          </p:cNvPr>
          <p:cNvSpPr>
            <a:spLocks xmlns:a="http://schemas.openxmlformats.org/drawingml/2006/main" noGrp="1"/>
          </p:cNvSpPr>
          <p:nvPr/>
        </p:nvSpPr>
        <p:spPr>
          <a:xfrm xmlns:a="http://schemas.openxmlformats.org/drawingml/2006/main">
            <a:off x="1162050" y="2495550"/>
            <a:ext cx="46291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425" b="0">
                <a:solidFill>
                  <a:srgbClr val="17202A"/>
                </a:solidFill>
                <a:latin typeface="Aptos"/>
                <a:ea typeface="Aptos"/>
                <a:cs typeface="Aptos"/>
              </a:defRPr>
            </a:pPr>
            <a:r>
              <a:rPr sz="1425" b="0">
                <a:solidFill>
                  <a:srgbClr val="17202A"/>
                </a:solidFill>
                <a:latin typeface="Aptos"/>
                <a:ea typeface="Aptos"/>
                <a:cs typeface="Aptos"/>
              </a:rPr>
              <a:t>Unvollständiges Issue erzeugt gezielte Rückfragen.</a:t>
            </a:r>
          </a:p>
        </p:txBody>
      </p:sp>
      <p:sp>
        <p:nvSpPr>
          <p:cNvPr id="8" name="test-auto-dot-2">
            <a:extLst xmlns:a="http://schemas.openxmlformats.org/drawingml/2006/main">
              <a:ext uri="{FF2B5EF4-FFF2-40B4-BE49-F238E27FC236}">
                <a16:creationId xmlns:a16="http://schemas.microsoft.com/office/drawing/2014/main" id="{70FCCFA2-9530-4575-B8BE-F799B4742425}"/>
              </a:ext>
            </a:extLst>
          </p:cNvPr>
          <p:cNvSpPr>
            <a:spLocks xmlns:a="http://schemas.openxmlformats.org/drawingml/2006/main" noGrp="1"/>
          </p:cNvSpPr>
          <p:nvPr/>
        </p:nvSpPr>
        <p:spPr>
          <a:xfrm xmlns:a="http://schemas.openxmlformats.org/drawingml/2006/main">
            <a:off x="933450" y="3228975"/>
            <a:ext cx="95250" cy="95250"/>
          </a:xfrm>
          <a:prstGeom xmlns:a="http://schemas.openxmlformats.org/drawingml/2006/main" prst="ellipse">
            <a:avLst/>
          </a:prstGeom>
          <a:solidFill xmlns:a="http://schemas.openxmlformats.org/drawingml/2006/main">
            <a:srgbClr val="1F6F78"/>
          </a:solidFill>
          <a:ln xmlns:a="http://schemas.openxmlformats.org/drawingml/2006/main" w="0">
            <a:solidFill>
              <a:srgbClr val="1F6F78"/>
            </a:solidFill>
            <a:prstDash val="solid"/>
          </a:ln>
        </p:spPr>
      </p:sp>
      <p:sp>
        <p:nvSpPr>
          <p:cNvPr id="9" name="test-auto-text-2">
            <a:extLst xmlns:a="http://schemas.openxmlformats.org/drawingml/2006/main">
              <a:ext uri="{FF2B5EF4-FFF2-40B4-BE49-F238E27FC236}">
                <a16:creationId xmlns:a16="http://schemas.microsoft.com/office/drawing/2014/main" id="{97D42042-EDC3-4C6C-B2E9-B5708AFAA057}"/>
              </a:ext>
            </a:extLst>
          </p:cNvPr>
          <p:cNvSpPr>
            <a:spLocks xmlns:a="http://schemas.openxmlformats.org/drawingml/2006/main" noGrp="1"/>
          </p:cNvSpPr>
          <p:nvPr/>
        </p:nvSpPr>
        <p:spPr>
          <a:xfrm xmlns:a="http://schemas.openxmlformats.org/drawingml/2006/main">
            <a:off x="1162050" y="3143250"/>
            <a:ext cx="46291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425" b="0">
                <a:solidFill>
                  <a:srgbClr val="17202A"/>
                </a:solidFill>
                <a:latin typeface="Aptos"/>
                <a:ea typeface="Aptos"/>
                <a:cs typeface="Aptos"/>
              </a:defRPr>
            </a:pPr>
            <a:r>
              <a:rPr sz="1425" b="0">
                <a:solidFill>
                  <a:srgbClr val="17202A"/>
                </a:solidFill>
                <a:latin typeface="Aptos"/>
                <a:ea typeface="Aptos"/>
                <a:cs typeface="Aptos"/>
              </a:rPr>
              <a:t>Vollständiges Issue erzeugt strukturierten Ticketvorschlag.</a:t>
            </a:r>
          </a:p>
        </p:txBody>
      </p:sp>
      <p:sp>
        <p:nvSpPr>
          <p:cNvPr id="10" name="test-auto-dot-3">
            <a:extLst xmlns:a="http://schemas.openxmlformats.org/drawingml/2006/main">
              <a:ext uri="{FF2B5EF4-FFF2-40B4-BE49-F238E27FC236}">
                <a16:creationId xmlns:a16="http://schemas.microsoft.com/office/drawing/2014/main" id="{074FF47D-8B80-4917-8481-D1BE6404235E}"/>
              </a:ext>
            </a:extLst>
          </p:cNvPr>
          <p:cNvSpPr>
            <a:spLocks xmlns:a="http://schemas.openxmlformats.org/drawingml/2006/main" noGrp="1"/>
          </p:cNvSpPr>
          <p:nvPr/>
        </p:nvSpPr>
        <p:spPr>
          <a:xfrm xmlns:a="http://schemas.openxmlformats.org/drawingml/2006/main">
            <a:off x="933450" y="3876675"/>
            <a:ext cx="95250" cy="95250"/>
          </a:xfrm>
          <a:prstGeom xmlns:a="http://schemas.openxmlformats.org/drawingml/2006/main" prst="ellipse">
            <a:avLst/>
          </a:prstGeom>
          <a:solidFill xmlns:a="http://schemas.openxmlformats.org/drawingml/2006/main">
            <a:srgbClr val="1F6F78"/>
          </a:solidFill>
          <a:ln xmlns:a="http://schemas.openxmlformats.org/drawingml/2006/main" w="0">
            <a:solidFill>
              <a:srgbClr val="1F6F78"/>
            </a:solidFill>
            <a:prstDash val="solid"/>
          </a:ln>
        </p:spPr>
      </p:sp>
      <p:sp>
        <p:nvSpPr>
          <p:cNvPr id="11" name="test-auto-text-3">
            <a:extLst xmlns:a="http://schemas.openxmlformats.org/drawingml/2006/main">
              <a:ext uri="{FF2B5EF4-FFF2-40B4-BE49-F238E27FC236}">
                <a16:creationId xmlns:a16="http://schemas.microsoft.com/office/drawing/2014/main" id="{BBD81222-59DD-44DA-9C3E-D63DC525BE1B}"/>
              </a:ext>
            </a:extLst>
          </p:cNvPr>
          <p:cNvSpPr>
            <a:spLocks xmlns:a="http://schemas.openxmlformats.org/drawingml/2006/main" noGrp="1"/>
          </p:cNvSpPr>
          <p:nvPr/>
        </p:nvSpPr>
        <p:spPr>
          <a:xfrm xmlns:a="http://schemas.openxmlformats.org/drawingml/2006/main">
            <a:off x="1162050" y="3790950"/>
            <a:ext cx="46291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425" b="0">
                <a:solidFill>
                  <a:srgbClr val="17202A"/>
                </a:solidFill>
                <a:latin typeface="Aptos"/>
                <a:ea typeface="Aptos"/>
                <a:cs typeface="Aptos"/>
              </a:defRPr>
            </a:pPr>
            <a:r>
              <a:rPr sz="1425" b="0">
                <a:solidFill>
                  <a:srgbClr val="17202A"/>
                </a:solidFill>
                <a:latin typeface="Aptos"/>
                <a:ea typeface="Aptos"/>
                <a:cs typeface="Aptos"/>
              </a:rPr>
              <a:t>Screenshot-Kontext bleibt im Vorschlag und nach Publish erhalten.</a:t>
            </a:r>
          </a:p>
        </p:txBody>
      </p:sp>
      <p:sp>
        <p:nvSpPr>
          <p:cNvPr id="12" name="test-auto-dot-4">
            <a:extLst xmlns:a="http://schemas.openxmlformats.org/drawingml/2006/main">
              <a:ext uri="{FF2B5EF4-FFF2-40B4-BE49-F238E27FC236}">
                <a16:creationId xmlns:a16="http://schemas.microsoft.com/office/drawing/2014/main" id="{F139EBD0-7FC5-42D0-B7B5-B747C467D7CE}"/>
              </a:ext>
            </a:extLst>
          </p:cNvPr>
          <p:cNvSpPr>
            <a:spLocks xmlns:a="http://schemas.openxmlformats.org/drawingml/2006/main" noGrp="1"/>
          </p:cNvSpPr>
          <p:nvPr/>
        </p:nvSpPr>
        <p:spPr>
          <a:xfrm xmlns:a="http://schemas.openxmlformats.org/drawingml/2006/main">
            <a:off x="933450" y="4524375"/>
            <a:ext cx="95250" cy="95250"/>
          </a:xfrm>
          <a:prstGeom xmlns:a="http://schemas.openxmlformats.org/drawingml/2006/main" prst="ellipse">
            <a:avLst/>
          </a:prstGeom>
          <a:solidFill xmlns:a="http://schemas.openxmlformats.org/drawingml/2006/main">
            <a:srgbClr val="1F6F78"/>
          </a:solidFill>
          <a:ln xmlns:a="http://schemas.openxmlformats.org/drawingml/2006/main" w="0">
            <a:solidFill>
              <a:srgbClr val="1F6F78"/>
            </a:solidFill>
            <a:prstDash val="solid"/>
          </a:ln>
        </p:spPr>
      </p:sp>
      <p:sp>
        <p:nvSpPr>
          <p:cNvPr id="13" name="test-auto-text-4">
            <a:extLst xmlns:a="http://schemas.openxmlformats.org/drawingml/2006/main">
              <a:ext uri="{FF2B5EF4-FFF2-40B4-BE49-F238E27FC236}">
                <a16:creationId xmlns:a16="http://schemas.microsoft.com/office/drawing/2014/main" id="{48249223-3841-4DFB-8280-5B4EE450C83E}"/>
              </a:ext>
            </a:extLst>
          </p:cNvPr>
          <p:cNvSpPr>
            <a:spLocks xmlns:a="http://schemas.openxmlformats.org/drawingml/2006/main" noGrp="1"/>
          </p:cNvSpPr>
          <p:nvPr/>
        </p:nvSpPr>
        <p:spPr>
          <a:xfrm xmlns:a="http://schemas.openxmlformats.org/drawingml/2006/main">
            <a:off x="1162050" y="4438650"/>
            <a:ext cx="46291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425" b="0">
                <a:solidFill>
                  <a:srgbClr val="17202A"/>
                </a:solidFill>
                <a:latin typeface="Aptos"/>
                <a:ea typeface="Aptos"/>
                <a:cs typeface="Aptos"/>
              </a:defRPr>
            </a:pPr>
            <a:r>
              <a:rPr sz="1425" b="0">
                <a:solidFill>
                  <a:srgbClr val="17202A"/>
                </a:solidFill>
                <a:latin typeface="Aptos"/>
                <a:ea typeface="Aptos"/>
                <a:cs typeface="Aptos"/>
              </a:rPr>
              <a:t>Irrelevante Events und Bot-Kommentare lösen keine Analyse aus.</a:t>
            </a:r>
          </a:p>
        </p:txBody>
      </p:sp>
      <p:sp>
        <p:nvSpPr>
          <p:cNvPr id="14" name="test-manual-label-rule">
            <a:extLst xmlns:a="http://schemas.openxmlformats.org/drawingml/2006/main">
              <a:ext uri="{FF2B5EF4-FFF2-40B4-BE49-F238E27FC236}">
                <a16:creationId xmlns:a16="http://schemas.microsoft.com/office/drawing/2014/main" id="{746AB468-1363-43DD-8C6D-ACB13967E024}"/>
              </a:ext>
            </a:extLst>
          </p:cNvPr>
          <p:cNvSpPr>
            <a:spLocks xmlns:a="http://schemas.openxmlformats.org/drawingml/2006/main" noGrp="1"/>
          </p:cNvSpPr>
          <p:nvPr/>
        </p:nvSpPr>
        <p:spPr>
          <a:xfrm xmlns:a="http://schemas.openxmlformats.org/drawingml/2006/main">
            <a:off x="6610350" y="2019300"/>
            <a:ext cx="266700" cy="38100"/>
          </a:xfrm>
          <a:prstGeom xmlns:a="http://schemas.openxmlformats.org/drawingml/2006/main" prst="rect">
            <a:avLst/>
          </a:prstGeom>
          <a:solidFill xmlns:a="http://schemas.openxmlformats.org/drawingml/2006/main">
            <a:srgbClr val="C26A2E"/>
          </a:solidFill>
          <a:ln xmlns:a="http://schemas.openxmlformats.org/drawingml/2006/main" w="0">
            <a:solidFill>
              <a:srgbClr val="C26A2E"/>
            </a:solidFill>
            <a:prstDash val="solid"/>
          </a:ln>
        </p:spPr>
      </p:sp>
      <p:sp>
        <p:nvSpPr>
          <p:cNvPr id="15" name="test-manual-label">
            <a:extLst xmlns:a="http://schemas.openxmlformats.org/drawingml/2006/main">
              <a:ext uri="{FF2B5EF4-FFF2-40B4-BE49-F238E27FC236}">
                <a16:creationId xmlns:a16="http://schemas.microsoft.com/office/drawing/2014/main" id="{20F72300-A4DF-4492-AEC9-D0B4301EAA5D}"/>
              </a:ext>
            </a:extLst>
          </p:cNvPr>
          <p:cNvSpPr>
            <a:spLocks xmlns:a="http://schemas.openxmlformats.org/drawingml/2006/main" noGrp="1"/>
          </p:cNvSpPr>
          <p:nvPr/>
        </p:nvSpPr>
        <p:spPr>
          <a:xfrm xmlns:a="http://schemas.openxmlformats.org/drawingml/2006/main">
            <a:off x="7029450" y="1943100"/>
            <a:ext cx="400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500" b="1">
                <a:solidFill>
                  <a:srgbClr val="17202A"/>
                </a:solidFill>
                <a:latin typeface="Aptos"/>
                <a:ea typeface="Aptos"/>
                <a:cs typeface="Aptos"/>
              </a:defRPr>
            </a:pPr>
            <a:r>
              <a:rPr sz="1500" b="1">
                <a:solidFill>
                  <a:srgbClr val="17202A"/>
                </a:solidFill>
                <a:latin typeface="Aptos"/>
                <a:ea typeface="Aptos"/>
                <a:cs typeface="Aptos"/>
              </a:rPr>
              <a:t>Bewertung</a:t>
            </a:r>
          </a:p>
        </p:txBody>
      </p:sp>
      <p:sp>
        <p:nvSpPr>
          <p:cNvPr id="16" name="test-manual-dot-1">
            <a:extLst xmlns:a="http://schemas.openxmlformats.org/drawingml/2006/main">
              <a:ext uri="{FF2B5EF4-FFF2-40B4-BE49-F238E27FC236}">
                <a16:creationId xmlns:a16="http://schemas.microsoft.com/office/drawing/2014/main" id="{F4E6ECD4-AE34-48CC-8FBB-29E1136C3C41}"/>
              </a:ext>
            </a:extLst>
          </p:cNvPr>
          <p:cNvSpPr>
            <a:spLocks xmlns:a="http://schemas.openxmlformats.org/drawingml/2006/main" noGrp="1"/>
          </p:cNvSpPr>
          <p:nvPr/>
        </p:nvSpPr>
        <p:spPr>
          <a:xfrm xmlns:a="http://schemas.openxmlformats.org/drawingml/2006/main">
            <a:off x="6667500" y="2581275"/>
            <a:ext cx="95250" cy="95250"/>
          </a:xfrm>
          <a:prstGeom xmlns:a="http://schemas.openxmlformats.org/drawingml/2006/main" prst="ellipse">
            <a:avLst/>
          </a:prstGeom>
          <a:solidFill xmlns:a="http://schemas.openxmlformats.org/drawingml/2006/main">
            <a:srgbClr val="C26A2E"/>
          </a:solidFill>
          <a:ln xmlns:a="http://schemas.openxmlformats.org/drawingml/2006/main" w="0">
            <a:solidFill>
              <a:srgbClr val="C26A2E"/>
            </a:solidFill>
            <a:prstDash val="solid"/>
          </a:ln>
        </p:spPr>
      </p:sp>
      <p:sp>
        <p:nvSpPr>
          <p:cNvPr id="17" name="test-manual-text-1">
            <a:extLst xmlns:a="http://schemas.openxmlformats.org/drawingml/2006/main">
              <a:ext uri="{FF2B5EF4-FFF2-40B4-BE49-F238E27FC236}">
                <a16:creationId xmlns:a16="http://schemas.microsoft.com/office/drawing/2014/main" id="{B60CD360-7B4C-4165-B255-AA7956C3CCA5}"/>
              </a:ext>
            </a:extLst>
          </p:cNvPr>
          <p:cNvSpPr>
            <a:spLocks xmlns:a="http://schemas.openxmlformats.org/drawingml/2006/main" noGrp="1"/>
          </p:cNvSpPr>
          <p:nvPr/>
        </p:nvSpPr>
        <p:spPr>
          <a:xfrm xmlns:a="http://schemas.openxmlformats.org/drawingml/2006/main">
            <a:off x="6896100" y="2495550"/>
            <a:ext cx="44005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425" b="0">
                <a:solidFill>
                  <a:srgbClr val="17202A"/>
                </a:solidFill>
                <a:latin typeface="Aptos"/>
                <a:ea typeface="Aptos"/>
                <a:cs typeface="Aptos"/>
              </a:defRPr>
            </a:pPr>
            <a:r>
              <a:rPr sz="1425" b="0">
                <a:solidFill>
                  <a:srgbClr val="17202A"/>
                </a:solidFill>
                <a:latin typeface="Aptos"/>
                <a:ea typeface="Aptos"/>
                <a:cs typeface="Aptos"/>
              </a:rPr>
              <a:t>Ist der Vorschlag für Entwickler unmittelbar nutzbar?</a:t>
            </a:r>
          </a:p>
        </p:txBody>
      </p:sp>
      <p:sp>
        <p:nvSpPr>
          <p:cNvPr id="18" name="test-manual-dot-2">
            <a:extLst xmlns:a="http://schemas.openxmlformats.org/drawingml/2006/main">
              <a:ext uri="{FF2B5EF4-FFF2-40B4-BE49-F238E27FC236}">
                <a16:creationId xmlns:a16="http://schemas.microsoft.com/office/drawing/2014/main" id="{7071A831-151D-45F9-8894-48A8EF447F67}"/>
              </a:ext>
            </a:extLst>
          </p:cNvPr>
          <p:cNvSpPr>
            <a:spLocks xmlns:a="http://schemas.openxmlformats.org/drawingml/2006/main" noGrp="1"/>
          </p:cNvSpPr>
          <p:nvPr/>
        </p:nvSpPr>
        <p:spPr>
          <a:xfrm xmlns:a="http://schemas.openxmlformats.org/drawingml/2006/main">
            <a:off x="6667500" y="3152775"/>
            <a:ext cx="95250" cy="95250"/>
          </a:xfrm>
          <a:prstGeom xmlns:a="http://schemas.openxmlformats.org/drawingml/2006/main" prst="ellipse">
            <a:avLst/>
          </a:prstGeom>
          <a:solidFill xmlns:a="http://schemas.openxmlformats.org/drawingml/2006/main">
            <a:srgbClr val="C26A2E"/>
          </a:solidFill>
          <a:ln xmlns:a="http://schemas.openxmlformats.org/drawingml/2006/main" w="0">
            <a:solidFill>
              <a:srgbClr val="C26A2E"/>
            </a:solidFill>
            <a:prstDash val="solid"/>
          </a:ln>
        </p:spPr>
      </p:sp>
      <p:sp>
        <p:nvSpPr>
          <p:cNvPr id="19" name="test-manual-text-2">
            <a:extLst xmlns:a="http://schemas.openxmlformats.org/drawingml/2006/main">
              <a:ext uri="{FF2B5EF4-FFF2-40B4-BE49-F238E27FC236}">
                <a16:creationId xmlns:a16="http://schemas.microsoft.com/office/drawing/2014/main" id="{9B7608D6-8B31-4465-A55E-D3E698495604}"/>
              </a:ext>
            </a:extLst>
          </p:cNvPr>
          <p:cNvSpPr>
            <a:spLocks xmlns:a="http://schemas.openxmlformats.org/drawingml/2006/main" noGrp="1"/>
          </p:cNvSpPr>
          <p:nvPr/>
        </p:nvSpPr>
        <p:spPr>
          <a:xfrm xmlns:a="http://schemas.openxmlformats.org/drawingml/2006/main">
            <a:off x="6896100" y="3067050"/>
            <a:ext cx="44005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425" b="0">
                <a:solidFill>
                  <a:srgbClr val="17202A"/>
                </a:solidFill>
                <a:latin typeface="Aptos"/>
                <a:ea typeface="Aptos"/>
                <a:cs typeface="Aptos"/>
              </a:defRPr>
            </a:pPr>
            <a:r>
              <a:rPr sz="1425" b="0">
                <a:solidFill>
                  <a:srgbClr val="17202A"/>
                </a:solidFill>
                <a:latin typeface="Aptos"/>
                <a:ea typeface="Aptos"/>
                <a:cs typeface="Aptos"/>
              </a:rPr>
              <a:t>Sind Rückfragen präzise und fachlich notwendig?</a:t>
            </a:r>
          </a:p>
        </p:txBody>
      </p:sp>
      <p:sp>
        <p:nvSpPr>
          <p:cNvPr id="20" name="test-manual-dot-3">
            <a:extLst xmlns:a="http://schemas.openxmlformats.org/drawingml/2006/main">
              <a:ext uri="{FF2B5EF4-FFF2-40B4-BE49-F238E27FC236}">
                <a16:creationId xmlns:a16="http://schemas.microsoft.com/office/drawing/2014/main" id="{E402CAD2-47E8-40D3-B156-8293A5FE7999}"/>
              </a:ext>
            </a:extLst>
          </p:cNvPr>
          <p:cNvSpPr>
            <a:spLocks xmlns:a="http://schemas.openxmlformats.org/drawingml/2006/main" noGrp="1"/>
          </p:cNvSpPr>
          <p:nvPr/>
        </p:nvSpPr>
        <p:spPr>
          <a:xfrm xmlns:a="http://schemas.openxmlformats.org/drawingml/2006/main">
            <a:off x="6667500" y="3686175"/>
            <a:ext cx="95250" cy="95250"/>
          </a:xfrm>
          <a:prstGeom xmlns:a="http://schemas.openxmlformats.org/drawingml/2006/main" prst="ellipse">
            <a:avLst/>
          </a:prstGeom>
          <a:solidFill xmlns:a="http://schemas.openxmlformats.org/drawingml/2006/main">
            <a:srgbClr val="C26A2E"/>
          </a:solidFill>
          <a:ln xmlns:a="http://schemas.openxmlformats.org/drawingml/2006/main" w="0">
            <a:solidFill>
              <a:srgbClr val="C26A2E"/>
            </a:solidFill>
            <a:prstDash val="solid"/>
          </a:ln>
        </p:spPr>
      </p:sp>
      <p:sp>
        <p:nvSpPr>
          <p:cNvPr id="21" name="test-manual-text-3">
            <a:extLst xmlns:a="http://schemas.openxmlformats.org/drawingml/2006/main">
              <a:ext uri="{FF2B5EF4-FFF2-40B4-BE49-F238E27FC236}">
                <a16:creationId xmlns:a16="http://schemas.microsoft.com/office/drawing/2014/main" id="{AD58A565-0915-473D-BAAC-4395E6B4D949}"/>
              </a:ext>
            </a:extLst>
          </p:cNvPr>
          <p:cNvSpPr>
            <a:spLocks xmlns:a="http://schemas.openxmlformats.org/drawingml/2006/main" noGrp="1"/>
          </p:cNvSpPr>
          <p:nvPr/>
        </p:nvSpPr>
        <p:spPr>
          <a:xfrm xmlns:a="http://schemas.openxmlformats.org/drawingml/2006/main">
            <a:off x="6896100" y="3600450"/>
            <a:ext cx="44005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425" b="0">
                <a:solidFill>
                  <a:srgbClr val="17202A"/>
                </a:solidFill>
                <a:latin typeface="Aptos"/>
                <a:ea typeface="Aptos"/>
                <a:cs typeface="Aptos"/>
              </a:defRPr>
            </a:pPr>
            <a:r>
              <a:rPr sz="1425" b="0">
                <a:solidFill>
                  <a:srgbClr val="17202A"/>
                </a:solidFill>
                <a:latin typeface="Aptos"/>
                <a:ea typeface="Aptos"/>
                <a:cs typeface="Aptos"/>
              </a:rPr>
              <a:t>Bleiben Annahmen von gesicherten Informationen getrennt?</a:t>
            </a:r>
          </a:p>
        </p:txBody>
      </p:sp>
      <p:sp>
        <p:nvSpPr>
          <p:cNvPr id="22" name="test-manual-dot-4">
            <a:extLst xmlns:a="http://schemas.openxmlformats.org/drawingml/2006/main">
              <a:ext uri="{FF2B5EF4-FFF2-40B4-BE49-F238E27FC236}">
                <a16:creationId xmlns:a16="http://schemas.microsoft.com/office/drawing/2014/main" id="{F94ADBF1-62A5-4FD2-ABAC-FEDBEF8B1A42}"/>
              </a:ext>
            </a:extLst>
          </p:cNvPr>
          <p:cNvSpPr>
            <a:spLocks xmlns:a="http://schemas.openxmlformats.org/drawingml/2006/main" noGrp="1"/>
          </p:cNvSpPr>
          <p:nvPr/>
        </p:nvSpPr>
        <p:spPr>
          <a:xfrm xmlns:a="http://schemas.openxmlformats.org/drawingml/2006/main">
            <a:off x="6667500" y="4333875"/>
            <a:ext cx="95250" cy="95250"/>
          </a:xfrm>
          <a:prstGeom xmlns:a="http://schemas.openxmlformats.org/drawingml/2006/main" prst="ellipse">
            <a:avLst/>
          </a:prstGeom>
          <a:solidFill xmlns:a="http://schemas.openxmlformats.org/drawingml/2006/main">
            <a:srgbClr val="C26A2E"/>
          </a:solidFill>
          <a:ln xmlns:a="http://schemas.openxmlformats.org/drawingml/2006/main" w="0">
            <a:solidFill>
              <a:srgbClr val="C26A2E"/>
            </a:solidFill>
            <a:prstDash val="solid"/>
          </a:ln>
        </p:spPr>
      </p:sp>
      <p:sp>
        <p:nvSpPr>
          <p:cNvPr id="23" name="test-manual-text-4">
            <a:extLst xmlns:a="http://schemas.openxmlformats.org/drawingml/2006/main">
              <a:ext uri="{FF2B5EF4-FFF2-40B4-BE49-F238E27FC236}">
                <a16:creationId xmlns:a16="http://schemas.microsoft.com/office/drawing/2014/main" id="{2A389BD4-B68C-4002-A470-857C78A1EF64}"/>
              </a:ext>
            </a:extLst>
          </p:cNvPr>
          <p:cNvSpPr>
            <a:spLocks xmlns:a="http://schemas.openxmlformats.org/drawingml/2006/main" noGrp="1"/>
          </p:cNvSpPr>
          <p:nvPr/>
        </p:nvSpPr>
        <p:spPr>
          <a:xfrm xmlns:a="http://schemas.openxmlformats.org/drawingml/2006/main">
            <a:off x="6896100" y="4248150"/>
            <a:ext cx="44005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425" b="0">
                <a:solidFill>
                  <a:srgbClr val="17202A"/>
                </a:solidFill>
                <a:latin typeface="Aptos"/>
                <a:ea typeface="Aptos"/>
                <a:cs typeface="Aptos"/>
              </a:defRPr>
            </a:pPr>
            <a:r>
              <a:rPr sz="1425" b="0">
                <a:solidFill>
                  <a:srgbClr val="17202A"/>
                </a:solidFill>
                <a:latin typeface="Aptos"/>
                <a:ea typeface="Aptos"/>
                <a:cs typeface="Aptos"/>
              </a:rPr>
              <a:t>Ist der Ablauf für Review und Freigabe nachvollziehbar?</a:t>
            </a:r>
          </a:p>
        </p:txBody>
      </p:sp>
      <p:sp>
        <p:nvSpPr>
          <p:cNvPr id="24" name="footer-left-8">
            <a:extLst xmlns:a="http://schemas.openxmlformats.org/drawingml/2006/main">
              <a:ext uri="{FF2B5EF4-FFF2-40B4-BE49-F238E27FC236}">
                <a16:creationId xmlns:a16="http://schemas.microsoft.com/office/drawing/2014/main" id="{579F2F70-C4A9-483B-8D06-E1E888CB4319}"/>
              </a:ext>
            </a:extLst>
          </p:cNvPr>
          <p:cNvSpPr>
            <a:spLocks xmlns:a="http://schemas.openxmlformats.org/drawingml/2006/main" noGrp="1"/>
          </p:cNvSpPr>
          <p:nvPr/>
        </p:nvSpPr>
        <p:spPr>
          <a:xfrm xmlns:a="http://schemas.openxmlformats.org/drawingml/2006/main">
            <a:off x="723900" y="63436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75" b="0">
                <a:solidFill>
                  <a:srgbClr val="5B6470"/>
                </a:solidFill>
                <a:latin typeface="Aptos"/>
                <a:ea typeface="Aptos"/>
                <a:cs typeface="Aptos"/>
              </a:defRPr>
            </a:pPr>
            <a:r>
              <a:rPr sz="975" b="0">
                <a:solidFill>
                  <a:srgbClr val="5B6470"/>
                </a:solidFill>
                <a:latin typeface="Aptos"/>
                <a:ea typeface="Aptos"/>
                <a:cs typeface="Aptos"/>
              </a:rPr>
              <a:t>Projektvorstellung für den Zweitgutachter</a:t>
            </a:r>
          </a:p>
        </p:txBody>
      </p:sp>
      <p:sp>
        <p:nvSpPr>
          <p:cNvPr id="25" name="footer-right-8">
            <a:extLst xmlns:a="http://schemas.openxmlformats.org/drawingml/2006/main">
              <a:ext uri="{FF2B5EF4-FFF2-40B4-BE49-F238E27FC236}">
                <a16:creationId xmlns:a16="http://schemas.microsoft.com/office/drawing/2014/main" id="{4FC2BFA5-38B3-466F-9EF9-182CC24B40C1}"/>
              </a:ext>
            </a:extLst>
          </p:cNvPr>
          <p:cNvSpPr>
            <a:spLocks xmlns:a="http://schemas.openxmlformats.org/drawingml/2006/main" noGrp="1"/>
          </p:cNvSpPr>
          <p:nvPr/>
        </p:nvSpPr>
        <p:spPr>
          <a:xfrm xmlns:a="http://schemas.openxmlformats.org/drawingml/2006/main">
            <a:off x="10934700" y="6286500"/>
            <a:ext cx="533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1200" b="1">
                <a:solidFill>
                  <a:srgbClr val="5B6470"/>
                </a:solidFill>
                <a:latin typeface="Aptos"/>
                <a:ea typeface="Aptos"/>
                <a:cs typeface="Aptos"/>
              </a:defRPr>
            </a:pPr>
            <a:r>
              <a:rPr sz="1200" b="1">
                <a:solidFill>
                  <a:srgbClr val="5B6470"/>
                </a:solidFill>
                <a:latin typeface="Aptos"/>
                <a:ea typeface="Aptos"/>
                <a:cs typeface="Aptos"/>
              </a:rPr>
              <a:t>14</a:t>
            </a:r>
          </a:p>
        </p:txBody>
      </p:sp>
    </p:spTree>
    <p:extLst>
      <p:ext uri="{BB962C8B-B14F-4D97-AF65-F5344CB8AC3E}">
        <p14:creationId xmlns:p14="http://schemas.microsoft.com/office/powerpoint/2010/main" val="1175172839"/>
      </p:ext>
    </p:extLst>
  </p:cSld>
</p:sld>
</file>

<file path=ppt/slides/slide15.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 name="kicker-9">
            <a:extLst xmlns:a="http://schemas.openxmlformats.org/drawingml/2006/main">
              <a:ext uri="{FF2B5EF4-FFF2-40B4-BE49-F238E27FC236}">
                <a16:creationId xmlns:a16="http://schemas.microsoft.com/office/drawing/2014/main" id="{BF8BAE05-21D4-451F-A7B3-61E148BB2C99}"/>
              </a:ext>
            </a:extLst>
          </p:cNvPr>
          <p:cNvSpPr>
            <a:spLocks xmlns:a="http://schemas.openxmlformats.org/drawingml/2006/main" noGrp="1"/>
          </p:cNvSpPr>
          <p:nvPr/>
        </p:nvSpPr>
        <p:spPr>
          <a:xfrm xmlns:a="http://schemas.openxmlformats.org/drawingml/2006/main">
            <a:off x="723900" y="457200"/>
            <a:ext cx="723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125" b="1">
                <a:solidFill>
                  <a:srgbClr val="1F6F78"/>
                </a:solidFill>
                <a:latin typeface="Aptos"/>
                <a:ea typeface="Aptos"/>
                <a:cs typeface="Aptos"/>
              </a:defRPr>
            </a:pPr>
            <a:r>
              <a:rPr sz="1125" b="1">
                <a:solidFill>
                  <a:srgbClr val="1F6F78"/>
                </a:solidFill>
                <a:latin typeface="Aptos"/>
                <a:ea typeface="Aptos"/>
                <a:cs typeface="Aptos"/>
              </a:rPr>
              <a:t>GITLAB DEV-ASSIST</a:t>
            </a:r>
          </a:p>
        </p:txBody>
      </p:sp>
      <p:sp>
        <p:nvSpPr>
          <p:cNvPr id="2" name="title-9">
            <a:extLst xmlns:a="http://schemas.openxmlformats.org/drawingml/2006/main">
              <a:ext uri="{FF2B5EF4-FFF2-40B4-BE49-F238E27FC236}">
                <a16:creationId xmlns:a16="http://schemas.microsoft.com/office/drawing/2014/main" id="{624C5662-6DF3-41B8-94CE-6A0AB0A3D00C}"/>
              </a:ext>
            </a:extLst>
          </p:cNvPr>
          <p:cNvSpPr>
            <a:spLocks xmlns:a="http://schemas.openxmlformats.org/drawingml/2006/main" noGrp="1"/>
          </p:cNvSpPr>
          <p:nvPr/>
        </p:nvSpPr>
        <p:spPr>
          <a:xfrm xmlns:a="http://schemas.openxmlformats.org/drawingml/2006/main">
            <a:off x="723900" y="800100"/>
            <a:ext cx="8763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850" b="1">
                <a:solidFill>
                  <a:srgbClr val="17202A"/>
                </a:solidFill>
                <a:latin typeface="Aptos Display"/>
                <a:ea typeface="Aptos Display"/>
                <a:cs typeface="Aptos Display"/>
              </a:defRPr>
            </a:pPr>
            <a:r>
              <a:rPr sz="2850" b="1">
                <a:solidFill>
                  <a:srgbClr val="17202A"/>
                </a:solidFill>
                <a:latin typeface="Aptos Display"/>
                <a:ea typeface="Aptos Display"/>
                <a:cs typeface="Aptos Display"/>
              </a:rPr>
              <a:t>Risiken und Gegenmaßnahmen</a:t>
            </a:r>
          </a:p>
        </p:txBody>
      </p:sp>
      <p:sp>
        <p:nvSpPr>
          <p:cNvPr id="3" name="title-rule-9">
            <a:extLst xmlns:a="http://schemas.openxmlformats.org/drawingml/2006/main">
              <a:ext uri="{FF2B5EF4-FFF2-40B4-BE49-F238E27FC236}">
                <a16:creationId xmlns:a16="http://schemas.microsoft.com/office/drawing/2014/main" id="{AB2349A6-1EC8-4BBD-BF35-3FC74A0A9BF2}"/>
              </a:ext>
            </a:extLst>
          </p:cNvPr>
          <p:cNvSpPr>
            <a:spLocks xmlns:a="http://schemas.openxmlformats.org/drawingml/2006/main" noGrp="1"/>
          </p:cNvSpPr>
          <p:nvPr/>
        </p:nvSpPr>
        <p:spPr>
          <a:xfrm xmlns:a="http://schemas.openxmlformats.org/drawingml/2006/main">
            <a:off x="723900" y="1466850"/>
            <a:ext cx="10744200" cy="19050"/>
          </a:xfrm>
          <a:prstGeom xmlns:a="http://schemas.openxmlformats.org/drawingml/2006/main" prst="rect">
            <a:avLst/>
          </a:prstGeom>
          <a:solidFill xmlns:a="http://schemas.openxmlformats.org/drawingml/2006/main">
            <a:srgbClr val="E6EBF1"/>
          </a:solidFill>
          <a:ln xmlns:a="http://schemas.openxmlformats.org/drawingml/2006/main" w="0">
            <a:solidFill>
              <a:srgbClr val="E6EBF1"/>
            </a:solidFill>
            <a:prstDash val="solid"/>
          </a:ln>
        </p:spPr>
      </p:sp>
      <p:sp>
        <p:nvSpPr>
          <p:cNvPr id="4" name="criteria-label-rule">
            <a:extLst xmlns:a="http://schemas.openxmlformats.org/drawingml/2006/main">
              <a:ext uri="{FF2B5EF4-FFF2-40B4-BE49-F238E27FC236}">
                <a16:creationId xmlns:a16="http://schemas.microsoft.com/office/drawing/2014/main" id="{74C87FFC-4EA1-40F2-BFF3-17A9AAA996BA}"/>
              </a:ext>
            </a:extLst>
          </p:cNvPr>
          <p:cNvSpPr>
            <a:spLocks xmlns:a="http://schemas.openxmlformats.org/drawingml/2006/main" noGrp="1"/>
          </p:cNvSpPr>
          <p:nvPr/>
        </p:nvSpPr>
        <p:spPr>
          <a:xfrm xmlns:a="http://schemas.openxmlformats.org/drawingml/2006/main">
            <a:off x="876300" y="1981200"/>
            <a:ext cx="266700" cy="38100"/>
          </a:xfrm>
          <a:prstGeom xmlns:a="http://schemas.openxmlformats.org/drawingml/2006/main" prst="rect">
            <a:avLst/>
          </a:prstGeom>
          <a:solidFill xmlns:a="http://schemas.openxmlformats.org/drawingml/2006/main">
            <a:srgbClr val="2E7D5B"/>
          </a:solidFill>
          <a:ln xmlns:a="http://schemas.openxmlformats.org/drawingml/2006/main" w="0">
            <a:solidFill>
              <a:srgbClr val="2E7D5B"/>
            </a:solidFill>
            <a:prstDash val="solid"/>
          </a:ln>
        </p:spPr>
      </p:sp>
      <p:sp>
        <p:nvSpPr>
          <p:cNvPr id="5" name="criteria-label">
            <a:extLst xmlns:a="http://schemas.openxmlformats.org/drawingml/2006/main">
              <a:ext uri="{FF2B5EF4-FFF2-40B4-BE49-F238E27FC236}">
                <a16:creationId xmlns:a16="http://schemas.microsoft.com/office/drawing/2014/main" id="{EA7BF1FD-18F7-4F1A-AA8B-D8DCD9916324}"/>
              </a:ext>
            </a:extLst>
          </p:cNvPr>
          <p:cNvSpPr>
            <a:spLocks xmlns:a="http://schemas.openxmlformats.org/drawingml/2006/main" noGrp="1"/>
          </p:cNvSpPr>
          <p:nvPr/>
        </p:nvSpPr>
        <p:spPr>
          <a:xfrm xmlns:a="http://schemas.openxmlformats.org/drawingml/2006/main">
            <a:off x="1295400" y="1905000"/>
            <a:ext cx="400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500" b="1">
                <a:solidFill>
                  <a:srgbClr val="17202A"/>
                </a:solidFill>
                <a:latin typeface="Aptos"/>
                <a:ea typeface="Aptos"/>
                <a:cs typeface="Aptos"/>
              </a:defRPr>
            </a:pPr>
            <a:r>
              <a:rPr sz="1500" b="1">
                <a:solidFill>
                  <a:srgbClr val="17202A"/>
                </a:solidFill>
                <a:latin typeface="Aptos"/>
                <a:ea typeface="Aptos"/>
                <a:cs typeface="Aptos"/>
              </a:rPr>
              <a:t>Risiken</a:t>
            </a:r>
          </a:p>
        </p:txBody>
      </p:sp>
      <p:sp>
        <p:nvSpPr>
          <p:cNvPr id="6" name="criteria-dot-1">
            <a:extLst xmlns:a="http://schemas.openxmlformats.org/drawingml/2006/main">
              <a:ext uri="{FF2B5EF4-FFF2-40B4-BE49-F238E27FC236}">
                <a16:creationId xmlns:a16="http://schemas.microsoft.com/office/drawing/2014/main" id="{6E232815-B2D1-4F18-9B73-31105DF2D633}"/>
              </a:ext>
            </a:extLst>
          </p:cNvPr>
          <p:cNvSpPr>
            <a:spLocks xmlns:a="http://schemas.openxmlformats.org/drawingml/2006/main" noGrp="1"/>
          </p:cNvSpPr>
          <p:nvPr/>
        </p:nvSpPr>
        <p:spPr>
          <a:xfrm xmlns:a="http://schemas.openxmlformats.org/drawingml/2006/main">
            <a:off x="933450" y="2562225"/>
            <a:ext cx="95250" cy="95250"/>
          </a:xfrm>
          <a:prstGeom xmlns:a="http://schemas.openxmlformats.org/drawingml/2006/main" prst="ellipse">
            <a:avLst/>
          </a:prstGeom>
          <a:solidFill xmlns:a="http://schemas.openxmlformats.org/drawingml/2006/main">
            <a:srgbClr val="2E7D5B"/>
          </a:solidFill>
          <a:ln xmlns:a="http://schemas.openxmlformats.org/drawingml/2006/main" w="0">
            <a:solidFill>
              <a:srgbClr val="2E7D5B"/>
            </a:solidFill>
            <a:prstDash val="solid"/>
          </a:ln>
        </p:spPr>
      </p:sp>
      <p:sp>
        <p:nvSpPr>
          <p:cNvPr id="7" name="criteria-text-1">
            <a:extLst xmlns:a="http://schemas.openxmlformats.org/drawingml/2006/main">
              <a:ext uri="{FF2B5EF4-FFF2-40B4-BE49-F238E27FC236}">
                <a16:creationId xmlns:a16="http://schemas.microsoft.com/office/drawing/2014/main" id="{5C2AF26C-39DB-4FBD-8709-8C02433440A1}"/>
              </a:ext>
            </a:extLst>
          </p:cNvPr>
          <p:cNvSpPr>
            <a:spLocks xmlns:a="http://schemas.openxmlformats.org/drawingml/2006/main" noGrp="1"/>
          </p:cNvSpPr>
          <p:nvPr/>
        </p:nvSpPr>
        <p:spPr>
          <a:xfrm xmlns:a="http://schemas.openxmlformats.org/drawingml/2006/main">
            <a:off x="1162050" y="2476500"/>
            <a:ext cx="46101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425" b="0">
                <a:solidFill>
                  <a:srgbClr val="17202A"/>
                </a:solidFill>
                <a:latin typeface="Aptos"/>
                <a:ea typeface="Aptos"/>
                <a:cs typeface="Aptos"/>
              </a:defRPr>
            </a:pPr>
            <a:r>
              <a:rPr sz="1425" b="0">
                <a:solidFill>
                  <a:srgbClr val="17202A"/>
                </a:solidFill>
                <a:latin typeface="Aptos"/>
                <a:ea typeface="Aptos"/>
                <a:cs typeface="Aptos"/>
              </a:rPr>
              <a:t>Halluzinationen oder plausible, aber falsche Ergänzungen.</a:t>
            </a:r>
          </a:p>
        </p:txBody>
      </p:sp>
      <p:sp>
        <p:nvSpPr>
          <p:cNvPr id="8" name="criteria-dot-2">
            <a:extLst xmlns:a="http://schemas.openxmlformats.org/drawingml/2006/main">
              <a:ext uri="{FF2B5EF4-FFF2-40B4-BE49-F238E27FC236}">
                <a16:creationId xmlns:a16="http://schemas.microsoft.com/office/drawing/2014/main" id="{55844CDB-6466-4C0A-9010-73D5F1F19B2A}"/>
              </a:ext>
            </a:extLst>
          </p:cNvPr>
          <p:cNvSpPr>
            <a:spLocks xmlns:a="http://schemas.openxmlformats.org/drawingml/2006/main" noGrp="1"/>
          </p:cNvSpPr>
          <p:nvPr/>
        </p:nvSpPr>
        <p:spPr>
          <a:xfrm xmlns:a="http://schemas.openxmlformats.org/drawingml/2006/main">
            <a:off x="933450" y="3114675"/>
            <a:ext cx="95250" cy="95250"/>
          </a:xfrm>
          <a:prstGeom xmlns:a="http://schemas.openxmlformats.org/drawingml/2006/main" prst="ellipse">
            <a:avLst/>
          </a:prstGeom>
          <a:solidFill xmlns:a="http://schemas.openxmlformats.org/drawingml/2006/main">
            <a:srgbClr val="2E7D5B"/>
          </a:solidFill>
          <a:ln xmlns:a="http://schemas.openxmlformats.org/drawingml/2006/main" w="0">
            <a:solidFill>
              <a:srgbClr val="2E7D5B"/>
            </a:solidFill>
            <a:prstDash val="solid"/>
          </a:ln>
        </p:spPr>
      </p:sp>
      <p:sp>
        <p:nvSpPr>
          <p:cNvPr id="9" name="criteria-text-2">
            <a:extLst xmlns:a="http://schemas.openxmlformats.org/drawingml/2006/main">
              <a:ext uri="{FF2B5EF4-FFF2-40B4-BE49-F238E27FC236}">
                <a16:creationId xmlns:a16="http://schemas.microsoft.com/office/drawing/2014/main" id="{8A661220-DB8E-4D78-AEEF-EA7E9DBE340C}"/>
              </a:ext>
            </a:extLst>
          </p:cNvPr>
          <p:cNvSpPr>
            <a:spLocks xmlns:a="http://schemas.openxmlformats.org/drawingml/2006/main" noGrp="1"/>
          </p:cNvSpPr>
          <p:nvPr/>
        </p:nvSpPr>
        <p:spPr>
          <a:xfrm xmlns:a="http://schemas.openxmlformats.org/drawingml/2006/main">
            <a:off x="1162050" y="3028950"/>
            <a:ext cx="46101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425" b="0">
                <a:solidFill>
                  <a:srgbClr val="17202A"/>
                </a:solidFill>
                <a:latin typeface="Aptos"/>
                <a:ea typeface="Aptos"/>
                <a:cs typeface="Aptos"/>
              </a:defRPr>
            </a:pPr>
            <a:r>
              <a:rPr sz="1425" b="0">
                <a:solidFill>
                  <a:srgbClr val="17202A"/>
                </a:solidFill>
                <a:latin typeface="Aptos"/>
                <a:ea typeface="Aptos"/>
                <a:cs typeface="Aptos"/>
              </a:rPr>
              <a:t>Prompt Injection über Issue-Text, Kommentare oder Bildinhalte.</a:t>
            </a:r>
          </a:p>
        </p:txBody>
      </p:sp>
      <p:sp>
        <p:nvSpPr>
          <p:cNvPr id="10" name="criteria-dot-3">
            <a:extLst xmlns:a="http://schemas.openxmlformats.org/drawingml/2006/main">
              <a:ext uri="{FF2B5EF4-FFF2-40B4-BE49-F238E27FC236}">
                <a16:creationId xmlns:a16="http://schemas.microsoft.com/office/drawing/2014/main" id="{31021407-6E86-4243-8A78-14308AFE6F1C}"/>
              </a:ext>
            </a:extLst>
          </p:cNvPr>
          <p:cNvSpPr>
            <a:spLocks xmlns:a="http://schemas.openxmlformats.org/drawingml/2006/main" noGrp="1"/>
          </p:cNvSpPr>
          <p:nvPr/>
        </p:nvSpPr>
        <p:spPr>
          <a:xfrm xmlns:a="http://schemas.openxmlformats.org/drawingml/2006/main">
            <a:off x="933450" y="3667125"/>
            <a:ext cx="95250" cy="95250"/>
          </a:xfrm>
          <a:prstGeom xmlns:a="http://schemas.openxmlformats.org/drawingml/2006/main" prst="ellipse">
            <a:avLst/>
          </a:prstGeom>
          <a:solidFill xmlns:a="http://schemas.openxmlformats.org/drawingml/2006/main">
            <a:srgbClr val="2E7D5B"/>
          </a:solidFill>
          <a:ln xmlns:a="http://schemas.openxmlformats.org/drawingml/2006/main" w="0">
            <a:solidFill>
              <a:srgbClr val="2E7D5B"/>
            </a:solidFill>
            <a:prstDash val="solid"/>
          </a:ln>
        </p:spPr>
      </p:sp>
      <p:sp>
        <p:nvSpPr>
          <p:cNvPr id="11" name="criteria-text-3">
            <a:extLst xmlns:a="http://schemas.openxmlformats.org/drawingml/2006/main">
              <a:ext uri="{FF2B5EF4-FFF2-40B4-BE49-F238E27FC236}">
                <a16:creationId xmlns:a16="http://schemas.microsoft.com/office/drawing/2014/main" id="{B021331A-4860-49FE-B71C-7B175007DA5D}"/>
              </a:ext>
            </a:extLst>
          </p:cNvPr>
          <p:cNvSpPr>
            <a:spLocks xmlns:a="http://schemas.openxmlformats.org/drawingml/2006/main" noGrp="1"/>
          </p:cNvSpPr>
          <p:nvPr/>
        </p:nvSpPr>
        <p:spPr>
          <a:xfrm xmlns:a="http://schemas.openxmlformats.org/drawingml/2006/main">
            <a:off x="1162050" y="3581400"/>
            <a:ext cx="4610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425" b="0">
                <a:solidFill>
                  <a:srgbClr val="17202A"/>
                </a:solidFill>
                <a:latin typeface="Aptos"/>
                <a:ea typeface="Aptos"/>
                <a:cs typeface="Aptos"/>
              </a:defRPr>
            </a:pPr>
            <a:r>
              <a:rPr sz="1425" b="0">
                <a:solidFill>
                  <a:srgbClr val="17202A"/>
                </a:solidFill>
                <a:latin typeface="Aptos"/>
                <a:ea typeface="Aptos"/>
                <a:cs typeface="Aptos"/>
              </a:rPr>
              <a:t>Schnittstellenänderungen bei GitLab, glab oder Opencode.</a:t>
            </a:r>
          </a:p>
        </p:txBody>
      </p:sp>
      <p:sp>
        <p:nvSpPr>
          <p:cNvPr id="12" name="criteria-dot-4">
            <a:extLst xmlns:a="http://schemas.openxmlformats.org/drawingml/2006/main">
              <a:ext uri="{FF2B5EF4-FFF2-40B4-BE49-F238E27FC236}">
                <a16:creationId xmlns:a16="http://schemas.microsoft.com/office/drawing/2014/main" id="{F9FA3BEB-38A9-48B1-9E61-85003958848F}"/>
              </a:ext>
            </a:extLst>
          </p:cNvPr>
          <p:cNvSpPr>
            <a:spLocks xmlns:a="http://schemas.openxmlformats.org/drawingml/2006/main" noGrp="1"/>
          </p:cNvSpPr>
          <p:nvPr/>
        </p:nvSpPr>
        <p:spPr>
          <a:xfrm xmlns:a="http://schemas.openxmlformats.org/drawingml/2006/main">
            <a:off x="933450" y="4295775"/>
            <a:ext cx="95250" cy="95250"/>
          </a:xfrm>
          <a:prstGeom xmlns:a="http://schemas.openxmlformats.org/drawingml/2006/main" prst="ellipse">
            <a:avLst/>
          </a:prstGeom>
          <a:solidFill xmlns:a="http://schemas.openxmlformats.org/drawingml/2006/main">
            <a:srgbClr val="2E7D5B"/>
          </a:solidFill>
          <a:ln xmlns:a="http://schemas.openxmlformats.org/drawingml/2006/main" w="0">
            <a:solidFill>
              <a:srgbClr val="2E7D5B"/>
            </a:solidFill>
            <a:prstDash val="solid"/>
          </a:ln>
        </p:spPr>
      </p:sp>
      <p:sp>
        <p:nvSpPr>
          <p:cNvPr id="13" name="criteria-text-4">
            <a:extLst xmlns:a="http://schemas.openxmlformats.org/drawingml/2006/main">
              <a:ext uri="{FF2B5EF4-FFF2-40B4-BE49-F238E27FC236}">
                <a16:creationId xmlns:a16="http://schemas.microsoft.com/office/drawing/2014/main" id="{7F93A194-D3CF-4C18-804C-DE094F24AFC6}"/>
              </a:ext>
            </a:extLst>
          </p:cNvPr>
          <p:cNvSpPr>
            <a:spLocks xmlns:a="http://schemas.openxmlformats.org/drawingml/2006/main" noGrp="1"/>
          </p:cNvSpPr>
          <p:nvPr/>
        </p:nvSpPr>
        <p:spPr>
          <a:xfrm xmlns:a="http://schemas.openxmlformats.org/drawingml/2006/main">
            <a:off x="1162050" y="4210050"/>
            <a:ext cx="4610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425" b="0">
                <a:solidFill>
                  <a:srgbClr val="17202A"/>
                </a:solidFill>
                <a:latin typeface="Aptos"/>
                <a:ea typeface="Aptos"/>
                <a:cs typeface="Aptos"/>
              </a:defRPr>
            </a:pPr>
            <a:r>
              <a:rPr sz="1425" b="0">
                <a:solidFill>
                  <a:srgbClr val="17202A"/>
                </a:solidFill>
                <a:latin typeface="Aptos"/>
                <a:ea typeface="Aptos"/>
                <a:cs typeface="Aptos"/>
              </a:rPr>
              <a:t>Fehler in asynchronen Analyse- oder Publish-Schritten.</a:t>
            </a:r>
          </a:p>
        </p:txBody>
      </p:sp>
      <p:sp>
        <p:nvSpPr>
          <p:cNvPr id="14" name="risk-label-rule">
            <a:extLst xmlns:a="http://schemas.openxmlformats.org/drawingml/2006/main">
              <a:ext uri="{FF2B5EF4-FFF2-40B4-BE49-F238E27FC236}">
                <a16:creationId xmlns:a16="http://schemas.microsoft.com/office/drawing/2014/main" id="{BA3CCE0B-1DC5-4D27-925F-8043BB0ACEE7}"/>
              </a:ext>
            </a:extLst>
          </p:cNvPr>
          <p:cNvSpPr>
            <a:spLocks xmlns:a="http://schemas.openxmlformats.org/drawingml/2006/main" noGrp="1"/>
          </p:cNvSpPr>
          <p:nvPr/>
        </p:nvSpPr>
        <p:spPr>
          <a:xfrm xmlns:a="http://schemas.openxmlformats.org/drawingml/2006/main">
            <a:off x="6610350" y="1981200"/>
            <a:ext cx="266700" cy="38100"/>
          </a:xfrm>
          <a:prstGeom xmlns:a="http://schemas.openxmlformats.org/drawingml/2006/main" prst="rect">
            <a:avLst/>
          </a:prstGeom>
          <a:solidFill xmlns:a="http://schemas.openxmlformats.org/drawingml/2006/main">
            <a:srgbClr val="A33E3E"/>
          </a:solidFill>
          <a:ln xmlns:a="http://schemas.openxmlformats.org/drawingml/2006/main" w="0">
            <a:solidFill>
              <a:srgbClr val="A33E3E"/>
            </a:solidFill>
            <a:prstDash val="solid"/>
          </a:ln>
        </p:spPr>
      </p:sp>
      <p:sp>
        <p:nvSpPr>
          <p:cNvPr id="15" name="risk-label">
            <a:extLst xmlns:a="http://schemas.openxmlformats.org/drawingml/2006/main">
              <a:ext uri="{FF2B5EF4-FFF2-40B4-BE49-F238E27FC236}">
                <a16:creationId xmlns:a16="http://schemas.microsoft.com/office/drawing/2014/main" id="{33A73BFC-1E76-4021-96DE-90D5A9E95944}"/>
              </a:ext>
            </a:extLst>
          </p:cNvPr>
          <p:cNvSpPr>
            <a:spLocks xmlns:a="http://schemas.openxmlformats.org/drawingml/2006/main" noGrp="1"/>
          </p:cNvSpPr>
          <p:nvPr/>
        </p:nvSpPr>
        <p:spPr>
          <a:xfrm xmlns:a="http://schemas.openxmlformats.org/drawingml/2006/main">
            <a:off x="7029450" y="1905000"/>
            <a:ext cx="400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500" b="1">
                <a:solidFill>
                  <a:srgbClr val="17202A"/>
                </a:solidFill>
                <a:latin typeface="Aptos"/>
                <a:ea typeface="Aptos"/>
                <a:cs typeface="Aptos"/>
              </a:defRPr>
            </a:pPr>
            <a:r>
              <a:rPr sz="1500" b="1">
                <a:solidFill>
                  <a:srgbClr val="17202A"/>
                </a:solidFill>
                <a:latin typeface="Aptos"/>
                <a:ea typeface="Aptos"/>
                <a:cs typeface="Aptos"/>
              </a:rPr>
              <a:t>Gegenmaßnahmen</a:t>
            </a:r>
          </a:p>
        </p:txBody>
      </p:sp>
      <p:sp>
        <p:nvSpPr>
          <p:cNvPr id="16" name="risks-dot-1">
            <a:extLst xmlns:a="http://schemas.openxmlformats.org/drawingml/2006/main">
              <a:ext uri="{FF2B5EF4-FFF2-40B4-BE49-F238E27FC236}">
                <a16:creationId xmlns:a16="http://schemas.microsoft.com/office/drawing/2014/main" id="{F794A553-1891-45D4-9B9A-EEE0E329ED34}"/>
              </a:ext>
            </a:extLst>
          </p:cNvPr>
          <p:cNvSpPr>
            <a:spLocks xmlns:a="http://schemas.openxmlformats.org/drawingml/2006/main" noGrp="1"/>
          </p:cNvSpPr>
          <p:nvPr/>
        </p:nvSpPr>
        <p:spPr>
          <a:xfrm xmlns:a="http://schemas.openxmlformats.org/drawingml/2006/main">
            <a:off x="6667500" y="2562225"/>
            <a:ext cx="95250" cy="95250"/>
          </a:xfrm>
          <a:prstGeom xmlns:a="http://schemas.openxmlformats.org/drawingml/2006/main" prst="ellipse">
            <a:avLst/>
          </a:prstGeom>
          <a:solidFill xmlns:a="http://schemas.openxmlformats.org/drawingml/2006/main">
            <a:srgbClr val="A33E3E"/>
          </a:solidFill>
          <a:ln xmlns:a="http://schemas.openxmlformats.org/drawingml/2006/main" w="0">
            <a:solidFill>
              <a:srgbClr val="A33E3E"/>
            </a:solidFill>
            <a:prstDash val="solid"/>
          </a:ln>
        </p:spPr>
      </p:sp>
      <p:sp>
        <p:nvSpPr>
          <p:cNvPr id="17" name="risks-text-1">
            <a:extLst xmlns:a="http://schemas.openxmlformats.org/drawingml/2006/main">
              <a:ext uri="{FF2B5EF4-FFF2-40B4-BE49-F238E27FC236}">
                <a16:creationId xmlns:a16="http://schemas.microsoft.com/office/drawing/2014/main" id="{50D890AE-E287-488A-A1C1-5978F5FA3587}"/>
              </a:ext>
            </a:extLst>
          </p:cNvPr>
          <p:cNvSpPr>
            <a:spLocks xmlns:a="http://schemas.openxmlformats.org/drawingml/2006/main" noGrp="1"/>
          </p:cNvSpPr>
          <p:nvPr/>
        </p:nvSpPr>
        <p:spPr>
          <a:xfrm xmlns:a="http://schemas.openxmlformats.org/drawingml/2006/main">
            <a:off x="6896100" y="2476500"/>
            <a:ext cx="44005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425" b="0">
                <a:solidFill>
                  <a:srgbClr val="17202A"/>
                </a:solidFill>
                <a:latin typeface="Aptos"/>
                <a:ea typeface="Aptos"/>
                <a:cs typeface="Aptos"/>
              </a:defRPr>
            </a:pPr>
            <a:r>
              <a:rPr sz="1425" b="0">
                <a:solidFill>
                  <a:srgbClr val="17202A"/>
                </a:solidFill>
                <a:latin typeface="Aptos"/>
                <a:ea typeface="Aptos"/>
                <a:cs typeface="Aptos"/>
              </a:rPr>
              <a:t>Vorschlagsmodus und explizites Publish begrenzen Autonomie.</a:t>
            </a:r>
          </a:p>
        </p:txBody>
      </p:sp>
      <p:sp>
        <p:nvSpPr>
          <p:cNvPr id="18" name="risks-dot-2">
            <a:extLst xmlns:a="http://schemas.openxmlformats.org/drawingml/2006/main">
              <a:ext uri="{FF2B5EF4-FFF2-40B4-BE49-F238E27FC236}">
                <a16:creationId xmlns:a16="http://schemas.microsoft.com/office/drawing/2014/main" id="{4B95A578-48C3-4A6A-9E8E-3D128FF919AF}"/>
              </a:ext>
            </a:extLst>
          </p:cNvPr>
          <p:cNvSpPr>
            <a:spLocks xmlns:a="http://schemas.openxmlformats.org/drawingml/2006/main" noGrp="1"/>
          </p:cNvSpPr>
          <p:nvPr/>
        </p:nvSpPr>
        <p:spPr>
          <a:xfrm xmlns:a="http://schemas.openxmlformats.org/drawingml/2006/main">
            <a:off x="6667500" y="3076575"/>
            <a:ext cx="95250" cy="95250"/>
          </a:xfrm>
          <a:prstGeom xmlns:a="http://schemas.openxmlformats.org/drawingml/2006/main" prst="ellipse">
            <a:avLst/>
          </a:prstGeom>
          <a:solidFill xmlns:a="http://schemas.openxmlformats.org/drawingml/2006/main">
            <a:srgbClr val="A33E3E"/>
          </a:solidFill>
          <a:ln xmlns:a="http://schemas.openxmlformats.org/drawingml/2006/main" w="0">
            <a:solidFill>
              <a:srgbClr val="A33E3E"/>
            </a:solidFill>
            <a:prstDash val="solid"/>
          </a:ln>
        </p:spPr>
      </p:sp>
      <p:sp>
        <p:nvSpPr>
          <p:cNvPr id="19" name="risks-text-2">
            <a:extLst xmlns:a="http://schemas.openxmlformats.org/drawingml/2006/main">
              <a:ext uri="{FF2B5EF4-FFF2-40B4-BE49-F238E27FC236}">
                <a16:creationId xmlns:a16="http://schemas.microsoft.com/office/drawing/2014/main" id="{49D71C19-8CBA-4483-AE6D-8BDF8D1FFFBF}"/>
              </a:ext>
            </a:extLst>
          </p:cNvPr>
          <p:cNvSpPr>
            <a:spLocks xmlns:a="http://schemas.openxmlformats.org/drawingml/2006/main" noGrp="1"/>
          </p:cNvSpPr>
          <p:nvPr/>
        </p:nvSpPr>
        <p:spPr>
          <a:xfrm xmlns:a="http://schemas.openxmlformats.org/drawingml/2006/main">
            <a:off x="6896100" y="2990850"/>
            <a:ext cx="44005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425" b="0">
                <a:solidFill>
                  <a:srgbClr val="17202A"/>
                </a:solidFill>
                <a:latin typeface="Aptos"/>
                <a:ea typeface="Aptos"/>
                <a:cs typeface="Aptos"/>
              </a:defRPr>
            </a:pPr>
            <a:r>
              <a:rPr sz="1425" b="0">
                <a:solidFill>
                  <a:srgbClr val="17202A"/>
                </a:solidFill>
                <a:latin typeface="Aptos"/>
                <a:ea typeface="Aptos"/>
                <a:cs typeface="Aptos"/>
              </a:rPr>
              <a:t>Ticketinhalte werden als Daten behandelt, nicht als Befehle.</a:t>
            </a:r>
          </a:p>
        </p:txBody>
      </p:sp>
      <p:sp>
        <p:nvSpPr>
          <p:cNvPr id="20" name="risks-dot-3">
            <a:extLst xmlns:a="http://schemas.openxmlformats.org/drawingml/2006/main">
              <a:ext uri="{FF2B5EF4-FFF2-40B4-BE49-F238E27FC236}">
                <a16:creationId xmlns:a16="http://schemas.microsoft.com/office/drawing/2014/main" id="{0D968AB7-8869-4791-A442-56EA71788B15}"/>
              </a:ext>
            </a:extLst>
          </p:cNvPr>
          <p:cNvSpPr>
            <a:spLocks xmlns:a="http://schemas.openxmlformats.org/drawingml/2006/main" noGrp="1"/>
          </p:cNvSpPr>
          <p:nvPr/>
        </p:nvSpPr>
        <p:spPr>
          <a:xfrm xmlns:a="http://schemas.openxmlformats.org/drawingml/2006/main">
            <a:off x="6667500" y="3629025"/>
            <a:ext cx="95250" cy="95250"/>
          </a:xfrm>
          <a:prstGeom xmlns:a="http://schemas.openxmlformats.org/drawingml/2006/main" prst="ellipse">
            <a:avLst/>
          </a:prstGeom>
          <a:solidFill xmlns:a="http://schemas.openxmlformats.org/drawingml/2006/main">
            <a:srgbClr val="A33E3E"/>
          </a:solidFill>
          <a:ln xmlns:a="http://schemas.openxmlformats.org/drawingml/2006/main" w="0">
            <a:solidFill>
              <a:srgbClr val="A33E3E"/>
            </a:solidFill>
            <a:prstDash val="solid"/>
          </a:ln>
        </p:spPr>
      </p:sp>
      <p:sp>
        <p:nvSpPr>
          <p:cNvPr id="21" name="risks-text-3">
            <a:extLst xmlns:a="http://schemas.openxmlformats.org/drawingml/2006/main">
              <a:ext uri="{FF2B5EF4-FFF2-40B4-BE49-F238E27FC236}">
                <a16:creationId xmlns:a16="http://schemas.microsoft.com/office/drawing/2014/main" id="{3BF545DC-E0FB-4523-855C-94EAE08E38BA}"/>
              </a:ext>
            </a:extLst>
          </p:cNvPr>
          <p:cNvSpPr>
            <a:spLocks xmlns:a="http://schemas.openxmlformats.org/drawingml/2006/main" noGrp="1"/>
          </p:cNvSpPr>
          <p:nvPr/>
        </p:nvSpPr>
        <p:spPr>
          <a:xfrm xmlns:a="http://schemas.openxmlformats.org/drawingml/2006/main">
            <a:off x="6896100" y="3543300"/>
            <a:ext cx="44005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425" b="0">
                <a:solidFill>
                  <a:srgbClr val="17202A"/>
                </a:solidFill>
                <a:latin typeface="Aptos"/>
                <a:ea typeface="Aptos"/>
                <a:cs typeface="Aptos"/>
              </a:defRPr>
            </a:pPr>
            <a:r>
              <a:rPr sz="1425" b="0">
                <a:solidFill>
                  <a:srgbClr val="17202A"/>
                </a:solidFill>
                <a:latin typeface="Aptos"/>
                <a:ea typeface="Aptos"/>
                <a:cs typeface="Aptos"/>
              </a:rPr>
              <a:t>Agent-JSON wird validiert, bevor es weiterverarbeitet wird.</a:t>
            </a:r>
          </a:p>
        </p:txBody>
      </p:sp>
      <p:sp>
        <p:nvSpPr>
          <p:cNvPr id="22" name="risks-dot-4">
            <a:extLst xmlns:a="http://schemas.openxmlformats.org/drawingml/2006/main">
              <a:ext uri="{FF2B5EF4-FFF2-40B4-BE49-F238E27FC236}">
                <a16:creationId xmlns:a16="http://schemas.microsoft.com/office/drawing/2014/main" id="{AB5F77FB-4155-4F20-B077-2C17F310899B}"/>
              </a:ext>
            </a:extLst>
          </p:cNvPr>
          <p:cNvSpPr>
            <a:spLocks xmlns:a="http://schemas.openxmlformats.org/drawingml/2006/main" noGrp="1"/>
          </p:cNvSpPr>
          <p:nvPr/>
        </p:nvSpPr>
        <p:spPr>
          <a:xfrm xmlns:a="http://schemas.openxmlformats.org/drawingml/2006/main">
            <a:off x="6667500" y="4276725"/>
            <a:ext cx="95250" cy="95250"/>
          </a:xfrm>
          <a:prstGeom xmlns:a="http://schemas.openxmlformats.org/drawingml/2006/main" prst="ellipse">
            <a:avLst/>
          </a:prstGeom>
          <a:solidFill xmlns:a="http://schemas.openxmlformats.org/drawingml/2006/main">
            <a:srgbClr val="A33E3E"/>
          </a:solidFill>
          <a:ln xmlns:a="http://schemas.openxmlformats.org/drawingml/2006/main" w="0">
            <a:solidFill>
              <a:srgbClr val="A33E3E"/>
            </a:solidFill>
            <a:prstDash val="solid"/>
          </a:ln>
        </p:spPr>
      </p:sp>
      <p:sp>
        <p:nvSpPr>
          <p:cNvPr id="23" name="risks-text-4">
            <a:extLst xmlns:a="http://schemas.openxmlformats.org/drawingml/2006/main">
              <a:ext uri="{FF2B5EF4-FFF2-40B4-BE49-F238E27FC236}">
                <a16:creationId xmlns:a16="http://schemas.microsoft.com/office/drawing/2014/main" id="{2E6EE726-1C35-43F5-A2E5-5A280F6AC0CF}"/>
              </a:ext>
            </a:extLst>
          </p:cNvPr>
          <p:cNvSpPr>
            <a:spLocks xmlns:a="http://schemas.openxmlformats.org/drawingml/2006/main" noGrp="1"/>
          </p:cNvSpPr>
          <p:nvPr/>
        </p:nvSpPr>
        <p:spPr>
          <a:xfrm xmlns:a="http://schemas.openxmlformats.org/drawingml/2006/main">
            <a:off x="6896100" y="4191000"/>
            <a:ext cx="44005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425" b="0">
                <a:solidFill>
                  <a:srgbClr val="17202A"/>
                </a:solidFill>
                <a:latin typeface="Aptos"/>
                <a:ea typeface="Aptos"/>
                <a:cs typeface="Aptos"/>
              </a:defRPr>
            </a:pPr>
            <a:r>
              <a:rPr sz="1425" b="0">
                <a:solidFill>
                  <a:srgbClr val="17202A"/>
                </a:solidFill>
                <a:latin typeface="Aptos"/>
                <a:ea typeface="Aptos"/>
                <a:cs typeface="Aptos"/>
              </a:rPr>
              <a:t>Logging, Tests und Simulation machen Fehler nachvollziehbar.</a:t>
            </a:r>
          </a:p>
        </p:txBody>
      </p:sp>
      <p:sp>
        <p:nvSpPr>
          <p:cNvPr id="24" name="closing-question">
            <a:extLst xmlns:a="http://schemas.openxmlformats.org/drawingml/2006/main">
              <a:ext uri="{FF2B5EF4-FFF2-40B4-BE49-F238E27FC236}">
                <a16:creationId xmlns:a16="http://schemas.microsoft.com/office/drawing/2014/main" id="{B6C8AAC5-2DB7-4266-8113-A83AC7A28AD4}"/>
              </a:ext>
            </a:extLst>
          </p:cNvPr>
          <p:cNvSpPr>
            <a:spLocks xmlns:a="http://schemas.openxmlformats.org/drawingml/2006/main" noGrp="1"/>
          </p:cNvSpPr>
          <p:nvPr/>
        </p:nvSpPr>
        <p:spPr>
          <a:xfrm xmlns:a="http://schemas.openxmlformats.org/drawingml/2006/main">
            <a:off x="1638300" y="5505450"/>
            <a:ext cx="8915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1800" b="1">
                <a:solidFill>
                  <a:srgbClr val="1F6F78"/>
                </a:solidFill>
                <a:latin typeface="Aptos"/>
                <a:ea typeface="Aptos"/>
                <a:cs typeface="Aptos"/>
              </a:defRPr>
            </a:pPr>
            <a:r>
              <a:rPr sz="1800" b="1">
                <a:solidFill>
                  <a:srgbClr val="1F6F78"/>
                </a:solidFill>
                <a:latin typeface="Aptos"/>
                <a:ea typeface="Aptos"/>
                <a:cs typeface="Aptos"/>
              </a:rPr>
              <a:t>Kernpunkt: KI-Ausgaben müssen begrenzt, prüfbar und freigabepflichtig bleiben.</a:t>
            </a:r>
          </a:p>
        </p:txBody>
      </p:sp>
      <p:sp>
        <p:nvSpPr>
          <p:cNvPr id="25" name="footer-left-9">
            <a:extLst xmlns:a="http://schemas.openxmlformats.org/drawingml/2006/main">
              <a:ext uri="{FF2B5EF4-FFF2-40B4-BE49-F238E27FC236}">
                <a16:creationId xmlns:a16="http://schemas.microsoft.com/office/drawing/2014/main" id="{6F69E275-AF25-4AE4-8EFF-4EA0469C4D9F}"/>
              </a:ext>
            </a:extLst>
          </p:cNvPr>
          <p:cNvSpPr>
            <a:spLocks xmlns:a="http://schemas.openxmlformats.org/drawingml/2006/main" noGrp="1"/>
          </p:cNvSpPr>
          <p:nvPr/>
        </p:nvSpPr>
        <p:spPr>
          <a:xfrm xmlns:a="http://schemas.openxmlformats.org/drawingml/2006/main">
            <a:off x="723900" y="63436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75" b="0">
                <a:solidFill>
                  <a:srgbClr val="5B6470"/>
                </a:solidFill>
                <a:latin typeface="Aptos"/>
                <a:ea typeface="Aptos"/>
                <a:cs typeface="Aptos"/>
              </a:defRPr>
            </a:pPr>
            <a:r>
              <a:rPr sz="975" b="0">
                <a:solidFill>
                  <a:srgbClr val="5B6470"/>
                </a:solidFill>
                <a:latin typeface="Aptos"/>
                <a:ea typeface="Aptos"/>
                <a:cs typeface="Aptos"/>
              </a:rPr>
              <a:t>Projektvorstellung für den Zweitgutachter</a:t>
            </a:r>
          </a:p>
        </p:txBody>
      </p:sp>
      <p:sp>
        <p:nvSpPr>
          <p:cNvPr id="26" name="footer-right-9">
            <a:extLst xmlns:a="http://schemas.openxmlformats.org/drawingml/2006/main">
              <a:ext uri="{FF2B5EF4-FFF2-40B4-BE49-F238E27FC236}">
                <a16:creationId xmlns:a16="http://schemas.microsoft.com/office/drawing/2014/main" id="{C76AD384-53B0-44D9-B55D-D481C523A63E}"/>
              </a:ext>
            </a:extLst>
          </p:cNvPr>
          <p:cNvSpPr>
            <a:spLocks xmlns:a="http://schemas.openxmlformats.org/drawingml/2006/main" noGrp="1"/>
          </p:cNvSpPr>
          <p:nvPr/>
        </p:nvSpPr>
        <p:spPr>
          <a:xfrm xmlns:a="http://schemas.openxmlformats.org/drawingml/2006/main">
            <a:off x="10934700" y="6286500"/>
            <a:ext cx="533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1200" b="1">
                <a:solidFill>
                  <a:srgbClr val="5B6470"/>
                </a:solidFill>
                <a:latin typeface="Aptos"/>
                <a:ea typeface="Aptos"/>
                <a:cs typeface="Aptos"/>
              </a:defRPr>
            </a:pPr>
            <a:r>
              <a:rPr sz="1200" b="1">
                <a:solidFill>
                  <a:srgbClr val="5B6470"/>
                </a:solidFill>
                <a:latin typeface="Aptos"/>
                <a:ea typeface="Aptos"/>
                <a:cs typeface="Aptos"/>
              </a:rPr>
              <a:t>15</a:t>
            </a:r>
          </a:p>
        </p:txBody>
      </p:sp>
    </p:spTree>
    <p:extLst>
      <p:ext uri="{BB962C8B-B14F-4D97-AF65-F5344CB8AC3E}">
        <p14:creationId xmlns:p14="http://schemas.microsoft.com/office/powerpoint/2010/main" val="105652746"/>
      </p:ext>
    </p:extLst>
  </p:cSld>
</p:sld>
</file>

<file path=ppt/slides/slide16.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 name="kicker-9">
            <a:extLst xmlns:a="http://schemas.openxmlformats.org/drawingml/2006/main">
              <a:ext uri="{FF2B5EF4-FFF2-40B4-BE49-F238E27FC236}">
                <a16:creationId xmlns:a16="http://schemas.microsoft.com/office/drawing/2014/main" id="{BF8BAE05-21D4-451F-A7B3-61E148BB2C99}"/>
              </a:ext>
            </a:extLst>
          </p:cNvPr>
          <p:cNvSpPr>
            <a:spLocks xmlns:a="http://schemas.openxmlformats.org/drawingml/2006/main" noGrp="1"/>
          </p:cNvSpPr>
          <p:nvPr/>
        </p:nvSpPr>
        <p:spPr>
          <a:xfrm xmlns:a="http://schemas.openxmlformats.org/drawingml/2006/main">
            <a:off x="723900" y="457200"/>
            <a:ext cx="723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125" b="1">
                <a:solidFill>
                  <a:srgbClr val="1F6F78"/>
                </a:solidFill>
                <a:latin typeface="Aptos"/>
                <a:ea typeface="Aptos"/>
                <a:cs typeface="Aptos"/>
              </a:defRPr>
            </a:pPr>
            <a:r>
              <a:rPr sz="1125" b="1">
                <a:solidFill>
                  <a:srgbClr val="1F6F78"/>
                </a:solidFill>
                <a:latin typeface="Aptos"/>
                <a:ea typeface="Aptos"/>
                <a:cs typeface="Aptos"/>
              </a:rPr>
              <a:t>GITLAB DEV-ASSIST</a:t>
            </a:r>
          </a:p>
        </p:txBody>
      </p:sp>
      <p:sp>
        <p:nvSpPr>
          <p:cNvPr id="2" name="title-9">
            <a:extLst xmlns:a="http://schemas.openxmlformats.org/drawingml/2006/main">
              <a:ext uri="{FF2B5EF4-FFF2-40B4-BE49-F238E27FC236}">
                <a16:creationId xmlns:a16="http://schemas.microsoft.com/office/drawing/2014/main" id="{624C5662-6DF3-41B8-94CE-6A0AB0A3D00C}"/>
              </a:ext>
            </a:extLst>
          </p:cNvPr>
          <p:cNvSpPr>
            <a:spLocks xmlns:a="http://schemas.openxmlformats.org/drawingml/2006/main" noGrp="1"/>
          </p:cNvSpPr>
          <p:nvPr/>
        </p:nvSpPr>
        <p:spPr>
          <a:xfrm xmlns:a="http://schemas.openxmlformats.org/drawingml/2006/main">
            <a:off x="723900" y="800100"/>
            <a:ext cx="8763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850" b="1">
                <a:solidFill>
                  <a:srgbClr val="17202A"/>
                </a:solidFill>
                <a:latin typeface="Aptos Display"/>
                <a:ea typeface="Aptos Display"/>
                <a:cs typeface="Aptos Display"/>
              </a:defRPr>
            </a:pPr>
            <a:r>
              <a:rPr sz="2850" b="1">
                <a:solidFill>
                  <a:srgbClr val="17202A"/>
                </a:solidFill>
                <a:latin typeface="Aptos Display"/>
                <a:ea typeface="Aptos Display"/>
                <a:cs typeface="Aptos Display"/>
              </a:rPr>
              <a:t>Erwarteter Beitrag und Abstimmung</a:t>
            </a:r>
          </a:p>
        </p:txBody>
      </p:sp>
      <p:sp>
        <p:nvSpPr>
          <p:cNvPr id="3" name="title-rule-9">
            <a:extLst xmlns:a="http://schemas.openxmlformats.org/drawingml/2006/main">
              <a:ext uri="{FF2B5EF4-FFF2-40B4-BE49-F238E27FC236}">
                <a16:creationId xmlns:a16="http://schemas.microsoft.com/office/drawing/2014/main" id="{AB2349A6-1EC8-4BBD-BF35-3FC74A0A9BF2}"/>
              </a:ext>
            </a:extLst>
          </p:cNvPr>
          <p:cNvSpPr>
            <a:spLocks xmlns:a="http://schemas.openxmlformats.org/drawingml/2006/main" noGrp="1"/>
          </p:cNvSpPr>
          <p:nvPr/>
        </p:nvSpPr>
        <p:spPr>
          <a:xfrm xmlns:a="http://schemas.openxmlformats.org/drawingml/2006/main">
            <a:off x="723900" y="1466850"/>
            <a:ext cx="10744200" cy="19050"/>
          </a:xfrm>
          <a:prstGeom xmlns:a="http://schemas.openxmlformats.org/drawingml/2006/main" prst="rect">
            <a:avLst/>
          </a:prstGeom>
          <a:solidFill xmlns:a="http://schemas.openxmlformats.org/drawingml/2006/main">
            <a:srgbClr val="E6EBF1"/>
          </a:solidFill>
          <a:ln xmlns:a="http://schemas.openxmlformats.org/drawingml/2006/main" w="0">
            <a:solidFill>
              <a:srgbClr val="E6EBF1"/>
            </a:solidFill>
            <a:prstDash val="solid"/>
          </a:ln>
        </p:spPr>
      </p:sp>
      <p:sp>
        <p:nvSpPr>
          <p:cNvPr id="4" name="criteria-label-rule">
            <a:extLst xmlns:a="http://schemas.openxmlformats.org/drawingml/2006/main">
              <a:ext uri="{FF2B5EF4-FFF2-40B4-BE49-F238E27FC236}">
                <a16:creationId xmlns:a16="http://schemas.microsoft.com/office/drawing/2014/main" id="{74C87FFC-4EA1-40F2-BFF3-17A9AAA996BA}"/>
              </a:ext>
            </a:extLst>
          </p:cNvPr>
          <p:cNvSpPr>
            <a:spLocks xmlns:a="http://schemas.openxmlformats.org/drawingml/2006/main" noGrp="1"/>
          </p:cNvSpPr>
          <p:nvPr/>
        </p:nvSpPr>
        <p:spPr>
          <a:xfrm xmlns:a="http://schemas.openxmlformats.org/drawingml/2006/main">
            <a:off x="876300" y="1981200"/>
            <a:ext cx="266700" cy="38100"/>
          </a:xfrm>
          <a:prstGeom xmlns:a="http://schemas.openxmlformats.org/drawingml/2006/main" prst="rect">
            <a:avLst/>
          </a:prstGeom>
          <a:solidFill xmlns:a="http://schemas.openxmlformats.org/drawingml/2006/main">
            <a:srgbClr val="2E7D5B"/>
          </a:solidFill>
          <a:ln xmlns:a="http://schemas.openxmlformats.org/drawingml/2006/main" w="0">
            <a:solidFill>
              <a:srgbClr val="2E7D5B"/>
            </a:solidFill>
            <a:prstDash val="solid"/>
          </a:ln>
        </p:spPr>
      </p:sp>
      <p:sp>
        <p:nvSpPr>
          <p:cNvPr id="5" name="criteria-label">
            <a:extLst xmlns:a="http://schemas.openxmlformats.org/drawingml/2006/main">
              <a:ext uri="{FF2B5EF4-FFF2-40B4-BE49-F238E27FC236}">
                <a16:creationId xmlns:a16="http://schemas.microsoft.com/office/drawing/2014/main" id="{EA7BF1FD-18F7-4F1A-AA8B-D8DCD9916324}"/>
              </a:ext>
            </a:extLst>
          </p:cNvPr>
          <p:cNvSpPr>
            <a:spLocks xmlns:a="http://schemas.openxmlformats.org/drawingml/2006/main" noGrp="1"/>
          </p:cNvSpPr>
          <p:nvPr/>
        </p:nvSpPr>
        <p:spPr>
          <a:xfrm xmlns:a="http://schemas.openxmlformats.org/drawingml/2006/main">
            <a:off x="1295400" y="1905000"/>
            <a:ext cx="400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500" b="1">
                <a:solidFill>
                  <a:srgbClr val="17202A"/>
                </a:solidFill>
                <a:latin typeface="Aptos"/>
                <a:ea typeface="Aptos"/>
                <a:cs typeface="Aptos"/>
              </a:defRPr>
            </a:pPr>
            <a:r>
              <a:rPr sz="1500" b="1">
                <a:solidFill>
                  <a:srgbClr val="17202A"/>
                </a:solidFill>
                <a:latin typeface="Aptos"/>
                <a:ea typeface="Aptos"/>
                <a:cs typeface="Aptos"/>
              </a:rPr>
              <a:t>Beitrag der Arbeit</a:t>
            </a:r>
          </a:p>
        </p:txBody>
      </p:sp>
      <p:sp>
        <p:nvSpPr>
          <p:cNvPr id="6" name="criteria-dot-1">
            <a:extLst xmlns:a="http://schemas.openxmlformats.org/drawingml/2006/main">
              <a:ext uri="{FF2B5EF4-FFF2-40B4-BE49-F238E27FC236}">
                <a16:creationId xmlns:a16="http://schemas.microsoft.com/office/drawing/2014/main" id="{6E232815-B2D1-4F18-9B73-31105DF2D633}"/>
              </a:ext>
            </a:extLst>
          </p:cNvPr>
          <p:cNvSpPr>
            <a:spLocks xmlns:a="http://schemas.openxmlformats.org/drawingml/2006/main" noGrp="1"/>
          </p:cNvSpPr>
          <p:nvPr/>
        </p:nvSpPr>
        <p:spPr>
          <a:xfrm xmlns:a="http://schemas.openxmlformats.org/drawingml/2006/main">
            <a:off x="933450" y="2562225"/>
            <a:ext cx="95250" cy="95250"/>
          </a:xfrm>
          <a:prstGeom xmlns:a="http://schemas.openxmlformats.org/drawingml/2006/main" prst="ellipse">
            <a:avLst/>
          </a:prstGeom>
          <a:solidFill xmlns:a="http://schemas.openxmlformats.org/drawingml/2006/main">
            <a:srgbClr val="2E7D5B"/>
          </a:solidFill>
          <a:ln xmlns:a="http://schemas.openxmlformats.org/drawingml/2006/main" w="0">
            <a:solidFill>
              <a:srgbClr val="2E7D5B"/>
            </a:solidFill>
            <a:prstDash val="solid"/>
          </a:ln>
        </p:spPr>
      </p:sp>
      <p:sp>
        <p:nvSpPr>
          <p:cNvPr id="7" name="criteria-text-1">
            <a:extLst xmlns:a="http://schemas.openxmlformats.org/drawingml/2006/main">
              <a:ext uri="{FF2B5EF4-FFF2-40B4-BE49-F238E27FC236}">
                <a16:creationId xmlns:a16="http://schemas.microsoft.com/office/drawing/2014/main" id="{5C2AF26C-39DB-4FBD-8709-8C02433440A1}"/>
              </a:ext>
            </a:extLst>
          </p:cNvPr>
          <p:cNvSpPr>
            <a:spLocks xmlns:a="http://schemas.openxmlformats.org/drawingml/2006/main" noGrp="1"/>
          </p:cNvSpPr>
          <p:nvPr/>
        </p:nvSpPr>
        <p:spPr>
          <a:xfrm xmlns:a="http://schemas.openxmlformats.org/drawingml/2006/main">
            <a:off x="1162050" y="2476500"/>
            <a:ext cx="46101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425" b="0">
                <a:solidFill>
                  <a:srgbClr val="17202A"/>
                </a:solidFill>
                <a:latin typeface="Aptos"/>
                <a:ea typeface="Aptos"/>
                <a:cs typeface="Aptos"/>
              </a:defRPr>
            </a:pPr>
            <a:r>
              <a:rPr sz="1425" b="0">
                <a:solidFill>
                  <a:srgbClr val="17202A"/>
                </a:solidFill>
                <a:latin typeface="Aptos"/>
                <a:ea typeface="Aptos"/>
                <a:cs typeface="Aptos"/>
              </a:rPr>
              <a:t>Prototypischer GitLab-Assistent für konkrete Ticket-Aufbereitung.</a:t>
            </a:r>
          </a:p>
        </p:txBody>
      </p:sp>
      <p:sp>
        <p:nvSpPr>
          <p:cNvPr id="8" name="criteria-dot-2">
            <a:extLst xmlns:a="http://schemas.openxmlformats.org/drawingml/2006/main">
              <a:ext uri="{FF2B5EF4-FFF2-40B4-BE49-F238E27FC236}">
                <a16:creationId xmlns:a16="http://schemas.microsoft.com/office/drawing/2014/main" id="{55844CDB-6466-4C0A-9010-73D5F1F19B2A}"/>
              </a:ext>
            </a:extLst>
          </p:cNvPr>
          <p:cNvSpPr>
            <a:spLocks xmlns:a="http://schemas.openxmlformats.org/drawingml/2006/main" noGrp="1"/>
          </p:cNvSpPr>
          <p:nvPr/>
        </p:nvSpPr>
        <p:spPr>
          <a:xfrm xmlns:a="http://schemas.openxmlformats.org/drawingml/2006/main">
            <a:off x="933450" y="3114675"/>
            <a:ext cx="95250" cy="95250"/>
          </a:xfrm>
          <a:prstGeom xmlns:a="http://schemas.openxmlformats.org/drawingml/2006/main" prst="ellipse">
            <a:avLst/>
          </a:prstGeom>
          <a:solidFill xmlns:a="http://schemas.openxmlformats.org/drawingml/2006/main">
            <a:srgbClr val="2E7D5B"/>
          </a:solidFill>
          <a:ln xmlns:a="http://schemas.openxmlformats.org/drawingml/2006/main" w="0">
            <a:solidFill>
              <a:srgbClr val="2E7D5B"/>
            </a:solidFill>
            <a:prstDash val="solid"/>
          </a:ln>
        </p:spPr>
      </p:sp>
      <p:sp>
        <p:nvSpPr>
          <p:cNvPr id="9" name="criteria-text-2">
            <a:extLst xmlns:a="http://schemas.openxmlformats.org/drawingml/2006/main">
              <a:ext uri="{FF2B5EF4-FFF2-40B4-BE49-F238E27FC236}">
                <a16:creationId xmlns:a16="http://schemas.microsoft.com/office/drawing/2014/main" id="{8A661220-DB8E-4D78-AEEF-EA7E9DBE340C}"/>
              </a:ext>
            </a:extLst>
          </p:cNvPr>
          <p:cNvSpPr>
            <a:spLocks xmlns:a="http://schemas.openxmlformats.org/drawingml/2006/main" noGrp="1"/>
          </p:cNvSpPr>
          <p:nvPr/>
        </p:nvSpPr>
        <p:spPr>
          <a:xfrm xmlns:a="http://schemas.openxmlformats.org/drawingml/2006/main">
            <a:off x="1162050" y="3028950"/>
            <a:ext cx="46101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425" b="0">
                <a:solidFill>
                  <a:srgbClr val="17202A"/>
                </a:solidFill>
                <a:latin typeface="Aptos"/>
                <a:ea typeface="Aptos"/>
                <a:cs typeface="Aptos"/>
              </a:defRPr>
            </a:pPr>
            <a:r>
              <a:rPr sz="1425" b="0">
                <a:solidFill>
                  <a:srgbClr val="17202A"/>
                </a:solidFill>
                <a:latin typeface="Aptos"/>
                <a:ea typeface="Aptos"/>
                <a:cs typeface="Aptos"/>
              </a:rPr>
              <a:t>Verbindung von Ticketqualitätskriterien mit KI-gestütztem Workflow.</a:t>
            </a:r>
          </a:p>
        </p:txBody>
      </p:sp>
      <p:sp>
        <p:nvSpPr>
          <p:cNvPr id="10" name="criteria-dot-3">
            <a:extLst xmlns:a="http://schemas.openxmlformats.org/drawingml/2006/main">
              <a:ext uri="{FF2B5EF4-FFF2-40B4-BE49-F238E27FC236}">
                <a16:creationId xmlns:a16="http://schemas.microsoft.com/office/drawing/2014/main" id="{31021407-6E86-4243-8A78-14308AFE6F1C}"/>
              </a:ext>
            </a:extLst>
          </p:cNvPr>
          <p:cNvSpPr>
            <a:spLocks xmlns:a="http://schemas.openxmlformats.org/drawingml/2006/main" noGrp="1"/>
          </p:cNvSpPr>
          <p:nvPr/>
        </p:nvSpPr>
        <p:spPr>
          <a:xfrm xmlns:a="http://schemas.openxmlformats.org/drawingml/2006/main">
            <a:off x="933450" y="3667125"/>
            <a:ext cx="95250" cy="95250"/>
          </a:xfrm>
          <a:prstGeom xmlns:a="http://schemas.openxmlformats.org/drawingml/2006/main" prst="ellipse">
            <a:avLst/>
          </a:prstGeom>
          <a:solidFill xmlns:a="http://schemas.openxmlformats.org/drawingml/2006/main">
            <a:srgbClr val="2E7D5B"/>
          </a:solidFill>
          <a:ln xmlns:a="http://schemas.openxmlformats.org/drawingml/2006/main" w="0">
            <a:solidFill>
              <a:srgbClr val="2E7D5B"/>
            </a:solidFill>
            <a:prstDash val="solid"/>
          </a:ln>
        </p:spPr>
      </p:sp>
      <p:sp>
        <p:nvSpPr>
          <p:cNvPr id="11" name="criteria-text-3">
            <a:extLst xmlns:a="http://schemas.openxmlformats.org/drawingml/2006/main">
              <a:ext uri="{FF2B5EF4-FFF2-40B4-BE49-F238E27FC236}">
                <a16:creationId xmlns:a16="http://schemas.microsoft.com/office/drawing/2014/main" id="{B021331A-4860-49FE-B71C-7B175007DA5D}"/>
              </a:ext>
            </a:extLst>
          </p:cNvPr>
          <p:cNvSpPr>
            <a:spLocks xmlns:a="http://schemas.openxmlformats.org/drawingml/2006/main" noGrp="1"/>
          </p:cNvSpPr>
          <p:nvPr/>
        </p:nvSpPr>
        <p:spPr>
          <a:xfrm xmlns:a="http://schemas.openxmlformats.org/drawingml/2006/main">
            <a:off x="1162050" y="3581400"/>
            <a:ext cx="4610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425" b="0">
                <a:solidFill>
                  <a:srgbClr val="17202A"/>
                </a:solidFill>
                <a:latin typeface="Aptos"/>
                <a:ea typeface="Aptos"/>
                <a:cs typeface="Aptos"/>
              </a:defRPr>
            </a:pPr>
            <a:r>
              <a:rPr sz="1425" b="0">
                <a:solidFill>
                  <a:srgbClr val="17202A"/>
                </a:solidFill>
                <a:latin typeface="Aptos"/>
                <a:ea typeface="Aptos"/>
                <a:cs typeface="Aptos"/>
              </a:rPr>
              <a:t>Architekturentscheidungen für kontrollierte Agenten-Integration.</a:t>
            </a:r>
          </a:p>
        </p:txBody>
      </p:sp>
      <p:sp>
        <p:nvSpPr>
          <p:cNvPr id="12" name="criteria-dot-4">
            <a:extLst xmlns:a="http://schemas.openxmlformats.org/drawingml/2006/main">
              <a:ext uri="{FF2B5EF4-FFF2-40B4-BE49-F238E27FC236}">
                <a16:creationId xmlns:a16="http://schemas.microsoft.com/office/drawing/2014/main" id="{F9FA3BEB-38A9-48B1-9E61-85003958848F}"/>
              </a:ext>
            </a:extLst>
          </p:cNvPr>
          <p:cNvSpPr>
            <a:spLocks xmlns:a="http://schemas.openxmlformats.org/drawingml/2006/main" noGrp="1"/>
          </p:cNvSpPr>
          <p:nvPr/>
        </p:nvSpPr>
        <p:spPr>
          <a:xfrm xmlns:a="http://schemas.openxmlformats.org/drawingml/2006/main">
            <a:off x="933450" y="4295775"/>
            <a:ext cx="95250" cy="95250"/>
          </a:xfrm>
          <a:prstGeom xmlns:a="http://schemas.openxmlformats.org/drawingml/2006/main" prst="ellipse">
            <a:avLst/>
          </a:prstGeom>
          <a:solidFill xmlns:a="http://schemas.openxmlformats.org/drawingml/2006/main">
            <a:srgbClr val="2E7D5B"/>
          </a:solidFill>
          <a:ln xmlns:a="http://schemas.openxmlformats.org/drawingml/2006/main" w="0">
            <a:solidFill>
              <a:srgbClr val="2E7D5B"/>
            </a:solidFill>
            <a:prstDash val="solid"/>
          </a:ln>
        </p:spPr>
      </p:sp>
      <p:sp>
        <p:nvSpPr>
          <p:cNvPr id="13" name="criteria-text-4">
            <a:extLst xmlns:a="http://schemas.openxmlformats.org/drawingml/2006/main">
              <a:ext uri="{FF2B5EF4-FFF2-40B4-BE49-F238E27FC236}">
                <a16:creationId xmlns:a16="http://schemas.microsoft.com/office/drawing/2014/main" id="{7F93A194-D3CF-4C18-804C-DE094F24AFC6}"/>
              </a:ext>
            </a:extLst>
          </p:cNvPr>
          <p:cNvSpPr>
            <a:spLocks xmlns:a="http://schemas.openxmlformats.org/drawingml/2006/main" noGrp="1"/>
          </p:cNvSpPr>
          <p:nvPr/>
        </p:nvSpPr>
        <p:spPr>
          <a:xfrm xmlns:a="http://schemas.openxmlformats.org/drawingml/2006/main">
            <a:off x="1162050" y="4210050"/>
            <a:ext cx="4610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425" b="0">
                <a:solidFill>
                  <a:srgbClr val="17202A"/>
                </a:solidFill>
                <a:latin typeface="Aptos"/>
                <a:ea typeface="Aptos"/>
                <a:cs typeface="Aptos"/>
              </a:defRPr>
            </a:pPr>
            <a:r>
              <a:rPr sz="1425" b="0">
                <a:solidFill>
                  <a:srgbClr val="17202A"/>
                </a:solidFill>
                <a:latin typeface="Aptos"/>
                <a:ea typeface="Aptos"/>
                <a:cs typeface="Aptos"/>
              </a:rPr>
              <a:t>Test- und Evaluationskonzept für reproduzierbares Verhalten.</a:t>
            </a:r>
          </a:p>
        </p:txBody>
      </p:sp>
      <p:sp>
        <p:nvSpPr>
          <p:cNvPr id="14" name="risk-label-rule">
            <a:extLst xmlns:a="http://schemas.openxmlformats.org/drawingml/2006/main">
              <a:ext uri="{FF2B5EF4-FFF2-40B4-BE49-F238E27FC236}">
                <a16:creationId xmlns:a16="http://schemas.microsoft.com/office/drawing/2014/main" id="{BA3CCE0B-1DC5-4D27-925F-8043BB0ACEE7}"/>
              </a:ext>
            </a:extLst>
          </p:cNvPr>
          <p:cNvSpPr>
            <a:spLocks xmlns:a="http://schemas.openxmlformats.org/drawingml/2006/main" noGrp="1"/>
          </p:cNvSpPr>
          <p:nvPr/>
        </p:nvSpPr>
        <p:spPr>
          <a:xfrm xmlns:a="http://schemas.openxmlformats.org/drawingml/2006/main">
            <a:off x="6610350" y="1981200"/>
            <a:ext cx="266700" cy="38100"/>
          </a:xfrm>
          <a:prstGeom xmlns:a="http://schemas.openxmlformats.org/drawingml/2006/main" prst="rect">
            <a:avLst/>
          </a:prstGeom>
          <a:solidFill xmlns:a="http://schemas.openxmlformats.org/drawingml/2006/main">
            <a:srgbClr val="A33E3E"/>
          </a:solidFill>
          <a:ln xmlns:a="http://schemas.openxmlformats.org/drawingml/2006/main" w="0">
            <a:solidFill>
              <a:srgbClr val="A33E3E"/>
            </a:solidFill>
            <a:prstDash val="solid"/>
          </a:ln>
        </p:spPr>
      </p:sp>
      <p:sp>
        <p:nvSpPr>
          <p:cNvPr id="15" name="risk-label">
            <a:extLst xmlns:a="http://schemas.openxmlformats.org/drawingml/2006/main">
              <a:ext uri="{FF2B5EF4-FFF2-40B4-BE49-F238E27FC236}">
                <a16:creationId xmlns:a16="http://schemas.microsoft.com/office/drawing/2014/main" id="{33A73BFC-1E76-4021-96DE-90D5A9E95944}"/>
              </a:ext>
            </a:extLst>
          </p:cNvPr>
          <p:cNvSpPr>
            <a:spLocks xmlns:a="http://schemas.openxmlformats.org/drawingml/2006/main" noGrp="1"/>
          </p:cNvSpPr>
          <p:nvPr/>
        </p:nvSpPr>
        <p:spPr>
          <a:xfrm xmlns:a="http://schemas.openxmlformats.org/drawingml/2006/main">
            <a:off x="7029450" y="1905000"/>
            <a:ext cx="400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500" b="1">
                <a:solidFill>
                  <a:srgbClr val="17202A"/>
                </a:solidFill>
                <a:latin typeface="Aptos"/>
                <a:ea typeface="Aptos"/>
                <a:cs typeface="Aptos"/>
              </a:defRPr>
            </a:pPr>
            <a:r>
              <a:rPr sz="1500" b="1">
                <a:solidFill>
                  <a:srgbClr val="17202A"/>
                </a:solidFill>
                <a:latin typeface="Aptos"/>
                <a:ea typeface="Aptos"/>
                <a:cs typeface="Aptos"/>
              </a:rPr>
              <a:t>Abstimmungspunkt</a:t>
            </a:r>
          </a:p>
        </p:txBody>
      </p:sp>
      <p:sp>
        <p:nvSpPr>
          <p:cNvPr id="16" name="risks-dot-1">
            <a:extLst xmlns:a="http://schemas.openxmlformats.org/drawingml/2006/main">
              <a:ext uri="{FF2B5EF4-FFF2-40B4-BE49-F238E27FC236}">
                <a16:creationId xmlns:a16="http://schemas.microsoft.com/office/drawing/2014/main" id="{F794A553-1891-45D4-9B9A-EEE0E329ED34}"/>
              </a:ext>
            </a:extLst>
          </p:cNvPr>
          <p:cNvSpPr>
            <a:spLocks xmlns:a="http://schemas.openxmlformats.org/drawingml/2006/main" noGrp="1"/>
          </p:cNvSpPr>
          <p:nvPr/>
        </p:nvSpPr>
        <p:spPr>
          <a:xfrm xmlns:a="http://schemas.openxmlformats.org/drawingml/2006/main">
            <a:off x="6667500" y="2562225"/>
            <a:ext cx="95250" cy="95250"/>
          </a:xfrm>
          <a:prstGeom xmlns:a="http://schemas.openxmlformats.org/drawingml/2006/main" prst="ellipse">
            <a:avLst/>
          </a:prstGeom>
          <a:solidFill xmlns:a="http://schemas.openxmlformats.org/drawingml/2006/main">
            <a:srgbClr val="A33E3E"/>
          </a:solidFill>
          <a:ln xmlns:a="http://schemas.openxmlformats.org/drawingml/2006/main" w="0">
            <a:solidFill>
              <a:srgbClr val="A33E3E"/>
            </a:solidFill>
            <a:prstDash val="solid"/>
          </a:ln>
        </p:spPr>
      </p:sp>
      <p:sp>
        <p:nvSpPr>
          <p:cNvPr id="17" name="risks-text-1">
            <a:extLst xmlns:a="http://schemas.openxmlformats.org/drawingml/2006/main">
              <a:ext uri="{FF2B5EF4-FFF2-40B4-BE49-F238E27FC236}">
                <a16:creationId xmlns:a16="http://schemas.microsoft.com/office/drawing/2014/main" id="{50D890AE-E287-488A-A1C1-5978F5FA3587}"/>
              </a:ext>
            </a:extLst>
          </p:cNvPr>
          <p:cNvSpPr>
            <a:spLocks xmlns:a="http://schemas.openxmlformats.org/drawingml/2006/main" noGrp="1"/>
          </p:cNvSpPr>
          <p:nvPr/>
        </p:nvSpPr>
        <p:spPr>
          <a:xfrm xmlns:a="http://schemas.openxmlformats.org/drawingml/2006/main">
            <a:off x="6896100" y="2476500"/>
            <a:ext cx="44005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425" b="0">
                <a:solidFill>
                  <a:srgbClr val="17202A"/>
                </a:solidFill>
                <a:latin typeface="Aptos"/>
                <a:ea typeface="Aptos"/>
                <a:cs typeface="Aptos"/>
              </a:defRPr>
            </a:pPr>
            <a:r>
              <a:rPr sz="1425" b="0">
                <a:solidFill>
                  <a:srgbClr val="17202A"/>
                </a:solidFill>
                <a:latin typeface="Aptos"/>
                <a:ea typeface="Aptos"/>
                <a:cs typeface="Aptos"/>
              </a:rPr>
              <a:t>Ist Assistenz statt Autonomie für die Bewertung passend?</a:t>
            </a:r>
          </a:p>
        </p:txBody>
      </p:sp>
      <p:sp>
        <p:nvSpPr>
          <p:cNvPr id="18" name="risks-dot-2">
            <a:extLst xmlns:a="http://schemas.openxmlformats.org/drawingml/2006/main">
              <a:ext uri="{FF2B5EF4-FFF2-40B4-BE49-F238E27FC236}">
                <a16:creationId xmlns:a16="http://schemas.microsoft.com/office/drawing/2014/main" id="{4B95A578-48C3-4A6A-9E8E-3D128FF919AF}"/>
              </a:ext>
            </a:extLst>
          </p:cNvPr>
          <p:cNvSpPr>
            <a:spLocks xmlns:a="http://schemas.openxmlformats.org/drawingml/2006/main" noGrp="1"/>
          </p:cNvSpPr>
          <p:nvPr/>
        </p:nvSpPr>
        <p:spPr>
          <a:xfrm xmlns:a="http://schemas.openxmlformats.org/drawingml/2006/main">
            <a:off x="6667500" y="3076575"/>
            <a:ext cx="95250" cy="95250"/>
          </a:xfrm>
          <a:prstGeom xmlns:a="http://schemas.openxmlformats.org/drawingml/2006/main" prst="ellipse">
            <a:avLst/>
          </a:prstGeom>
          <a:solidFill xmlns:a="http://schemas.openxmlformats.org/drawingml/2006/main">
            <a:srgbClr val="A33E3E"/>
          </a:solidFill>
          <a:ln xmlns:a="http://schemas.openxmlformats.org/drawingml/2006/main" w="0">
            <a:solidFill>
              <a:srgbClr val="A33E3E"/>
            </a:solidFill>
            <a:prstDash val="solid"/>
          </a:ln>
        </p:spPr>
      </p:sp>
      <p:sp>
        <p:nvSpPr>
          <p:cNvPr id="19" name="risks-text-2">
            <a:extLst xmlns:a="http://schemas.openxmlformats.org/drawingml/2006/main">
              <a:ext uri="{FF2B5EF4-FFF2-40B4-BE49-F238E27FC236}">
                <a16:creationId xmlns:a16="http://schemas.microsoft.com/office/drawing/2014/main" id="{49D71C19-8CBA-4483-AE6D-8BDF8D1FFFBF}"/>
              </a:ext>
            </a:extLst>
          </p:cNvPr>
          <p:cNvSpPr>
            <a:spLocks xmlns:a="http://schemas.openxmlformats.org/drawingml/2006/main" noGrp="1"/>
          </p:cNvSpPr>
          <p:nvPr/>
        </p:nvSpPr>
        <p:spPr>
          <a:xfrm xmlns:a="http://schemas.openxmlformats.org/drawingml/2006/main">
            <a:off x="6896100" y="2990850"/>
            <a:ext cx="44005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425" b="0">
                <a:solidFill>
                  <a:srgbClr val="17202A"/>
                </a:solidFill>
                <a:latin typeface="Aptos"/>
                <a:ea typeface="Aptos"/>
                <a:cs typeface="Aptos"/>
              </a:defRPr>
            </a:pPr>
            <a:r>
              <a:rPr sz="1425" b="0">
                <a:solidFill>
                  <a:srgbClr val="17202A"/>
                </a:solidFill>
                <a:latin typeface="Aptos"/>
                <a:ea typeface="Aptos"/>
                <a:cs typeface="Aptos"/>
              </a:rPr>
              <a:t>Reichen Tests, Simulation und Demo-Szenarien als Evaluation aus?</a:t>
            </a:r>
          </a:p>
        </p:txBody>
      </p:sp>
      <p:sp>
        <p:nvSpPr>
          <p:cNvPr id="20" name="risks-dot-3">
            <a:extLst xmlns:a="http://schemas.openxmlformats.org/drawingml/2006/main">
              <a:ext uri="{FF2B5EF4-FFF2-40B4-BE49-F238E27FC236}">
                <a16:creationId xmlns:a16="http://schemas.microsoft.com/office/drawing/2014/main" id="{0D968AB7-8869-4791-A442-56EA71788B15}"/>
              </a:ext>
            </a:extLst>
          </p:cNvPr>
          <p:cNvSpPr>
            <a:spLocks xmlns:a="http://schemas.openxmlformats.org/drawingml/2006/main" noGrp="1"/>
          </p:cNvSpPr>
          <p:nvPr/>
        </p:nvSpPr>
        <p:spPr>
          <a:xfrm xmlns:a="http://schemas.openxmlformats.org/drawingml/2006/main">
            <a:off x="6667500" y="3629025"/>
            <a:ext cx="95250" cy="95250"/>
          </a:xfrm>
          <a:prstGeom xmlns:a="http://schemas.openxmlformats.org/drawingml/2006/main" prst="ellipse">
            <a:avLst/>
          </a:prstGeom>
          <a:solidFill xmlns:a="http://schemas.openxmlformats.org/drawingml/2006/main">
            <a:srgbClr val="A33E3E"/>
          </a:solidFill>
          <a:ln xmlns:a="http://schemas.openxmlformats.org/drawingml/2006/main" w="0">
            <a:solidFill>
              <a:srgbClr val="A33E3E"/>
            </a:solidFill>
            <a:prstDash val="solid"/>
          </a:ln>
        </p:spPr>
      </p:sp>
      <p:sp>
        <p:nvSpPr>
          <p:cNvPr id="21" name="risks-text-3">
            <a:extLst xmlns:a="http://schemas.openxmlformats.org/drawingml/2006/main">
              <a:ext uri="{FF2B5EF4-FFF2-40B4-BE49-F238E27FC236}">
                <a16:creationId xmlns:a16="http://schemas.microsoft.com/office/drawing/2014/main" id="{3BF545DC-E0FB-4523-855C-94EAE08E38BA}"/>
              </a:ext>
            </a:extLst>
          </p:cNvPr>
          <p:cNvSpPr>
            <a:spLocks xmlns:a="http://schemas.openxmlformats.org/drawingml/2006/main" noGrp="1"/>
          </p:cNvSpPr>
          <p:nvPr/>
        </p:nvSpPr>
        <p:spPr>
          <a:xfrm xmlns:a="http://schemas.openxmlformats.org/drawingml/2006/main">
            <a:off x="6896100" y="3543300"/>
            <a:ext cx="44005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425" b="0">
                <a:solidFill>
                  <a:srgbClr val="17202A"/>
                </a:solidFill>
                <a:latin typeface="Aptos"/>
                <a:ea typeface="Aptos"/>
                <a:cs typeface="Aptos"/>
              </a:defRPr>
            </a:pPr>
            <a:r>
              <a:rPr sz="1425" b="0">
                <a:solidFill>
                  <a:srgbClr val="17202A"/>
                </a:solidFill>
                <a:latin typeface="Aptos"/>
                <a:ea typeface="Aptos"/>
                <a:cs typeface="Aptos"/>
              </a:rPr>
              <a:t>Welche Risiken sollen in Diskussion/Fazit besonders betont werden?</a:t>
            </a:r>
          </a:p>
        </p:txBody>
      </p:sp>
      <p:sp>
        <p:nvSpPr>
          <p:cNvPr id="22" name="risks-dot-4">
            <a:extLst xmlns:a="http://schemas.openxmlformats.org/drawingml/2006/main">
              <a:ext uri="{FF2B5EF4-FFF2-40B4-BE49-F238E27FC236}">
                <a16:creationId xmlns:a16="http://schemas.microsoft.com/office/drawing/2014/main" id="{AB5F77FB-4155-4F20-B077-2C17F310899B}"/>
              </a:ext>
            </a:extLst>
          </p:cNvPr>
          <p:cNvSpPr>
            <a:spLocks xmlns:a="http://schemas.openxmlformats.org/drawingml/2006/main" noGrp="1"/>
          </p:cNvSpPr>
          <p:nvPr/>
        </p:nvSpPr>
        <p:spPr>
          <a:xfrm xmlns:a="http://schemas.openxmlformats.org/drawingml/2006/main">
            <a:off x="6667500" y="4276725"/>
            <a:ext cx="95250" cy="95250"/>
          </a:xfrm>
          <a:prstGeom xmlns:a="http://schemas.openxmlformats.org/drawingml/2006/main" prst="ellipse">
            <a:avLst/>
          </a:prstGeom>
          <a:solidFill xmlns:a="http://schemas.openxmlformats.org/drawingml/2006/main">
            <a:srgbClr val="A33E3E"/>
          </a:solidFill>
          <a:ln xmlns:a="http://schemas.openxmlformats.org/drawingml/2006/main" w="0">
            <a:solidFill>
              <a:srgbClr val="A33E3E"/>
            </a:solidFill>
            <a:prstDash val="solid"/>
          </a:ln>
        </p:spPr>
      </p:sp>
      <p:sp>
        <p:nvSpPr>
          <p:cNvPr id="23" name="risks-text-4">
            <a:extLst xmlns:a="http://schemas.openxmlformats.org/drawingml/2006/main">
              <a:ext uri="{FF2B5EF4-FFF2-40B4-BE49-F238E27FC236}">
                <a16:creationId xmlns:a16="http://schemas.microsoft.com/office/drawing/2014/main" id="{2E6EE726-1C35-43F5-A2E5-5A280F6AC0CF}"/>
              </a:ext>
            </a:extLst>
          </p:cNvPr>
          <p:cNvSpPr>
            <a:spLocks xmlns:a="http://schemas.openxmlformats.org/drawingml/2006/main" noGrp="1"/>
          </p:cNvSpPr>
          <p:nvPr/>
        </p:nvSpPr>
        <p:spPr>
          <a:xfrm xmlns:a="http://schemas.openxmlformats.org/drawingml/2006/main">
            <a:off x="6896100" y="4191000"/>
            <a:ext cx="44005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425" b="0">
                <a:solidFill>
                  <a:srgbClr val="17202A"/>
                </a:solidFill>
                <a:latin typeface="Aptos"/>
                <a:ea typeface="Aptos"/>
                <a:cs typeface="Aptos"/>
              </a:defRPr>
            </a:pPr>
            <a:r>
              <a:rPr sz="1425" b="0">
                <a:solidFill>
                  <a:srgbClr val="17202A"/>
                </a:solidFill>
                <a:latin typeface="Aptos"/>
                <a:ea typeface="Aptos"/>
                <a:cs typeface="Aptos"/>
              </a:rPr>
              <a:t>Welche Erweiterungen gehören in den Ausblick statt in den Prototyp?</a:t>
            </a:r>
          </a:p>
        </p:txBody>
      </p:sp>
      <p:sp>
        <p:nvSpPr>
          <p:cNvPr id="24" name="closing-question">
            <a:extLst xmlns:a="http://schemas.openxmlformats.org/drawingml/2006/main">
              <a:ext uri="{FF2B5EF4-FFF2-40B4-BE49-F238E27FC236}">
                <a16:creationId xmlns:a16="http://schemas.microsoft.com/office/drawing/2014/main" id="{B6C8AAC5-2DB7-4266-8113-A83AC7A28AD4}"/>
              </a:ext>
            </a:extLst>
          </p:cNvPr>
          <p:cNvSpPr>
            <a:spLocks xmlns:a="http://schemas.openxmlformats.org/drawingml/2006/main" noGrp="1"/>
          </p:cNvSpPr>
          <p:nvPr/>
        </p:nvSpPr>
        <p:spPr>
          <a:xfrm xmlns:a="http://schemas.openxmlformats.org/drawingml/2006/main">
            <a:off x="1638300" y="5505450"/>
            <a:ext cx="8915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buNone/>
              <a:defRPr sz="1800" b="1">
                <a:solidFill>
                  <a:srgbClr val="1F6F78"/>
                </a:solidFill>
                <a:latin typeface="Aptos"/>
                <a:ea typeface="Aptos"/>
                <a:cs typeface="Aptos"/>
              </a:defRPr>
            </a:pPr>
            <a:r>
              <a:rPr sz="1800" b="1">
                <a:solidFill>
                  <a:srgbClr val="1F6F78"/>
                </a:solidFill>
                <a:latin typeface="Aptos"/>
                <a:ea typeface="Aptos"/>
                <a:cs typeface="Aptos"/>
              </a:rPr>
              <a:t>Ziel des Gesprächs: Scope und Bewertungskriterien früh mit dem Zweitgutachter abgleichen.</a:t>
            </a:r>
          </a:p>
        </p:txBody>
      </p:sp>
      <p:sp>
        <p:nvSpPr>
          <p:cNvPr id="25" name="footer-left-9">
            <a:extLst xmlns:a="http://schemas.openxmlformats.org/drawingml/2006/main">
              <a:ext uri="{FF2B5EF4-FFF2-40B4-BE49-F238E27FC236}">
                <a16:creationId xmlns:a16="http://schemas.microsoft.com/office/drawing/2014/main" id="{6F69E275-AF25-4AE4-8EFF-4EA0469C4D9F}"/>
              </a:ext>
            </a:extLst>
          </p:cNvPr>
          <p:cNvSpPr>
            <a:spLocks xmlns:a="http://schemas.openxmlformats.org/drawingml/2006/main" noGrp="1"/>
          </p:cNvSpPr>
          <p:nvPr/>
        </p:nvSpPr>
        <p:spPr>
          <a:xfrm xmlns:a="http://schemas.openxmlformats.org/drawingml/2006/main">
            <a:off x="723900" y="63436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975" b="0">
                <a:solidFill>
                  <a:srgbClr val="5B6470"/>
                </a:solidFill>
                <a:latin typeface="Aptos"/>
                <a:ea typeface="Aptos"/>
                <a:cs typeface="Aptos"/>
              </a:defRPr>
            </a:pPr>
            <a:r>
              <a:rPr sz="975" b="0">
                <a:solidFill>
                  <a:srgbClr val="5B6470"/>
                </a:solidFill>
                <a:latin typeface="Aptos"/>
                <a:ea typeface="Aptos"/>
                <a:cs typeface="Aptos"/>
              </a:rPr>
              <a:t>Projektvorstellung für den Zweitgutachter</a:t>
            </a:r>
          </a:p>
        </p:txBody>
      </p:sp>
      <p:sp>
        <p:nvSpPr>
          <p:cNvPr id="26" name="footer-right-9">
            <a:extLst xmlns:a="http://schemas.openxmlformats.org/drawingml/2006/main">
              <a:ext uri="{FF2B5EF4-FFF2-40B4-BE49-F238E27FC236}">
                <a16:creationId xmlns:a16="http://schemas.microsoft.com/office/drawing/2014/main" id="{C76AD384-53B0-44D9-B55D-D481C523A63E}"/>
              </a:ext>
            </a:extLst>
          </p:cNvPr>
          <p:cNvSpPr>
            <a:spLocks xmlns:a="http://schemas.openxmlformats.org/drawingml/2006/main" noGrp="1"/>
          </p:cNvSpPr>
          <p:nvPr/>
        </p:nvSpPr>
        <p:spPr>
          <a:xfrm xmlns:a="http://schemas.openxmlformats.org/drawingml/2006/main">
            <a:off x="10934700" y="6286500"/>
            <a:ext cx="533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1200" b="1">
                <a:solidFill>
                  <a:srgbClr val="5B6470"/>
                </a:solidFill>
                <a:latin typeface="Aptos"/>
                <a:ea typeface="Aptos"/>
                <a:cs typeface="Aptos"/>
              </a:defRPr>
            </a:pPr>
            <a:r>
              <a:rPr sz="1200" b="1">
                <a:solidFill>
                  <a:srgbClr val="5B6470"/>
                </a:solidFill>
                <a:latin typeface="Aptos"/>
                <a:ea typeface="Aptos"/>
                <a:cs typeface="Aptos"/>
              </a:rPr>
              <a:t>16</a:t>
            </a:r>
          </a:p>
        </p:txBody>
      </p:sp>
    </p:spTree>
    <p:extLst>
      <p:ext uri="{BB962C8B-B14F-4D97-AF65-F5344CB8AC3E}">
        <p14:creationId xmlns:p14="http://schemas.microsoft.com/office/powerpoint/2010/main" val="10565274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2026-06-29T19:17:14.3140000Z</dcterms:created>
  <dcterms:modified xsi:type="dcterms:W3CDTF">2026-06-29T19:17:14.3140000Z</dcterms:modified>
</coreProperties>
</file>